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1]   DURATION: 0:15   (0:00 - 0:15)
&gt;&gt;&gt; REPLACE "[ TEAM NAME ]" ON THIS SLIDE BEFORE PRESENTING. &lt;&lt;&lt;
SCRIPT (Bangla):
"আসসালামু আলাইকুম। আমরা তিনজন — আমাদের প্রজেক্ট SmartSailor।
শুরুতে একটা প্রশ্ন। আপনি শেষ যেবার সেলুনে চুল কাটাতে গিয়েছিলেন — কতক্ষণ বসে ছিলেন?"
Then PAUSE for one beat. Look up at the judges. Do not fill the silence.
TRANSITION: [CLICK] -&gt; Slide 2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1]   DURATION: 0:20   (0:15 - 0:35)
SCRIPT (Bangla):
"সমস্যাটা অপেক্ষা করা না। সমস্যা হলো না জানা।
কতজন আগে আছে — জানি না। কখন ডাক পড়বে — জানি না। তাই দোকানে গিয়েই বসে থাকতে হয়।
আর মালিকের দিক থেকে? সিরিয়াল খাতায়, হিসাব মাথায়। চেয়ার খালি পড়ে থাকে, অথচ লোক বাইরে অপেক্ষা করছে।"
DO NOT quote statistics. We have none, and we do not invent them.
TRANSITION: [CLICK] -&gt; Slide 3 (Our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1]   DURATION: 0:30   (0:35 - 1:05)
*** THIS IS THE MOST IMPORTANT SLIDE IN THE DECK. Slow down. ***
SCRIPT (Bangla):
"এখন আসল কথা। কাজ শুরু করার পর যেটা বুঝলাম — সেলুন আর বিউটি পার্লার এক জিনিস না।
সেলুনে চুল কাটতে দশ-পনেরো মিনিট। কেউ আগে থেকে সময় বুক করে না — লাইনে দাঁড়ায়। ওখানে দরকার লাইভ কিউ।
পার্লারে একটা ব্রাইডাল প্যাকেজ তিন ঘণ্টা লাগে, দশ দিন আগে বুক হয়। ওখানে কিউ অর্থহীন — দরকার অ্যাপয়েন্টমেন্ট।
বেশিরভাগ বুকিং অ্যাপ দুটোকেই একই সিস্টেমে ঢোকায়। আমরা করিনি। একটা কোডবেস, দুইটা আলাদা নিয়ম।
দেখাই।"
TRANSITION: [CLICK] -&gt; Slide 4, then immediately [DEMO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1]   DURATION: shown DURING the live demo, ~0:10 of talking
(0:05 - 2:35 is the salon demo; this slide sits behind it / is shown briefly on return)
USE: Put this slide up for 10 seconds BEFORE switching to the browser, then
switch to the demo. Do not read the diagram aloud.
SCRIPT (Bangla) - one line only:
"ফ্লো-টা এক নজরে এই — কাস্টমার একদিকে, মালিক অন্যদিকে, আর মাঝখানে ডেটাবেস। এখন সত্যিকারের অ্যাপে দেখাই।"
[DEMO START]
[OPEN CUSTOMER]  Tab 1  -  /explore  (salon customer, already signed in)
[OPEN SALON]     click a map pin  -&gt;  "দোকান দেখো"  -&gt;  /explore/[shopId]
[SELECT SERVICE] tap a service; if StylePicker appears, pick a style
[JOIN QUEUE]     tap "সিরিয়াল নাও"  -&gt;  confirm  -&gt;  position + ETA appear
[SHOW PROVIDER]  Tab 2  -  /dashboard  -  the new serial is in a chair lane
                 advance one serial, then glance back at Tab 1: it updated itself
BACKUP: if any step fails, do not retry. Say "লাইভ ডেটা, তাই বদলায়" and jump to
appendix slide A0 (the 90-second recording) or the salon screenshots.
TRANSITION: [CLICK] -&gt;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1]   DURATION: 0:10 if the live demo worked, 0:40 if it did not
*** THIS SLIDE IS ALSO YOUR SALON FALLBACK. ***
IF THE LIVE DEMO WORKED: one sentence, then move on.
"এই পাঁচটা স্ক্রিনেই পুরো কাস্টমার জার্নি — যেটা এইমাত্র লাইভ দেখলেন।"
IF THE LIVE DEMO FAILED: present the journey from this slide instead.
"ডিসকভার — ম্যাপে প্রতিটা দোকানের পিনে এখন কতজন লাইনে।
সার্ভিস বাছা, তারপর স্টাইল — এটা দোকানের মালিক চালু করলে দেখা যায়।
কনফার্ম করার পরেই কাস্টমার দেখে সে কত নম্বরে আর কখন রওনা দিতে হবে।
এই সংখ্যাগুলো ক্লায়েন্টে হিসাব হয় না — PostgreSQL-এ হয়, আর Realtime-এ পুশ হয়।"
TRANSITION: [CLICK] -&gt; Slide 6. Hand over:
"এটা সেলুনের দিক। এখন পার্লার — একেবারে আলাদা ফ্লো। [MEMBER 2 name] দেখাবে।"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2]   DURATION: ~0:15 of talking, then the live demo
(2:45 - 4:05 total for the parlour segment)
SCRIPT (Bangla) - opening:
"ধন্যবাদ। পার্লারে গেলে আপনি একটা জিনিস দেখতেই পাবেন না — কিউ। কারণ পার্লারে কিউ নেই।"
[OPEN PARLOUR]    Tab 3  -  /explore  (parlour customer, signed in)
                  POINT OUT: the badge says "অ্যাপয়েন্টমেন্টে", not a queue count
[SELECT SERVICE]  open a parlour  -&gt;  tap a 2-3 hour service
[BOOK APPOINTMENT] pick a date  -&gt;  PAUSE on the slot grid  -&gt;  pick a slot  -&gt;  confirm
[SHOW PROVIDER]   Tab 4  -  /dashboard  -  the appointment is on today's schedule
SCRIPT (Bangla) - on the slot grid, slow down here:
"এই স্লটগুলো ক্যালকুলেট করা — ফিক্সড লিস্ট না। সার্ভিসটা কত সময় নেয়, কোন বিউটিশিয়ান
ওটা করতে পারে, তার ওই দিনের শিডিউল কী, আর তার আগে-পরে কোন অ্যাপয়েন্টমেন্ট আছে —
সব মিলিয়ে সার্ভার বলে দেয় কোনটা সত্যিই খালি।"
SCRIPT (Bangla) - the closing point. SPEAK it, do NOT demo it:
"দুইজন কাস্টমার যদি একই সেকেন্ডে একই বিউটিশিয়ানের একই স্লট বুক করতে চায় — কী হবে?
আমরা এটা অ্যাপের কোডে আটকাইনি। আটকিয়েছি PostgreSQL-এর exclusion constraint দিয়ে।
একই স্টাফের ওভারল্যাপিং দুইটা অ্যাপয়েন্টমেন্ট ডেটাবেসে ঢুকতেই পারে না।
আমরা এটা দুইটা সত্যিকারের সমান্তরাল ক্লায়েন্ট দিয়ে টেস্ট করেছি।"
*** DO NOT attempt a live double-booking race on stage. ***
If a judge asks to see it: jump to appendix slide A1 (the SQL).
BACKUP: if no slot is free, use the PRESELECTED known-good slot on the demo date.
If the grid will not load, present from Slide 7 instead.
TRANSITION: [CLICK] -&gt;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2]   DURATION: 0:10 if the demo worked, 0:35 if it did not
*** THIS SLIDE IS ALSO YOUR PARLOUR FALLBACK. ***
IF THE DEMO WORKED - one line:
"খেয়াল করুন, এই চারটা স্ক্রিনে 'পজিশন' বা 'কতজন আগে' এই কথাগুলো একবারও নেই।"
IF THE DEMO FAILED - present from here:
"ডিসকভারিতেই পার্থক্য শুরু — এখানে ব্যাজে লেখা 'অ্যাপয়েন্টমেন্টে', কিউ-র সংখ্যা নেই।
সার্ভিস বাছলাম, তারপর তারিখ। স্লট গ্রিডে যে ফাঁকাগুলো দেখছেন, সেগুলো সত্যিকারের বুকিং —
সাজানো না। কনফার্ম করলে দিন, সময় আর বিউটিশিয়ান সহ অ্যাপয়েন্টমেন্ট পাওয়া যায়।"
TRANSITION: [CLICK] -&gt; Slide 8. Hand over:
"দুইটা ফ্লো দেখলেন। এখন এর উপরে AI স্তরটা — [MEMBER 3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3]   DURATION: 0:25   (4:15 - 4:40)
SCRIPT (Bangla):
"AI নিয়ে বলার আগে একটা কথা পরিষ্কার করে নিই। আমাদের AI চ্যাটবট না, আর AI নিজে কিছু করতেও পারে না।
মডেল আমাদের ডেটাবেস দেখতে পায় না। সে শুধু একটা বন্ধ তালিকা থেকে ফাংশন কল করতে পারে,
আর প্রতিটা ফাংশন শুধু পড়ে।
২৫টা টুল আছে — একটাও লিখতে পারে না।"
Then go straight to the live AI demo.
[OPEN AI]      Tab 2 (provider)  -&gt;  /ai
[AI QUESTION]  type:  এই মাসে আমার ব্যবসার অবস্থা কেমন?
               WHILE IT RUNS, keep talking (do not stand in silence):
               "এখন পেছনে যা হচ্ছে — মডেল একটা টুল কল করছে, যেটা আমার শপের
                অ্যানালিটিক্স RPC চালায়, আর সেই RPC RLS-এর ভেতর দিয়ে যায়।"
[SHOW RESULT]  point at the numbers:
               "সংখ্যাগুলো সব আমার নিজের ডেটা থেকে। মডেল একটাও সংখ্যা বানায়নি।
                আর কোন কোন টুল চলেছে সেটাও দেখানো আছে।"
BACKUP AI QUESTION (if the first is slow or vague):
               কোন সময়টা সবচেয়ে ব্যস্ত থাকে?
IF THE AI FAILS OR TAKES &gt; 15 SECONDS:
  Say: "AI লেয়ারটা নেটওয়ার্কের উপর নির্ভর করে — আর এটাই আমাদের ডিজাইনের একটা পয়েন্ট:
        AI বাদ দিলেও পুরো প্রোডাক্ট চলে।"
  Then show the prepared AI screenshot and move to Slide 9. Do NOT retry.
*** DO NOT demo a live AI action (join queue / campaign) in the main 6 minutes.
    Explain it on Slide 9 and offer it in Q&amp;A instead. ***
TRANSITION: [CLICK] -&gt;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3]   DURATION: 0:35   (4:40 - 5:15)
*** THIS IS YOUR Q&amp;A MAGNET. Its job is to make judges ask you technical questions. ***
SCRIPT (Bangla):
"আর সবচেয়ে জরুরি অংশ — AI কিছু বদলাতে চাইলে কী হয়।
মালিক যদি বলে 'যারা অনেকদিন আসেনি তাদের একটা মেসেজ পাঠাও' — AI মেসেজ পাঠায় না।
AI একটা প্রস্তাব বানায়। কারা পাবে, কতজন, কেন তারা — সব দেখিয়ে একটা কার্ড আসে।
মালিক পড়ে, চাইলে লেখা এডিট করে, তারপর নিজে বাটন চাপে।
আর এই সময়ে সার্ভার আবার সবকিছু যাচাই করে — মডেলকে ছাড়া। যে endpoint আসল কাজটা করে,
সেটা Claude-কে কল করেই না।
কেন এভাবে? কারণ মডেল ভুল করতে পারে। একটা ভুল সংখ্যা মালিকের একটা খারাপ সিদ্ধান্ত।
কিন্তু একটা ভুল মেসেজ চল্লিশজন কাস্টমারের ফোনে চলে গেলে সেটা ফিরিয়ে আনা যায় না।
তাই সিস্টেমটা এমনভাবে বানানো যে AI-কে বিশ্বাস করতে হয় না।"
DO NOT read the boxes aloud. Point at the right-hand column and say the three
sentences above. The diagram does the rest.
TRANSITION: [CLICK] -&gt; Slide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3]   DURATION: 0:15   (5:15 - 5:30)
Do NOT read this slide. Judges read faster than you speak.
SCRIPT (Bangla) - name only the choices that carry an argument:
"স্ট্যাকটা এক নজরে। তিনটা সিদ্ধান্তে জোর দিতে চাই —
PostgreSQL, কারণ আমাদের সবচেয়ে কঠিন সমস্যাটা relational আর concurrent।
RLS, কারণ অনুমতি ডেটার পাশে থাকা উচিত, ক্লায়েন্টে না।
আর AI পুরোপুরি সার্ভার-সাইডে, কারণ API key ব্রাউজারে গেলে যে কেউ খরচ করতে পারে।"
EVERY NUMBER ON THIS SLIDE IS VERIFIED. Do not inflate any of them:
  67 migrations · 149 tables and views · 1,159 unit tests · 14 PostgreSQL harnesses
  25 AI tools · 4 AI action types
TRANSITION: [CLICK] -&gt;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3]   DURATION: 0:20   (5:30 - 5:50)
SCRIPT (Bangla) - pick TWO points, not six:
"আর্কিটেকচারের মূল কথা একটাই — যেটা অবশ্যই ঠিক থাকতে হবে, সেটা ডেটাবেসে থাকে, ক্লায়েন্টে না।
দুইটা উদাহরণ দিই। এক — অনুমতি। RLS ডেটার পাশে বসে, তাই কোয়েরিতে একটা ফিল্টার ভুলে গেলে
শূন্য রো আসে, অন্য দোকানের কাস্টমার আসে না।
দুই — ডাবল বুকিং। ওটা অ্যাপ আটকায় না, PostgreSQL আটকায়।"
If a judge asks "show me where" during Q&amp;A: appendix A1 (the SQL) and A2 (RLS + role derivation).
TRANSITION: [CLICK] -&gt; Slide 12. Hand back: "[MEMBER 1 name], শেষ করো।"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1]   DURATION: 0:20   (5:50 - 6:10)
SCRIPT (Bangla):
"SmartSailor আরেকটা বুকিং অ্যাপ না।
এটা ব্যবসা অনুযায়ী নিজের ফ্লো বদলায় — সেলুনে লাইভ কিউ, পার্লারে অ্যাপয়েন্টমেন্ট।
আর AI বিশ্বস্ত সিস্টেমটাকে রিপ্লেস করে না — তার উপরে বসে, প্রতিটা সিদ্ধান্তে মানুষকে সাথে রেখে।
ধন্যবাদ। এখন আপনাদের প্রশ্ন শুনতে চাই।"
[DEMO END]
*** LEAVE THIS SLIDE UP FOR THE ENTIRE 9-MINUTE Q&amp;A. ***
The stack line and the four verified numbers sit on screen while judges think of
questions. They do more work than any slide you would speak to.
APPENDIX SLIDES FOLLOW (13-16). They are NOT presented. Jump to them on request:
  A1  appointments_no_overlap  - the actual SQL
  A2  RLS + how the AI's role is derived
  A3  What is verified, and what is not (read A3 honestly if asked)
  A4  Roadmap - implemented vs future
Q&amp;A ROUTING:
  MEMBER 1 - product, UX, salon, customer journey, business model
  MEMBER 2 - parlour, slots, staff availability, conflicts, appointment schema
  MEMBER 3 - AI, security, RLS, architecture, tech stack, admin, scalability
Domain owner answers first, in one or two sentences, and may pass.
A pass looks like a team. A guess looks like a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DO NOT PRESENT. Jump here if a judge asks any of:
  "What happens if two customers book the same slot?"
  "How do you prevent double booking?"
  "Show me where that happens in your system."
SPEAKER: [MEMBER 2] (or [MEMBER 3] for the concurrency-testing part)
DURATION: 30-40 seconds
"Check-then-insert-এ সবসময় একটা রেস উইন্ডো থাকে। তাই আমরা চেকটা রাইটের সাথেই
এক অপারেশনে নিয়ে গেছি। একই স্টাফের ওভারল্যাপিং টাইম রেঞ্জ ডেটাবেস অ্যাকসেপ্টই করে না।
আর status ফিল্টারটা দরকার, কারণ ক্যানসেল হওয়া অ্যাপয়েন্টমেন্ট স্লট আটকে রাখা উচিত 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DO NOT PRESENT. Jump here for:
  "Can an owner see another owner's customers?"
  "How do you prevent cross-business data leakage?"
  "How do you stop the AI hallucinating a shop or service ID?"
  "How do you prevent prompt injection?"
SPEAKER: [MEMBER 3]   DURATION: 30-40 seconds. Pick the TWO points that answer
the question actually asked — do not recite all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DO NOT PRESENT, but READ IT BEFORE YOU GO ON STAGE.
Jump here for:
  "Have you tested this with real users?"
  "How does it scale?"
  "What is your biggest limitation?"
  "How do you control AI cost?"
SPEAKER: [MEMBER 3]   DURATION: 30 seconds
Judges have heard a hundred inflated claims today. A team that says
"we haven't measured that" is memorable for the right reason — and it makes every
other claim you make more credible. Do not get defensive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DO NOT PRESENT. Jump here for:
  "What is your roadmap?"
  "Why didn't you build ML / prediction?"
  "What would you do next?"
SPEAKER: [MEMBER 3]   DURATION: 30 seconds
*** The bottom banner is the most valuable sentence on this slide. ***
It turns a missing feature into a demonstration of judgement. Say it exactly:
"আমরা ইচ্ছাকৃতভাবে prediction বানাইনি, কারণ সৎভাবে করার মতো ডেটা আমাদের নেই।
এই প্রোডাক্টে কোনো churn score নেই।"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1C"/>
        </a:solidFill>
      </p:bgPr>
    </p:bg>
    <p:spTree>
      <p:nvGrpSpPr>
        <p:cNvPr id="1" name=""/>
        <p:cNvGrpSpPr/>
        <p:nvPr/>
      </p:nvGrpSpPr>
      <p:grpSpPr>
        <a:xfrm>
          <a:off x="0" y="0"/>
          <a:ext cx="0" cy="0"/>
          <a:chOff x="0" y="0"/>
          <a:chExt cx="0" cy="0"/>
        </a:xfrm>
      </p:grpSpPr>
      <p:sp>
        <p:nvSpPr>
          <p:cNvPr id="2" name="Text 0"/>
          <p:cNvSpPr txBox="1"/>
          <p:nvPr/>
        </p:nvSpPr>
        <p:spPr>
          <a:xfrm>
            <a:off x="566928" y="1847088"/>
            <a:ext cx="11057839" cy="1170432"/>
          </a:xfrm>
          <a:prstGeom prst="rect">
            <a:avLst/>
          </a:prstGeom>
          <a:noFill/>
          <a:ln/>
        </p:spPr>
        <p:txBody>
          <a:bodyPr wrap="square" lIns="0" tIns="0" rIns="0" bIns="0" rtlCol="0" anchor="ctr"/>
          <a:lstStyle/>
          <a:p>
            <a:pPr indent="0" marL="0">
              <a:buNone/>
            </a:pPr>
            <a:r>
              <a:rPr lang="en-US" sz="7600" b="1" dirty="0">
                <a:solidFill>
                  <a:srgbClr val="FFFFFF"/>
                </a:solidFill>
                <a:latin typeface="Arial" pitchFamily="34" charset="0"/>
                <a:ea typeface="Arial" pitchFamily="34" charset="-122"/>
                <a:cs typeface="Arial" pitchFamily="34" charset="-120"/>
              </a:rPr>
              <a:t>SmartSailor</a:t>
            </a:r>
            <a:endParaRPr lang="en-US" sz="7600" dirty="0"/>
          </a:p>
        </p:txBody>
      </p:sp>
      <p:sp>
        <p:nvSpPr>
          <p:cNvPr id="3" name="Text 1"/>
          <p:cNvSpPr txBox="1"/>
          <p:nvPr/>
        </p:nvSpPr>
        <p:spPr>
          <a:xfrm>
            <a:off x="566928" y="3054096"/>
            <a:ext cx="11057839" cy="457200"/>
          </a:xfrm>
          <a:prstGeom prst="rect">
            <a:avLst/>
          </a:prstGeom>
          <a:noFill/>
          <a:ln/>
        </p:spPr>
        <p:txBody>
          <a:bodyPr wrap="square" lIns="0" tIns="0" rIns="0" bIns="0" rtlCol="0" anchor="ctr"/>
          <a:lstStyle/>
          <a:p>
            <a:pPr indent="0" marL="0">
              <a:buNone/>
            </a:pPr>
            <a:r>
              <a:rPr lang="en-US" sz="2300" b="1" dirty="0">
                <a:solidFill>
                  <a:srgbClr val="FF5C39"/>
                </a:solidFill>
                <a:latin typeface="Arial" pitchFamily="34" charset="0"/>
                <a:ea typeface="Arial" pitchFamily="34" charset="-122"/>
                <a:cs typeface="Arial" pitchFamily="34" charset="-120"/>
              </a:rPr>
              <a:t>One Platform.   Two Workflows.   One Intelligent Layer.</a:t>
            </a:r>
            <a:endParaRPr lang="en-US" sz="2300" dirty="0"/>
          </a:p>
        </p:txBody>
      </p:sp>
      <p:sp>
        <p:nvSpPr>
          <p:cNvPr id="4" name="Text 2"/>
          <p:cNvSpPr txBox="1"/>
          <p:nvPr/>
        </p:nvSpPr>
        <p:spPr>
          <a:xfrm>
            <a:off x="566928" y="3584448"/>
            <a:ext cx="11057839" cy="310896"/>
          </a:xfrm>
          <a:prstGeom prst="rect">
            <a:avLst/>
          </a:prstGeom>
          <a:noFill/>
          <a:ln/>
        </p:spPr>
        <p:txBody>
          <a:bodyPr wrap="square" lIns="0" tIns="0" rIns="0" bIns="0" rtlCol="0" anchor="ctr"/>
          <a:lstStyle/>
          <a:p>
            <a:pPr indent="0" marL="0">
              <a:buNone/>
            </a:pPr>
            <a:r>
              <a:rPr lang="en-US" sz="1500" dirty="0">
                <a:solidFill>
                  <a:srgbClr val="94A6C4"/>
                </a:solidFill>
                <a:latin typeface="Calibri" pitchFamily="34" charset="0"/>
                <a:ea typeface="Calibri" pitchFamily="34" charset="-122"/>
                <a:cs typeface="Calibri" pitchFamily="34" charset="-120"/>
              </a:rPr>
              <a:t>A digital operating layer for salons, barbershops and beauty parlours</a:t>
            </a:r>
            <a:endParaRPr lang="en-US" sz="1500" dirty="0"/>
          </a:p>
        </p:txBody>
      </p:sp>
      <p:sp>
        <p:nvSpPr>
          <p:cNvPr id="5" name="Shape 3"/>
          <p:cNvSpPr/>
          <p:nvPr/>
        </p:nvSpPr>
        <p:spPr>
          <a:xfrm>
            <a:off x="566928" y="4443984"/>
            <a:ext cx="3310128" cy="841248"/>
          </a:xfrm>
          <a:prstGeom prst="roundRect">
            <a:avLst>
              <a:gd name="adj" fmla="val 10870"/>
            </a:avLst>
          </a:prstGeom>
          <a:solidFill>
            <a:srgbClr val="161F30"/>
          </a:solidFill>
          <a:ln w="12700">
            <a:solidFill>
              <a:srgbClr val="2C3A54"/>
            </a:solidFill>
            <a:prstDash val="solid"/>
          </a:ln>
        </p:spPr>
      </p:sp>
      <p:sp>
        <p:nvSpPr>
          <p:cNvPr id="6" name="Text 4"/>
          <p:cNvSpPr txBox="1"/>
          <p:nvPr/>
        </p:nvSpPr>
        <p:spPr>
          <a:xfrm>
            <a:off x="822960" y="4626864"/>
            <a:ext cx="2852928" cy="219456"/>
          </a:xfrm>
          <a:prstGeom prst="rect">
            <a:avLst/>
          </a:prstGeom>
          <a:noFill/>
          <a:ln/>
        </p:spPr>
        <p:txBody>
          <a:bodyPr wrap="square" lIns="0" tIns="0" rIns="0" bIns="0" rtlCol="0" anchor="ctr"/>
          <a:lstStyle/>
          <a:p>
            <a:pPr indent="0" marL="0">
              <a:buNone/>
            </a:pPr>
            <a:r>
              <a:rPr lang="en-US" sz="1000" b="1" spc="140" kern="0" dirty="0">
                <a:solidFill>
                  <a:srgbClr val="FF5C39"/>
                </a:solidFill>
                <a:latin typeface="Calibri" pitchFamily="34" charset="0"/>
                <a:ea typeface="Calibri" pitchFamily="34" charset="-122"/>
                <a:cs typeface="Calibri" pitchFamily="34" charset="-120"/>
              </a:rPr>
              <a:t>MEMBER 1</a:t>
            </a:r>
            <a:endParaRPr lang="en-US" sz="1000" dirty="0"/>
          </a:p>
        </p:txBody>
      </p:sp>
      <p:sp>
        <p:nvSpPr>
          <p:cNvPr id="7" name="Text 5"/>
          <p:cNvSpPr txBox="1"/>
          <p:nvPr/>
        </p:nvSpPr>
        <p:spPr>
          <a:xfrm>
            <a:off x="822960" y="4846320"/>
            <a:ext cx="2852928" cy="2926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Salon / Barbershop</a:t>
            </a:r>
            <a:endParaRPr lang="en-US" sz="1450" dirty="0"/>
          </a:p>
        </p:txBody>
      </p:sp>
      <p:sp>
        <p:nvSpPr>
          <p:cNvPr id="8" name="Shape 6"/>
          <p:cNvSpPr/>
          <p:nvPr/>
        </p:nvSpPr>
        <p:spPr>
          <a:xfrm>
            <a:off x="4242816" y="4443984"/>
            <a:ext cx="3310128" cy="841248"/>
          </a:xfrm>
          <a:prstGeom prst="roundRect">
            <a:avLst>
              <a:gd name="adj" fmla="val 10870"/>
            </a:avLst>
          </a:prstGeom>
          <a:solidFill>
            <a:srgbClr val="161F30"/>
          </a:solidFill>
          <a:ln w="12700">
            <a:solidFill>
              <a:srgbClr val="2C3A54"/>
            </a:solidFill>
            <a:prstDash val="solid"/>
          </a:ln>
        </p:spPr>
      </p:sp>
      <p:sp>
        <p:nvSpPr>
          <p:cNvPr id="9" name="Text 7"/>
          <p:cNvSpPr txBox="1"/>
          <p:nvPr/>
        </p:nvSpPr>
        <p:spPr>
          <a:xfrm>
            <a:off x="4498848" y="4626864"/>
            <a:ext cx="2852928" cy="219456"/>
          </a:xfrm>
          <a:prstGeom prst="rect">
            <a:avLst/>
          </a:prstGeom>
          <a:noFill/>
          <a:ln/>
        </p:spPr>
        <p:txBody>
          <a:bodyPr wrap="square" lIns="0" tIns="0" rIns="0" bIns="0" rtlCol="0" anchor="ctr"/>
          <a:lstStyle/>
          <a:p>
            <a:pPr indent="0" marL="0">
              <a:buNone/>
            </a:pPr>
            <a:r>
              <a:rPr lang="en-US" sz="1000" b="1" spc="140" kern="0" dirty="0">
                <a:solidFill>
                  <a:srgbClr val="5FD4BE"/>
                </a:solidFill>
                <a:latin typeface="Calibri" pitchFamily="34" charset="0"/>
                <a:ea typeface="Calibri" pitchFamily="34" charset="-122"/>
                <a:cs typeface="Calibri" pitchFamily="34" charset="-120"/>
              </a:rPr>
              <a:t>MEMBER 2</a:t>
            </a:r>
            <a:endParaRPr lang="en-US" sz="1000" dirty="0"/>
          </a:p>
        </p:txBody>
      </p:sp>
      <p:sp>
        <p:nvSpPr>
          <p:cNvPr id="10" name="Text 8"/>
          <p:cNvSpPr txBox="1"/>
          <p:nvPr/>
        </p:nvSpPr>
        <p:spPr>
          <a:xfrm>
            <a:off x="4498848" y="4846320"/>
            <a:ext cx="2852928" cy="2926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Beauty Parlour</a:t>
            </a:r>
            <a:endParaRPr lang="en-US" sz="1450" dirty="0"/>
          </a:p>
        </p:txBody>
      </p:sp>
      <p:sp>
        <p:nvSpPr>
          <p:cNvPr id="11" name="Shape 9"/>
          <p:cNvSpPr/>
          <p:nvPr/>
        </p:nvSpPr>
        <p:spPr>
          <a:xfrm>
            <a:off x="7918704" y="4443984"/>
            <a:ext cx="3310128" cy="841248"/>
          </a:xfrm>
          <a:prstGeom prst="roundRect">
            <a:avLst>
              <a:gd name="adj" fmla="val 10870"/>
            </a:avLst>
          </a:prstGeom>
          <a:solidFill>
            <a:srgbClr val="161F30"/>
          </a:solidFill>
          <a:ln w="12700">
            <a:solidFill>
              <a:srgbClr val="2C3A54"/>
            </a:solidFill>
            <a:prstDash val="solid"/>
          </a:ln>
        </p:spPr>
      </p:sp>
      <p:sp>
        <p:nvSpPr>
          <p:cNvPr id="12" name="Text 10"/>
          <p:cNvSpPr txBox="1"/>
          <p:nvPr/>
        </p:nvSpPr>
        <p:spPr>
          <a:xfrm>
            <a:off x="8174736" y="4626864"/>
            <a:ext cx="2852928" cy="219456"/>
          </a:xfrm>
          <a:prstGeom prst="rect">
            <a:avLst/>
          </a:prstGeom>
          <a:noFill/>
          <a:ln/>
        </p:spPr>
        <p:txBody>
          <a:bodyPr wrap="square" lIns="0" tIns="0" rIns="0" bIns="0" rtlCol="0" anchor="ctr"/>
          <a:lstStyle/>
          <a:p>
            <a:pPr indent="0" marL="0">
              <a:buNone/>
            </a:pPr>
            <a:r>
              <a:rPr lang="en-US" sz="1000" b="1" spc="140" kern="0" dirty="0">
                <a:solidFill>
                  <a:srgbClr val="9B8CFF"/>
                </a:solidFill>
                <a:latin typeface="Calibri" pitchFamily="34" charset="0"/>
                <a:ea typeface="Calibri" pitchFamily="34" charset="-122"/>
                <a:cs typeface="Calibri" pitchFamily="34" charset="-120"/>
              </a:rPr>
              <a:t>MEMBER 3</a:t>
            </a:r>
            <a:endParaRPr lang="en-US" sz="1000" dirty="0"/>
          </a:p>
        </p:txBody>
      </p:sp>
      <p:sp>
        <p:nvSpPr>
          <p:cNvPr id="13" name="Text 11"/>
          <p:cNvSpPr txBox="1"/>
          <p:nvPr/>
        </p:nvSpPr>
        <p:spPr>
          <a:xfrm>
            <a:off x="8174736" y="4846320"/>
            <a:ext cx="2852928" cy="2926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AI &amp; Architecture</a:t>
            </a:r>
            <a:endParaRPr lang="en-US" sz="1450" dirty="0"/>
          </a:p>
        </p:txBody>
      </p:sp>
      <p:sp>
        <p:nvSpPr>
          <p:cNvPr id="14" name="Text 12"/>
          <p:cNvSpPr txBox="1"/>
          <p:nvPr/>
        </p:nvSpPr>
        <p:spPr>
          <a:xfrm>
            <a:off x="566928" y="5742432"/>
            <a:ext cx="11057839" cy="274320"/>
          </a:xfrm>
          <a:prstGeom prst="rect">
            <a:avLst/>
          </a:prstGeom>
          <a:noFill/>
          <a:ln/>
        </p:spPr>
        <p:txBody>
          <a:bodyPr wrap="square" lIns="0" tIns="0" rIns="0" bIns="0" rtlCol="0" anchor="ctr"/>
          <a:lstStyle/>
          <a:p>
            <a:pPr indent="0" marL="0">
              <a:buNone/>
            </a:pPr>
            <a:r>
              <a:rPr lang="en-US" sz="1300" b="1" spc="150" kern="0" dirty="0">
                <a:solidFill>
                  <a:srgbClr val="6D7F9C"/>
                </a:solidFill>
                <a:latin typeface="Calibri" pitchFamily="34" charset="0"/>
                <a:ea typeface="Calibri" pitchFamily="34" charset="-122"/>
                <a:cs typeface="Calibri" pitchFamily="34" charset="-120"/>
              </a:rPr>
              <a:t>[ TEAM NAME ]</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11C"/>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00" kern="0" dirty="0">
                <a:solidFill>
                  <a:srgbClr val="FF5C39"/>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66928" y="621792"/>
            <a:ext cx="11057839" cy="1133856"/>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They don't just wait.</a:t>
            </a:r>
            <a:endParaRPr lang="en-US" sz="3000" dirty="0"/>
          </a:p>
          <a:p>
            <a:pPr indent="0" marL="0">
              <a:buNone/>
            </a:pPr>
            <a:r>
              <a:rPr lang="en-US" sz="3000" b="1" dirty="0">
                <a:solidFill>
                  <a:srgbClr val="FFFFFF"/>
                </a:solidFill>
                <a:latin typeface="Arial" pitchFamily="34" charset="0"/>
                <a:ea typeface="Arial" pitchFamily="34" charset="-122"/>
                <a:cs typeface="Arial" pitchFamily="34" charset="-120"/>
              </a:rPr>
              <a:t>They wait without knowing.</a:t>
            </a:r>
            <a:endParaRPr lang="en-US" sz="3000" dirty="0"/>
          </a:p>
        </p:txBody>
      </p:sp>
      <p:sp>
        <p:nvSpPr>
          <p:cNvPr id="4" name="Shape 2"/>
          <p:cNvSpPr/>
          <p:nvPr/>
        </p:nvSpPr>
        <p:spPr>
          <a:xfrm>
            <a:off x="566928" y="2432304"/>
            <a:ext cx="1975104" cy="786384"/>
          </a:xfrm>
          <a:prstGeom prst="roundRect">
            <a:avLst>
              <a:gd name="adj" fmla="val 13953"/>
            </a:avLst>
          </a:prstGeom>
          <a:solidFill>
            <a:srgbClr val="161F30"/>
          </a:solidFill>
          <a:ln w="12700">
            <a:solidFill>
              <a:srgbClr val="2C3A54"/>
            </a:solidFill>
            <a:prstDash val="solid"/>
          </a:ln>
        </p:spPr>
      </p:sp>
      <p:sp>
        <p:nvSpPr>
          <p:cNvPr id="5" name="Text 3"/>
          <p:cNvSpPr txBox="1"/>
          <p:nvPr/>
        </p:nvSpPr>
        <p:spPr>
          <a:xfrm>
            <a:off x="621792" y="2432304"/>
            <a:ext cx="1865376" cy="786384"/>
          </a:xfrm>
          <a:prstGeom prst="rect">
            <a:avLst/>
          </a:prstGeom>
          <a:noFill/>
          <a:ln/>
        </p:spPr>
        <p:txBody>
          <a:bodyPr wrap="square" lIns="0" tIns="0" rIns="0" bIns="0" rtlCol="0" anchor="ctr"/>
          <a:lstStyle/>
          <a:p>
            <a:pPr algn="ctr" indent="0" marL="0">
              <a:lnSpc>
                <a:spcPct val="92000"/>
              </a:lnSpc>
              <a:buNone/>
            </a:pPr>
            <a:r>
              <a:rPr lang="en-US" sz="1100" b="1" dirty="0">
                <a:solidFill>
                  <a:srgbClr val="FFFFFF"/>
                </a:solidFill>
                <a:latin typeface="Calibri" pitchFamily="34" charset="0"/>
                <a:ea typeface="Calibri" pitchFamily="34" charset="-122"/>
                <a:cs typeface="Calibri" pitchFamily="34" charset="-120"/>
              </a:rPr>
              <a:t>Arrive at</a:t>
            </a:r>
            <a:endParaRPr lang="en-US" sz="1100" dirty="0"/>
          </a:p>
          <a:p>
            <a:pPr algn="ctr" indent="0" marL="0">
              <a:lnSpc>
                <a:spcPct val="92000"/>
              </a:lnSpc>
              <a:buNone/>
            </a:pPr>
            <a:r>
              <a:rPr lang="en-US" sz="1100" b="1" dirty="0">
                <a:solidFill>
                  <a:srgbClr val="FFFFFF"/>
                </a:solidFill>
                <a:latin typeface="Calibri" pitchFamily="34" charset="0"/>
                <a:ea typeface="Calibri" pitchFamily="34" charset="-122"/>
                <a:cs typeface="Calibri" pitchFamily="34" charset="-120"/>
              </a:rPr>
              <a:t>the shop</a:t>
            </a:r>
            <a:endParaRPr lang="en-US" sz="1100" dirty="0"/>
          </a:p>
        </p:txBody>
      </p:sp>
      <p:sp>
        <p:nvSpPr>
          <p:cNvPr id="6" name="Text 4"/>
          <p:cNvSpPr txBox="1"/>
          <p:nvPr/>
        </p:nvSpPr>
        <p:spPr>
          <a:xfrm>
            <a:off x="2546604" y="2715768"/>
            <a:ext cx="256032" cy="219456"/>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7" name="Shape 5"/>
          <p:cNvSpPr/>
          <p:nvPr/>
        </p:nvSpPr>
        <p:spPr>
          <a:xfrm>
            <a:off x="2788920" y="2432304"/>
            <a:ext cx="1975104" cy="786384"/>
          </a:xfrm>
          <a:prstGeom prst="roundRect">
            <a:avLst>
              <a:gd name="adj" fmla="val 13953"/>
            </a:avLst>
          </a:prstGeom>
          <a:solidFill>
            <a:srgbClr val="161F30"/>
          </a:solidFill>
          <a:ln w="12700">
            <a:solidFill>
              <a:srgbClr val="2C3A54"/>
            </a:solidFill>
            <a:prstDash val="solid"/>
          </a:ln>
        </p:spPr>
      </p:sp>
      <p:sp>
        <p:nvSpPr>
          <p:cNvPr id="8" name="Text 6"/>
          <p:cNvSpPr txBox="1"/>
          <p:nvPr/>
        </p:nvSpPr>
        <p:spPr>
          <a:xfrm>
            <a:off x="2843784" y="2432304"/>
            <a:ext cx="1865376" cy="786384"/>
          </a:xfrm>
          <a:prstGeom prst="rect">
            <a:avLst/>
          </a:prstGeom>
          <a:noFill/>
          <a:ln/>
        </p:spPr>
        <p:txBody>
          <a:bodyPr wrap="square" lIns="0" tIns="0" rIns="0" bIns="0" rtlCol="0" anchor="ctr"/>
          <a:lstStyle/>
          <a:p>
            <a:pPr algn="ctr" indent="0" marL="0">
              <a:lnSpc>
                <a:spcPct val="92000"/>
              </a:lnSpc>
              <a:buNone/>
            </a:pPr>
            <a:r>
              <a:rPr lang="en-US" sz="1100" b="1" dirty="0">
                <a:solidFill>
                  <a:srgbClr val="FFFFFF"/>
                </a:solidFill>
                <a:latin typeface="Calibri" pitchFamily="34" charset="0"/>
                <a:ea typeface="Calibri" pitchFamily="34" charset="-122"/>
                <a:cs typeface="Calibri" pitchFamily="34" charset="-120"/>
              </a:rPr>
              <a:t>Ask for a</a:t>
            </a:r>
            <a:endParaRPr lang="en-US" sz="1100" dirty="0"/>
          </a:p>
          <a:p>
            <a:pPr algn="ctr" indent="0" marL="0">
              <a:lnSpc>
                <a:spcPct val="92000"/>
              </a:lnSpc>
              <a:buNone/>
            </a:pPr>
            <a:r>
              <a:rPr lang="en-US" sz="1100" b="1" dirty="0">
                <a:solidFill>
                  <a:srgbClr val="FFFFFF"/>
                </a:solidFill>
                <a:latin typeface="Calibri" pitchFamily="34" charset="0"/>
                <a:ea typeface="Calibri" pitchFamily="34" charset="-122"/>
                <a:cs typeface="Calibri" pitchFamily="34" charset="-120"/>
              </a:rPr>
              <a:t>serial number</a:t>
            </a:r>
            <a:endParaRPr lang="en-US" sz="1100" dirty="0"/>
          </a:p>
        </p:txBody>
      </p:sp>
      <p:sp>
        <p:nvSpPr>
          <p:cNvPr id="9" name="Text 7"/>
          <p:cNvSpPr txBox="1"/>
          <p:nvPr/>
        </p:nvSpPr>
        <p:spPr>
          <a:xfrm>
            <a:off x="4768596" y="2715768"/>
            <a:ext cx="256032" cy="219456"/>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10" name="Shape 8"/>
          <p:cNvSpPr/>
          <p:nvPr/>
        </p:nvSpPr>
        <p:spPr>
          <a:xfrm>
            <a:off x="5010912" y="2432304"/>
            <a:ext cx="1975104" cy="786384"/>
          </a:xfrm>
          <a:prstGeom prst="roundRect">
            <a:avLst>
              <a:gd name="adj" fmla="val 13953"/>
            </a:avLst>
          </a:prstGeom>
          <a:solidFill>
            <a:srgbClr val="161F30"/>
          </a:solidFill>
          <a:ln w="12700">
            <a:solidFill>
              <a:srgbClr val="2C3A54"/>
            </a:solidFill>
            <a:prstDash val="solid"/>
          </a:ln>
        </p:spPr>
      </p:sp>
      <p:sp>
        <p:nvSpPr>
          <p:cNvPr id="11" name="Text 9"/>
          <p:cNvSpPr txBox="1"/>
          <p:nvPr/>
        </p:nvSpPr>
        <p:spPr>
          <a:xfrm>
            <a:off x="5065776" y="2432304"/>
            <a:ext cx="1865376" cy="786384"/>
          </a:xfrm>
          <a:prstGeom prst="rect">
            <a:avLst/>
          </a:prstGeom>
          <a:noFill/>
          <a:ln/>
        </p:spPr>
        <p:txBody>
          <a:bodyPr wrap="square" lIns="0" tIns="0" rIns="0" bIns="0" rtlCol="0" anchor="ctr"/>
          <a:lstStyle/>
          <a:p>
            <a:pPr algn="ctr" indent="0" marL="0">
              <a:lnSpc>
                <a:spcPct val="92000"/>
              </a:lnSpc>
              <a:buNone/>
            </a:pPr>
            <a:r>
              <a:rPr lang="en-US" sz="1100" b="1" dirty="0">
                <a:solidFill>
                  <a:srgbClr val="FFFFFF"/>
                </a:solidFill>
                <a:latin typeface="Calibri" pitchFamily="34" charset="0"/>
                <a:ea typeface="Calibri" pitchFamily="34" charset="-122"/>
                <a:cs typeface="Calibri" pitchFamily="34" charset="-120"/>
              </a:rPr>
              <a:t>Sit and</a:t>
            </a:r>
            <a:endParaRPr lang="en-US" sz="1100" dirty="0"/>
          </a:p>
          <a:p>
            <a:pPr algn="ctr" indent="0" marL="0">
              <a:lnSpc>
                <a:spcPct val="92000"/>
              </a:lnSpc>
              <a:buNone/>
            </a:pPr>
            <a:r>
              <a:rPr lang="en-US" sz="1100" b="1" dirty="0">
                <a:solidFill>
                  <a:srgbClr val="FFFFFF"/>
                </a:solidFill>
                <a:latin typeface="Calibri" pitchFamily="34" charset="0"/>
                <a:ea typeface="Calibri" pitchFamily="34" charset="-122"/>
                <a:cs typeface="Calibri" pitchFamily="34" charset="-120"/>
              </a:rPr>
              <a:t>wait</a:t>
            </a:r>
            <a:endParaRPr lang="en-US" sz="1100" dirty="0"/>
          </a:p>
        </p:txBody>
      </p:sp>
      <p:sp>
        <p:nvSpPr>
          <p:cNvPr id="12" name="Text 10"/>
          <p:cNvSpPr txBox="1"/>
          <p:nvPr/>
        </p:nvSpPr>
        <p:spPr>
          <a:xfrm>
            <a:off x="6990588" y="2715768"/>
            <a:ext cx="256032" cy="219456"/>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13" name="Shape 11"/>
          <p:cNvSpPr/>
          <p:nvPr/>
        </p:nvSpPr>
        <p:spPr>
          <a:xfrm>
            <a:off x="7232904" y="2432304"/>
            <a:ext cx="1975104" cy="786384"/>
          </a:xfrm>
          <a:prstGeom prst="roundRect">
            <a:avLst>
              <a:gd name="adj" fmla="val 13953"/>
            </a:avLst>
          </a:prstGeom>
          <a:solidFill>
            <a:srgbClr val="1D2740"/>
          </a:solidFill>
          <a:ln w="12700">
            <a:solidFill>
              <a:srgbClr val="2C3A54"/>
            </a:solidFill>
            <a:prstDash val="solid"/>
          </a:ln>
        </p:spPr>
      </p:sp>
      <p:sp>
        <p:nvSpPr>
          <p:cNvPr id="14" name="Text 12"/>
          <p:cNvSpPr txBox="1"/>
          <p:nvPr/>
        </p:nvSpPr>
        <p:spPr>
          <a:xfrm>
            <a:off x="7287768" y="2432304"/>
            <a:ext cx="1865376" cy="786384"/>
          </a:xfrm>
          <a:prstGeom prst="rect">
            <a:avLst/>
          </a:prstGeom>
          <a:noFill/>
          <a:ln/>
        </p:spPr>
        <p:txBody>
          <a:bodyPr wrap="square" lIns="0" tIns="0" rIns="0" bIns="0" rtlCol="0" anchor="ctr"/>
          <a:lstStyle/>
          <a:p>
            <a:pPr algn="ctr" indent="0" marL="0">
              <a:lnSpc>
                <a:spcPct val="92000"/>
              </a:lnSpc>
              <a:buNone/>
            </a:pPr>
            <a:r>
              <a:rPr lang="en-US" sz="1100" b="1" dirty="0">
                <a:solidFill>
                  <a:srgbClr val="FF5C39"/>
                </a:solidFill>
                <a:latin typeface="Calibri" pitchFamily="34" charset="0"/>
                <a:ea typeface="Calibri" pitchFamily="34" charset="-122"/>
                <a:cs typeface="Calibri" pitchFamily="34" charset="-120"/>
              </a:rPr>
              <a:t>No idea when</a:t>
            </a:r>
            <a:endParaRPr lang="en-US" sz="1100" dirty="0"/>
          </a:p>
          <a:p>
            <a:pPr algn="ctr" indent="0" marL="0">
              <a:lnSpc>
                <a:spcPct val="92000"/>
              </a:lnSpc>
              <a:buNone/>
            </a:pPr>
            <a:r>
              <a:rPr lang="en-US" sz="1100" b="1" dirty="0">
                <a:solidFill>
                  <a:srgbClr val="FF5C39"/>
                </a:solidFill>
                <a:latin typeface="Calibri" pitchFamily="34" charset="0"/>
                <a:ea typeface="Calibri" pitchFamily="34" charset="-122"/>
                <a:cs typeface="Calibri" pitchFamily="34" charset="-120"/>
              </a:rPr>
              <a:t>your turn is</a:t>
            </a:r>
            <a:endParaRPr lang="en-US" sz="1100" dirty="0"/>
          </a:p>
        </p:txBody>
      </p:sp>
      <p:sp>
        <p:nvSpPr>
          <p:cNvPr id="15" name="Text 13"/>
          <p:cNvSpPr txBox="1"/>
          <p:nvPr/>
        </p:nvSpPr>
        <p:spPr>
          <a:xfrm>
            <a:off x="9212580" y="2715768"/>
            <a:ext cx="256032" cy="219456"/>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16" name="Shape 14"/>
          <p:cNvSpPr/>
          <p:nvPr/>
        </p:nvSpPr>
        <p:spPr>
          <a:xfrm>
            <a:off x="9454896" y="2432304"/>
            <a:ext cx="1975104" cy="786384"/>
          </a:xfrm>
          <a:prstGeom prst="roundRect">
            <a:avLst>
              <a:gd name="adj" fmla="val 13953"/>
            </a:avLst>
          </a:prstGeom>
          <a:solidFill>
            <a:srgbClr val="161F30"/>
          </a:solidFill>
          <a:ln w="12700">
            <a:solidFill>
              <a:srgbClr val="2C3A54"/>
            </a:solidFill>
            <a:prstDash val="solid"/>
          </a:ln>
        </p:spPr>
      </p:sp>
      <p:sp>
        <p:nvSpPr>
          <p:cNvPr id="17" name="Text 15"/>
          <p:cNvSpPr txBox="1"/>
          <p:nvPr/>
        </p:nvSpPr>
        <p:spPr>
          <a:xfrm>
            <a:off x="9509760" y="2432304"/>
            <a:ext cx="1865376" cy="786384"/>
          </a:xfrm>
          <a:prstGeom prst="rect">
            <a:avLst/>
          </a:prstGeom>
          <a:noFill/>
          <a:ln/>
        </p:spPr>
        <p:txBody>
          <a:bodyPr wrap="square" lIns="0" tIns="0" rIns="0" bIns="0" rtlCol="0" anchor="ctr"/>
          <a:lstStyle/>
          <a:p>
            <a:pPr algn="ctr" indent="0" marL="0">
              <a:lnSpc>
                <a:spcPct val="92000"/>
              </a:lnSpc>
              <a:buNone/>
            </a:pPr>
            <a:r>
              <a:rPr lang="en-US" sz="1100" b="1" dirty="0">
                <a:solidFill>
                  <a:srgbClr val="FFFFFF"/>
                </a:solidFill>
                <a:latin typeface="Calibri" pitchFamily="34" charset="0"/>
                <a:ea typeface="Calibri" pitchFamily="34" charset="-122"/>
                <a:cs typeface="Calibri" pitchFamily="34" charset="-120"/>
              </a:rPr>
              <a:t>Owner tracks it</a:t>
            </a:r>
            <a:endParaRPr lang="en-US" sz="1100" dirty="0"/>
          </a:p>
          <a:p>
            <a:pPr algn="ctr" indent="0" marL="0">
              <a:lnSpc>
                <a:spcPct val="92000"/>
              </a:lnSpc>
              <a:buNone/>
            </a:pPr>
            <a:r>
              <a:rPr lang="en-US" sz="1100" b="1" dirty="0">
                <a:solidFill>
                  <a:srgbClr val="FFFFFF"/>
                </a:solidFill>
                <a:latin typeface="Calibri" pitchFamily="34" charset="0"/>
                <a:ea typeface="Calibri" pitchFamily="34" charset="-122"/>
                <a:cs typeface="Calibri" pitchFamily="34" charset="-120"/>
              </a:rPr>
              <a:t>on paper</a:t>
            </a:r>
            <a:endParaRPr lang="en-US" sz="1100" dirty="0"/>
          </a:p>
        </p:txBody>
      </p:sp>
      <p:sp>
        <p:nvSpPr>
          <p:cNvPr id="18" name="Shape 16"/>
          <p:cNvSpPr/>
          <p:nvPr/>
        </p:nvSpPr>
        <p:spPr>
          <a:xfrm>
            <a:off x="566928" y="3730752"/>
            <a:ext cx="3502152" cy="1517904"/>
          </a:xfrm>
          <a:prstGeom prst="roundRect">
            <a:avLst>
              <a:gd name="adj" fmla="val 6024"/>
            </a:avLst>
          </a:prstGeom>
          <a:solidFill>
            <a:srgbClr val="161F30"/>
          </a:solidFill>
          <a:ln w="12700">
            <a:solidFill>
              <a:srgbClr val="2C3A54"/>
            </a:solidFill>
            <a:prstDash val="solid"/>
          </a:ln>
        </p:spPr>
      </p:sp>
      <p:sp>
        <p:nvSpPr>
          <p:cNvPr id="19" name="Text 17"/>
          <p:cNvSpPr txBox="1"/>
          <p:nvPr/>
        </p:nvSpPr>
        <p:spPr>
          <a:xfrm>
            <a:off x="804672" y="3931920"/>
            <a:ext cx="3044952" cy="219456"/>
          </a:xfrm>
          <a:prstGeom prst="rect">
            <a:avLst/>
          </a:prstGeom>
          <a:noFill/>
          <a:ln/>
        </p:spPr>
        <p:txBody>
          <a:bodyPr wrap="square" lIns="0" tIns="0" rIns="0" bIns="0" rtlCol="0" anchor="ctr"/>
          <a:lstStyle/>
          <a:p>
            <a:pPr indent="0" marL="0">
              <a:buNone/>
            </a:pPr>
            <a:r>
              <a:rPr lang="en-US" sz="1000" b="1" spc="140" kern="0" dirty="0">
                <a:solidFill>
                  <a:srgbClr val="FF5C39"/>
                </a:solidFill>
                <a:latin typeface="Calibri" pitchFamily="34" charset="0"/>
                <a:ea typeface="Calibri" pitchFamily="34" charset="-122"/>
                <a:cs typeface="Calibri" pitchFamily="34" charset="-120"/>
              </a:rPr>
              <a:t>FOR THE CUSTOMER</a:t>
            </a:r>
            <a:endParaRPr lang="en-US" sz="1000" dirty="0"/>
          </a:p>
        </p:txBody>
      </p:sp>
      <p:sp>
        <p:nvSpPr>
          <p:cNvPr id="20" name="Text 18"/>
          <p:cNvSpPr txBox="1"/>
          <p:nvPr/>
        </p:nvSpPr>
        <p:spPr>
          <a:xfrm>
            <a:off x="804672" y="4206240"/>
            <a:ext cx="3044952" cy="914400"/>
          </a:xfrm>
          <a:prstGeom prst="rect">
            <a:avLst/>
          </a:prstGeom>
          <a:noFill/>
          <a:ln/>
        </p:spPr>
        <p:txBody>
          <a:bodyPr wrap="square" lIns="0" tIns="0" rIns="0" bIns="0" rtlCol="0" anchor="ctr"/>
          <a:lstStyle/>
          <a:p>
            <a:pPr algn="l" indent="0" marL="0">
              <a:lnSpc>
                <a:spcPct val="122000"/>
              </a:lnSpc>
              <a:buNone/>
            </a:pPr>
            <a:r>
              <a:rPr lang="en-US" sz="1250" dirty="0">
                <a:solidFill>
                  <a:srgbClr val="FFFFFF"/>
                </a:solidFill>
                <a:latin typeface="Calibri" pitchFamily="34" charset="0"/>
                <a:ea typeface="Calibri" pitchFamily="34" charset="-122"/>
                <a:cs typeface="Calibri" pitchFamily="34" charset="-120"/>
              </a:rPr>
              <a:t>“How many people are ahead of me?”</a:t>
            </a:r>
            <a:endParaRPr lang="en-US" sz="1250" dirty="0"/>
          </a:p>
          <a:p>
            <a:pPr algn="l" indent="0" marL="0">
              <a:lnSpc>
                <a:spcPct val="122000"/>
              </a:lnSpc>
              <a:buNone/>
            </a:pPr>
            <a:r>
              <a:rPr lang="en-US" sz="1250" dirty="0">
                <a:solidFill>
                  <a:srgbClr val="FFFFFF"/>
                </a:solidFill>
                <a:latin typeface="Calibri" pitchFamily="34" charset="0"/>
                <a:ea typeface="Calibri" pitchFamily="34" charset="-122"/>
                <a:cs typeface="Calibri" pitchFamily="34" charset="-120"/>
              </a:rPr>
              <a:t>No way to find out without going there.</a:t>
            </a:r>
            <a:endParaRPr lang="en-US" sz="1250" dirty="0"/>
          </a:p>
        </p:txBody>
      </p:sp>
      <p:sp>
        <p:nvSpPr>
          <p:cNvPr id="21" name="Shape 19"/>
          <p:cNvSpPr/>
          <p:nvPr/>
        </p:nvSpPr>
        <p:spPr>
          <a:xfrm>
            <a:off x="4434840" y="3730752"/>
            <a:ext cx="3502152" cy="1517904"/>
          </a:xfrm>
          <a:prstGeom prst="roundRect">
            <a:avLst>
              <a:gd name="adj" fmla="val 6024"/>
            </a:avLst>
          </a:prstGeom>
          <a:solidFill>
            <a:srgbClr val="161F30"/>
          </a:solidFill>
          <a:ln w="12700">
            <a:solidFill>
              <a:srgbClr val="2C3A54"/>
            </a:solidFill>
            <a:prstDash val="solid"/>
          </a:ln>
        </p:spPr>
      </p:sp>
      <p:sp>
        <p:nvSpPr>
          <p:cNvPr id="22" name="Text 20"/>
          <p:cNvSpPr txBox="1"/>
          <p:nvPr/>
        </p:nvSpPr>
        <p:spPr>
          <a:xfrm>
            <a:off x="4672584" y="3931920"/>
            <a:ext cx="3044952" cy="219456"/>
          </a:xfrm>
          <a:prstGeom prst="rect">
            <a:avLst/>
          </a:prstGeom>
          <a:noFill/>
          <a:ln/>
        </p:spPr>
        <p:txBody>
          <a:bodyPr wrap="square" lIns="0" tIns="0" rIns="0" bIns="0" rtlCol="0" anchor="ctr"/>
          <a:lstStyle/>
          <a:p>
            <a:pPr indent="0" marL="0">
              <a:buNone/>
            </a:pPr>
            <a:r>
              <a:rPr lang="en-US" sz="1000" b="1" spc="140" kern="0" dirty="0">
                <a:solidFill>
                  <a:srgbClr val="FF5C39"/>
                </a:solidFill>
                <a:latin typeface="Calibri" pitchFamily="34" charset="0"/>
                <a:ea typeface="Calibri" pitchFamily="34" charset="-122"/>
                <a:cs typeface="Calibri" pitchFamily="34" charset="-120"/>
              </a:rPr>
              <a:t>FOR THE CUSTOMER</a:t>
            </a:r>
            <a:endParaRPr lang="en-US" sz="1000" dirty="0"/>
          </a:p>
        </p:txBody>
      </p:sp>
      <p:sp>
        <p:nvSpPr>
          <p:cNvPr id="23" name="Text 21"/>
          <p:cNvSpPr txBox="1"/>
          <p:nvPr/>
        </p:nvSpPr>
        <p:spPr>
          <a:xfrm>
            <a:off x="4672584" y="4206240"/>
            <a:ext cx="3044952" cy="914400"/>
          </a:xfrm>
          <a:prstGeom prst="rect">
            <a:avLst/>
          </a:prstGeom>
          <a:noFill/>
          <a:ln/>
        </p:spPr>
        <p:txBody>
          <a:bodyPr wrap="square" lIns="0" tIns="0" rIns="0" bIns="0" rtlCol="0" anchor="ctr"/>
          <a:lstStyle/>
          <a:p>
            <a:pPr algn="l" indent="0" marL="0">
              <a:lnSpc>
                <a:spcPct val="122000"/>
              </a:lnSpc>
              <a:buNone/>
            </a:pPr>
            <a:r>
              <a:rPr lang="en-US" sz="1250" dirty="0">
                <a:solidFill>
                  <a:srgbClr val="FFFFFF"/>
                </a:solidFill>
                <a:latin typeface="Calibri" pitchFamily="34" charset="0"/>
                <a:ea typeface="Calibri" pitchFamily="34" charset="-122"/>
                <a:cs typeface="Calibri" pitchFamily="34" charset="-120"/>
              </a:rPr>
              <a:t>“When will my turn come?”</a:t>
            </a:r>
            <a:endParaRPr lang="en-US" sz="1250" dirty="0"/>
          </a:p>
          <a:p>
            <a:pPr algn="l" indent="0" marL="0">
              <a:lnSpc>
                <a:spcPct val="122000"/>
              </a:lnSpc>
              <a:buNone/>
            </a:pPr>
            <a:r>
              <a:rPr lang="en-US" sz="1250" dirty="0">
                <a:solidFill>
                  <a:srgbClr val="FFFFFF"/>
                </a:solidFill>
                <a:latin typeface="Calibri" pitchFamily="34" charset="0"/>
                <a:ea typeface="Calibri" pitchFamily="34" charset="-122"/>
                <a:cs typeface="Calibri" pitchFamily="34" charset="-120"/>
              </a:rPr>
              <a:t>So you sit on the bench and lose an hour.</a:t>
            </a:r>
            <a:endParaRPr lang="en-US" sz="1250" dirty="0"/>
          </a:p>
        </p:txBody>
      </p:sp>
      <p:sp>
        <p:nvSpPr>
          <p:cNvPr id="24" name="Shape 22"/>
          <p:cNvSpPr/>
          <p:nvPr/>
        </p:nvSpPr>
        <p:spPr>
          <a:xfrm>
            <a:off x="8302752" y="3730752"/>
            <a:ext cx="3502152" cy="1517904"/>
          </a:xfrm>
          <a:prstGeom prst="roundRect">
            <a:avLst>
              <a:gd name="adj" fmla="val 6024"/>
            </a:avLst>
          </a:prstGeom>
          <a:solidFill>
            <a:srgbClr val="161F30"/>
          </a:solidFill>
          <a:ln w="12700">
            <a:solidFill>
              <a:srgbClr val="2C3A54"/>
            </a:solidFill>
            <a:prstDash val="solid"/>
          </a:ln>
        </p:spPr>
      </p:sp>
      <p:sp>
        <p:nvSpPr>
          <p:cNvPr id="25" name="Text 23"/>
          <p:cNvSpPr txBox="1"/>
          <p:nvPr/>
        </p:nvSpPr>
        <p:spPr>
          <a:xfrm>
            <a:off x="8540496" y="3931920"/>
            <a:ext cx="3044952" cy="219456"/>
          </a:xfrm>
          <a:prstGeom prst="rect">
            <a:avLst/>
          </a:prstGeom>
          <a:noFill/>
          <a:ln/>
        </p:spPr>
        <p:txBody>
          <a:bodyPr wrap="square" lIns="0" tIns="0" rIns="0" bIns="0" rtlCol="0" anchor="ctr"/>
          <a:lstStyle/>
          <a:p>
            <a:pPr indent="0" marL="0">
              <a:buNone/>
            </a:pPr>
            <a:r>
              <a:rPr lang="en-US" sz="1000" b="1" spc="140" kern="0" dirty="0">
                <a:solidFill>
                  <a:srgbClr val="F5C451"/>
                </a:solidFill>
                <a:latin typeface="Calibri" pitchFamily="34" charset="0"/>
                <a:ea typeface="Calibri" pitchFamily="34" charset="-122"/>
                <a:cs typeface="Calibri" pitchFamily="34" charset="-120"/>
              </a:rPr>
              <a:t>FOR THE OWNER</a:t>
            </a:r>
            <a:endParaRPr lang="en-US" sz="1000" dirty="0"/>
          </a:p>
        </p:txBody>
      </p:sp>
      <p:sp>
        <p:nvSpPr>
          <p:cNvPr id="26" name="Text 24"/>
          <p:cNvSpPr txBox="1"/>
          <p:nvPr/>
        </p:nvSpPr>
        <p:spPr>
          <a:xfrm>
            <a:off x="8540496" y="4206240"/>
            <a:ext cx="3044952" cy="914400"/>
          </a:xfrm>
          <a:prstGeom prst="rect">
            <a:avLst/>
          </a:prstGeom>
          <a:noFill/>
          <a:ln/>
        </p:spPr>
        <p:txBody>
          <a:bodyPr wrap="square" lIns="0" tIns="0" rIns="0" bIns="0" rtlCol="0" anchor="ctr"/>
          <a:lstStyle/>
          <a:p>
            <a:pPr algn="l" indent="0" marL="0">
              <a:lnSpc>
                <a:spcPct val="122000"/>
              </a:lnSpc>
              <a:buNone/>
            </a:pPr>
            <a:r>
              <a:rPr lang="en-US" sz="1250" dirty="0">
                <a:solidFill>
                  <a:srgbClr val="FFFFFF"/>
                </a:solidFill>
                <a:latin typeface="Calibri" pitchFamily="34" charset="0"/>
                <a:ea typeface="Calibri" pitchFamily="34" charset="-122"/>
                <a:cs typeface="Calibri" pitchFamily="34" charset="-120"/>
              </a:rPr>
              <a:t>A chair sits empty while a customer</a:t>
            </a:r>
            <a:endParaRPr lang="en-US" sz="1250" dirty="0"/>
          </a:p>
          <a:p>
            <a:pPr algn="l" indent="0" marL="0">
              <a:lnSpc>
                <a:spcPct val="122000"/>
              </a:lnSpc>
              <a:buNone/>
            </a:pPr>
            <a:r>
              <a:rPr lang="en-US" sz="1250" dirty="0">
                <a:solidFill>
                  <a:srgbClr val="FFFFFF"/>
                </a:solidFill>
                <a:latin typeface="Calibri" pitchFamily="34" charset="0"/>
                <a:ea typeface="Calibri" pitchFamily="34" charset="-122"/>
                <a:cs typeface="Calibri" pitchFamily="34" charset="-120"/>
              </a:rPr>
              <a:t>waits outside. Serials on paper, maths in his head.</a:t>
            </a:r>
            <a:endParaRPr lang="en-US" sz="1250" dirty="0"/>
          </a:p>
        </p:txBody>
      </p:sp>
      <p:sp>
        <p:nvSpPr>
          <p:cNvPr id="27" name="Text 25"/>
          <p:cNvSpPr txBox="1"/>
          <p:nvPr/>
        </p:nvSpPr>
        <p:spPr>
          <a:xfrm>
            <a:off x="566928" y="5541264"/>
            <a:ext cx="11057839" cy="3657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The problem is not the waiting. It is the not knowing.</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1C"/>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00" kern="0" dirty="0">
                <a:solidFill>
                  <a:srgbClr val="FF5C39"/>
                </a:solidFill>
                <a:latin typeface="Calibri" pitchFamily="34" charset="0"/>
                <a:ea typeface="Calibri" pitchFamily="34" charset="-122"/>
                <a:cs typeface="Calibri" pitchFamily="34" charset="-120"/>
              </a:rPr>
              <a:t>OUR SOLUTION</a:t>
            </a:r>
            <a:endParaRPr lang="en-US" sz="1200" dirty="0"/>
          </a:p>
        </p:txBody>
      </p:sp>
      <p:sp>
        <p:nvSpPr>
          <p:cNvPr id="3" name="Text 1"/>
          <p:cNvSpPr txBox="1"/>
          <p:nvPr/>
        </p:nvSpPr>
        <p:spPr>
          <a:xfrm>
            <a:off x="566928" y="621792"/>
            <a:ext cx="11057839" cy="585216"/>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One platform. Two workflows.</a:t>
            </a:r>
            <a:endParaRPr lang="en-US" sz="3000" dirty="0"/>
          </a:p>
        </p:txBody>
      </p:sp>
      <p:sp>
        <p:nvSpPr>
          <p:cNvPr id="4" name="Text 2"/>
          <p:cNvSpPr txBox="1"/>
          <p:nvPr/>
        </p:nvSpPr>
        <p:spPr>
          <a:xfrm>
            <a:off x="566928" y="1316736"/>
            <a:ext cx="11057839" cy="274320"/>
          </a:xfrm>
          <a:prstGeom prst="rect">
            <a:avLst/>
          </a:prstGeom>
          <a:noFill/>
          <a:ln/>
        </p:spPr>
        <p:txBody>
          <a:bodyPr wrap="square" lIns="0" tIns="0" rIns="0" bIns="0" rtlCol="0" anchor="ctr"/>
          <a:lstStyle/>
          <a:p>
            <a:pPr algn="l" indent="0" marL="0">
              <a:lnSpc>
                <a:spcPct val="112000"/>
              </a:lnSpc>
              <a:buNone/>
            </a:pPr>
            <a:r>
              <a:rPr lang="en-US" sz="1400" dirty="0">
                <a:solidFill>
                  <a:srgbClr val="94A6C4"/>
                </a:solidFill>
                <a:latin typeface="Calibri" pitchFamily="34" charset="0"/>
                <a:ea typeface="Calibri" pitchFamily="34" charset="-122"/>
                <a:cs typeface="Calibri" pitchFamily="34" charset="-120"/>
              </a:rPr>
              <a:t>The same solution is not right for both businesses. So we did not build one.</a:t>
            </a:r>
            <a:endParaRPr lang="en-US" sz="1400" dirty="0"/>
          </a:p>
        </p:txBody>
      </p:sp>
      <p:sp>
        <p:nvSpPr>
          <p:cNvPr id="5" name="Shape 3"/>
          <p:cNvSpPr/>
          <p:nvPr/>
        </p:nvSpPr>
        <p:spPr>
          <a:xfrm>
            <a:off x="4404208" y="1810512"/>
            <a:ext cx="3383280" cy="566928"/>
          </a:xfrm>
          <a:prstGeom prst="roundRect">
            <a:avLst>
              <a:gd name="adj" fmla="val 19355"/>
            </a:avLst>
          </a:prstGeom>
          <a:solidFill>
            <a:srgbClr val="1D2740"/>
          </a:solidFill>
          <a:ln w="12700">
            <a:solidFill>
              <a:srgbClr val="FF5C39"/>
            </a:solidFill>
            <a:prstDash val="solid"/>
          </a:ln>
        </p:spPr>
      </p:sp>
      <p:sp>
        <p:nvSpPr>
          <p:cNvPr id="6" name="Text 4"/>
          <p:cNvSpPr txBox="1"/>
          <p:nvPr/>
        </p:nvSpPr>
        <p:spPr>
          <a:xfrm>
            <a:off x="4459072" y="1810512"/>
            <a:ext cx="3273552" cy="566928"/>
          </a:xfrm>
          <a:prstGeom prst="rect">
            <a:avLst/>
          </a:prstGeom>
          <a:noFill/>
          <a:ln/>
        </p:spPr>
        <p:txBody>
          <a:bodyPr wrap="square" lIns="0" tIns="0" rIns="0" bIns="0" rtlCol="0" anchor="ctr"/>
          <a:lstStyle/>
          <a:p>
            <a:pPr algn="ctr" indent="0" marL="0">
              <a:lnSpc>
                <a:spcPct val="92000"/>
              </a:lnSpc>
              <a:buNone/>
            </a:pPr>
            <a:r>
              <a:rPr lang="en-US" sz="1700" b="1" dirty="0">
                <a:solidFill>
                  <a:srgbClr val="FFFFFF"/>
                </a:solidFill>
                <a:latin typeface="Calibri" pitchFamily="34" charset="0"/>
                <a:ea typeface="Calibri" pitchFamily="34" charset="-122"/>
                <a:cs typeface="Calibri" pitchFamily="34" charset="-120"/>
              </a:rPr>
              <a:t>SmartSailor</a:t>
            </a:r>
            <a:endParaRPr lang="en-US" sz="1700" dirty="0"/>
          </a:p>
        </p:txBody>
      </p:sp>
      <p:sp>
        <p:nvSpPr>
          <p:cNvPr id="7" name="Text 5"/>
          <p:cNvSpPr txBox="1"/>
          <p:nvPr/>
        </p:nvSpPr>
        <p:spPr>
          <a:xfrm>
            <a:off x="5912968" y="2432304"/>
            <a:ext cx="365760" cy="182880"/>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8" name="Shape 6"/>
          <p:cNvSpPr/>
          <p:nvPr/>
        </p:nvSpPr>
        <p:spPr>
          <a:xfrm>
            <a:off x="566928" y="2651760"/>
            <a:ext cx="5285232" cy="2670048"/>
          </a:xfrm>
          <a:prstGeom prst="roundRect">
            <a:avLst>
              <a:gd name="adj" fmla="val 3425"/>
            </a:avLst>
          </a:prstGeom>
          <a:solidFill>
            <a:srgbClr val="161F30"/>
          </a:solidFill>
          <a:ln w="17780">
            <a:solidFill>
              <a:srgbClr val="FF5C39"/>
            </a:solidFill>
            <a:prstDash val="solid"/>
          </a:ln>
        </p:spPr>
      </p:sp>
      <p:sp>
        <p:nvSpPr>
          <p:cNvPr id="9" name="Text 7"/>
          <p:cNvSpPr txBox="1"/>
          <p:nvPr/>
        </p:nvSpPr>
        <p:spPr>
          <a:xfrm>
            <a:off x="877824" y="2852928"/>
            <a:ext cx="4663440" cy="219456"/>
          </a:xfrm>
          <a:prstGeom prst="rect">
            <a:avLst/>
          </a:prstGeom>
          <a:noFill/>
          <a:ln/>
        </p:spPr>
        <p:txBody>
          <a:bodyPr wrap="square" lIns="0" tIns="0" rIns="0" bIns="0" rtlCol="0" anchor="ctr"/>
          <a:lstStyle/>
          <a:p>
            <a:pPr indent="0" marL="0">
              <a:buNone/>
            </a:pPr>
            <a:r>
              <a:rPr lang="en-US" sz="1050" b="1" spc="140" kern="0" dirty="0">
                <a:solidFill>
                  <a:srgbClr val="FF5C39"/>
                </a:solidFill>
                <a:latin typeface="Calibri" pitchFamily="34" charset="0"/>
                <a:ea typeface="Calibri" pitchFamily="34" charset="-122"/>
                <a:cs typeface="Calibri" pitchFamily="34" charset="-120"/>
              </a:rPr>
              <a:t>SALON / BARBERSHOP</a:t>
            </a:r>
            <a:endParaRPr lang="en-US" sz="1050" dirty="0"/>
          </a:p>
        </p:txBody>
      </p:sp>
      <p:sp>
        <p:nvSpPr>
          <p:cNvPr id="10" name="Text 8"/>
          <p:cNvSpPr txBox="1"/>
          <p:nvPr/>
        </p:nvSpPr>
        <p:spPr>
          <a:xfrm>
            <a:off x="877824" y="3090672"/>
            <a:ext cx="4663440" cy="512064"/>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LIVE QUEUE</a:t>
            </a:r>
            <a:endParaRPr lang="en-US" sz="3000" dirty="0"/>
          </a:p>
        </p:txBody>
      </p:sp>
      <p:sp>
        <p:nvSpPr>
          <p:cNvPr id="11" name="Text 9"/>
          <p:cNvSpPr txBox="1"/>
          <p:nvPr/>
        </p:nvSpPr>
        <p:spPr>
          <a:xfrm>
            <a:off x="877824" y="3712464"/>
            <a:ext cx="4663440" cy="987552"/>
          </a:xfrm>
          <a:prstGeom prst="rect">
            <a:avLst/>
          </a:prstGeom>
          <a:noFill/>
          <a:ln/>
        </p:spPr>
        <p:txBody>
          <a:bodyPr wrap="square" lIns="0" tIns="0" rIns="0" bIns="0" rtlCol="0" anchor="ctr"/>
          <a:lstStyle/>
          <a:p>
            <a:pPr marL="342900" indent="-342900">
              <a:spcAft>
                <a:spcPts val="500"/>
              </a:spcAft>
              <a:buSzPct val="100000"/>
              <a:buChar char="•"/>
            </a:pPr>
            <a:r>
              <a:rPr lang="en-US" sz="1250" dirty="0">
                <a:solidFill>
                  <a:srgbClr val="94A6C4"/>
                </a:solidFill>
                <a:latin typeface="Calibri" pitchFamily="34" charset="0"/>
                <a:ea typeface="Calibri" pitchFamily="34" charset="-122"/>
                <a:cs typeface="Calibri" pitchFamily="34" charset="-120"/>
              </a:rPr>
              <a:t>Nobody books a time — they join a line</a:t>
            </a:r>
            <a:endParaRPr lang="en-US" sz="1250" dirty="0"/>
          </a:p>
          <a:p>
            <a:pPr marL="342900" indent="-342900">
              <a:spcAft>
                <a:spcPts val="500"/>
              </a:spcAft>
              <a:buSzPct val="100000"/>
              <a:buChar char="•"/>
            </a:pPr>
            <a:r>
              <a:rPr lang="en-US" sz="1250" dirty="0">
                <a:solidFill>
                  <a:srgbClr val="94A6C4"/>
                </a:solidFill>
                <a:latin typeface="Calibri" pitchFamily="34" charset="0"/>
                <a:ea typeface="Calibri" pitchFamily="34" charset="-122"/>
                <a:cs typeface="Calibri" pitchFamily="34" charset="-120"/>
              </a:rPr>
              <a:t>Position + estimated start, computed server-side</a:t>
            </a:r>
            <a:endParaRPr lang="en-US" sz="1250" dirty="0"/>
          </a:p>
          <a:p>
            <a:pPr marL="342900" indent="-342900">
              <a:spcAft>
                <a:spcPts val="500"/>
              </a:spcAft>
              <a:buSzPct val="100000"/>
              <a:buChar char="•"/>
            </a:pPr>
            <a:r>
              <a:rPr lang="en-US" sz="1250" dirty="0">
                <a:solidFill>
                  <a:srgbClr val="94A6C4"/>
                </a:solidFill>
                <a:latin typeface="Calibri" pitchFamily="34" charset="0"/>
                <a:ea typeface="Calibri" pitchFamily="34" charset="-122"/>
                <a:cs typeface="Calibri" pitchFamily="34" charset="-120"/>
              </a:rPr>
              <a:t>Updates live as the owner moves the queue</a:t>
            </a:r>
            <a:endParaRPr lang="en-US" sz="1250" dirty="0"/>
          </a:p>
        </p:txBody>
      </p:sp>
      <p:sp>
        <p:nvSpPr>
          <p:cNvPr id="12" name="Text 10"/>
          <p:cNvSpPr txBox="1"/>
          <p:nvPr/>
        </p:nvSpPr>
        <p:spPr>
          <a:xfrm>
            <a:off x="877824" y="4809744"/>
            <a:ext cx="4663440" cy="310896"/>
          </a:xfrm>
          <a:prstGeom prst="rect">
            <a:avLst/>
          </a:prstGeom>
          <a:noFill/>
          <a:ln/>
        </p:spPr>
        <p:txBody>
          <a:bodyPr wrap="square" lIns="0" tIns="0" rIns="0" bIns="0" rtlCol="0" anchor="ctr"/>
          <a:lstStyle/>
          <a:p>
            <a:pPr algn="l" indent="0" marL="0">
              <a:lnSpc>
                <a:spcPct val="112000"/>
              </a:lnSpc>
              <a:buNone/>
            </a:pPr>
            <a:r>
              <a:rPr lang="en-US" sz="1200" i="1" dirty="0">
                <a:solidFill>
                  <a:srgbClr val="FF5C39"/>
                </a:solidFill>
                <a:latin typeface="Calibri" pitchFamily="34" charset="0"/>
                <a:ea typeface="Calibri" pitchFamily="34" charset="-122"/>
                <a:cs typeface="Calibri" pitchFamily="34" charset="-120"/>
              </a:rPr>
              <a:t>A haircut is 15 minutes. Walk in, take a number.</a:t>
            </a:r>
            <a:endParaRPr lang="en-US" sz="1200" dirty="0"/>
          </a:p>
        </p:txBody>
      </p:sp>
      <p:sp>
        <p:nvSpPr>
          <p:cNvPr id="13" name="Shape 11"/>
          <p:cNvSpPr/>
          <p:nvPr/>
        </p:nvSpPr>
        <p:spPr>
          <a:xfrm>
            <a:off x="6339535" y="2651760"/>
            <a:ext cx="5285232" cy="2670048"/>
          </a:xfrm>
          <a:prstGeom prst="roundRect">
            <a:avLst>
              <a:gd name="adj" fmla="val 3425"/>
            </a:avLst>
          </a:prstGeom>
          <a:solidFill>
            <a:srgbClr val="161F30"/>
          </a:solidFill>
          <a:ln w="17780">
            <a:solidFill>
              <a:srgbClr val="5FD4BE"/>
            </a:solidFill>
            <a:prstDash val="solid"/>
          </a:ln>
        </p:spPr>
      </p:sp>
      <p:sp>
        <p:nvSpPr>
          <p:cNvPr id="14" name="Text 12"/>
          <p:cNvSpPr txBox="1"/>
          <p:nvPr/>
        </p:nvSpPr>
        <p:spPr>
          <a:xfrm>
            <a:off x="6650431" y="2852928"/>
            <a:ext cx="4663440" cy="219456"/>
          </a:xfrm>
          <a:prstGeom prst="rect">
            <a:avLst/>
          </a:prstGeom>
          <a:noFill/>
          <a:ln/>
        </p:spPr>
        <p:txBody>
          <a:bodyPr wrap="square" lIns="0" tIns="0" rIns="0" bIns="0" rtlCol="0" anchor="ctr"/>
          <a:lstStyle/>
          <a:p>
            <a:pPr indent="0" marL="0">
              <a:buNone/>
            </a:pPr>
            <a:r>
              <a:rPr lang="en-US" sz="1050" b="1" spc="140" kern="0" dirty="0">
                <a:solidFill>
                  <a:srgbClr val="5FD4BE"/>
                </a:solidFill>
                <a:latin typeface="Calibri" pitchFamily="34" charset="0"/>
                <a:ea typeface="Calibri" pitchFamily="34" charset="-122"/>
                <a:cs typeface="Calibri" pitchFamily="34" charset="-120"/>
              </a:rPr>
              <a:t>BEAUTY PARLOUR</a:t>
            </a:r>
            <a:endParaRPr lang="en-US" sz="1050" dirty="0"/>
          </a:p>
        </p:txBody>
      </p:sp>
      <p:sp>
        <p:nvSpPr>
          <p:cNvPr id="15" name="Text 13"/>
          <p:cNvSpPr txBox="1"/>
          <p:nvPr/>
        </p:nvSpPr>
        <p:spPr>
          <a:xfrm>
            <a:off x="6650431" y="3090672"/>
            <a:ext cx="4663440" cy="512064"/>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APPOINTMENTS</a:t>
            </a:r>
            <a:endParaRPr lang="en-US" sz="3000" dirty="0"/>
          </a:p>
        </p:txBody>
      </p:sp>
      <p:sp>
        <p:nvSpPr>
          <p:cNvPr id="16" name="Text 14"/>
          <p:cNvSpPr txBox="1"/>
          <p:nvPr/>
        </p:nvSpPr>
        <p:spPr>
          <a:xfrm>
            <a:off x="6650431" y="3712464"/>
            <a:ext cx="4663440" cy="987552"/>
          </a:xfrm>
          <a:prstGeom prst="rect">
            <a:avLst/>
          </a:prstGeom>
          <a:noFill/>
          <a:ln/>
        </p:spPr>
        <p:txBody>
          <a:bodyPr wrap="square" lIns="0" tIns="0" rIns="0" bIns="0" rtlCol="0" anchor="ctr"/>
          <a:lstStyle/>
          <a:p>
            <a:pPr marL="342900" indent="-342900">
              <a:spcAft>
                <a:spcPts val="500"/>
              </a:spcAft>
              <a:buSzPct val="100000"/>
              <a:buChar char="•"/>
            </a:pPr>
            <a:r>
              <a:rPr lang="en-US" sz="1250" dirty="0">
                <a:solidFill>
                  <a:srgbClr val="94A6C4"/>
                </a:solidFill>
                <a:latin typeface="Calibri" pitchFamily="34" charset="0"/>
                <a:ea typeface="Calibri" pitchFamily="34" charset="-122"/>
                <a:cs typeface="Calibri" pitchFamily="34" charset="-120"/>
              </a:rPr>
              <a:t>Booked days ahead — date and time slot</a:t>
            </a:r>
            <a:endParaRPr lang="en-US" sz="1250" dirty="0"/>
          </a:p>
          <a:p>
            <a:pPr marL="342900" indent="-342900">
              <a:spcAft>
                <a:spcPts val="500"/>
              </a:spcAft>
              <a:buSzPct val="100000"/>
              <a:buChar char="•"/>
            </a:pPr>
            <a:r>
              <a:rPr lang="en-US" sz="1250" dirty="0">
                <a:solidFill>
                  <a:srgbClr val="94A6C4"/>
                </a:solidFill>
                <a:latin typeface="Calibri" pitchFamily="34" charset="0"/>
                <a:ea typeface="Calibri" pitchFamily="34" charset="-122"/>
                <a:cs typeface="Calibri" pitchFamily="34" charset="-120"/>
              </a:rPr>
              <a:t>Slots computed from staff availability + duration</a:t>
            </a:r>
            <a:endParaRPr lang="en-US" sz="1250" dirty="0"/>
          </a:p>
          <a:p>
            <a:pPr marL="342900" indent="-342900">
              <a:spcAft>
                <a:spcPts val="500"/>
              </a:spcAft>
              <a:buSzPct val="100000"/>
              <a:buChar char="•"/>
            </a:pPr>
            <a:r>
              <a:rPr lang="en-US" sz="1250" dirty="0">
                <a:solidFill>
                  <a:srgbClr val="94A6C4"/>
                </a:solidFill>
                <a:latin typeface="Calibri" pitchFamily="34" charset="0"/>
                <a:ea typeface="Calibri" pitchFamily="34" charset="-122"/>
                <a:cs typeface="Calibri" pitchFamily="34" charset="-120"/>
              </a:rPr>
              <a:t>Double-booking blocked by the database itself</a:t>
            </a:r>
            <a:endParaRPr lang="en-US" sz="1250" dirty="0"/>
          </a:p>
        </p:txBody>
      </p:sp>
      <p:sp>
        <p:nvSpPr>
          <p:cNvPr id="17" name="Text 15"/>
          <p:cNvSpPr txBox="1"/>
          <p:nvPr/>
        </p:nvSpPr>
        <p:spPr>
          <a:xfrm>
            <a:off x="6650431" y="4809744"/>
            <a:ext cx="4663440" cy="310896"/>
          </a:xfrm>
          <a:prstGeom prst="rect">
            <a:avLst/>
          </a:prstGeom>
          <a:noFill/>
          <a:ln/>
        </p:spPr>
        <p:txBody>
          <a:bodyPr wrap="square" lIns="0" tIns="0" rIns="0" bIns="0" rtlCol="0" anchor="ctr"/>
          <a:lstStyle/>
          <a:p>
            <a:pPr algn="l" indent="0" marL="0">
              <a:lnSpc>
                <a:spcPct val="112000"/>
              </a:lnSpc>
              <a:buNone/>
            </a:pPr>
            <a:r>
              <a:rPr lang="en-US" sz="1200" i="1" dirty="0">
                <a:solidFill>
                  <a:srgbClr val="5FD4BE"/>
                </a:solidFill>
                <a:latin typeface="Calibri" pitchFamily="34" charset="0"/>
                <a:ea typeface="Calibri" pitchFamily="34" charset="-122"/>
                <a:cs typeface="Calibri" pitchFamily="34" charset="-120"/>
              </a:rPr>
              <a:t>A bridal package is 3 hours, booked 10 days out.</a:t>
            </a:r>
            <a:endParaRPr lang="en-US" sz="1200" dirty="0"/>
          </a:p>
        </p:txBody>
      </p:sp>
      <p:sp>
        <p:nvSpPr>
          <p:cNvPr id="18" name="Shape 16"/>
          <p:cNvSpPr/>
          <p:nvPr/>
        </p:nvSpPr>
        <p:spPr>
          <a:xfrm>
            <a:off x="566928" y="5504688"/>
            <a:ext cx="11057839" cy="676656"/>
          </a:xfrm>
          <a:prstGeom prst="roundRect">
            <a:avLst>
              <a:gd name="adj" fmla="val 13514"/>
            </a:avLst>
          </a:prstGeom>
          <a:solidFill>
            <a:srgbClr val="1D2740"/>
          </a:solidFill>
          <a:ln w="12700">
            <a:solidFill>
              <a:srgbClr val="2C3A54"/>
            </a:solidFill>
            <a:prstDash val="solid"/>
          </a:ln>
        </p:spPr>
      </p:sp>
      <p:sp>
        <p:nvSpPr>
          <p:cNvPr id="19" name="Text 17"/>
          <p:cNvSpPr txBox="1"/>
          <p:nvPr/>
        </p:nvSpPr>
        <p:spPr>
          <a:xfrm>
            <a:off x="877824" y="5605272"/>
            <a:ext cx="2377440" cy="219456"/>
          </a:xfrm>
          <a:prstGeom prst="rect">
            <a:avLst/>
          </a:prstGeom>
          <a:noFill/>
          <a:ln/>
        </p:spPr>
        <p:txBody>
          <a:bodyPr wrap="square" lIns="0" tIns="0" rIns="0" bIns="0" rtlCol="0" anchor="ctr"/>
          <a:lstStyle/>
          <a:p>
            <a:pPr indent="0" marL="0">
              <a:buNone/>
            </a:pPr>
            <a:r>
              <a:rPr lang="en-US" sz="1000" b="1" spc="140" kern="0" dirty="0">
                <a:solidFill>
                  <a:srgbClr val="6D7F9C"/>
                </a:solidFill>
                <a:latin typeface="Calibri" pitchFamily="34" charset="0"/>
                <a:ea typeface="Calibri" pitchFamily="34" charset="-122"/>
                <a:cs typeface="Calibri" pitchFamily="34" charset="-120"/>
              </a:rPr>
              <a:t>SHARED BY BOTH</a:t>
            </a:r>
            <a:endParaRPr lang="en-US" sz="1000" dirty="0"/>
          </a:p>
        </p:txBody>
      </p:sp>
      <p:sp>
        <p:nvSpPr>
          <p:cNvPr id="20" name="Text 18"/>
          <p:cNvSpPr txBox="1"/>
          <p:nvPr/>
        </p:nvSpPr>
        <p:spPr>
          <a:xfrm>
            <a:off x="3218688" y="5605272"/>
            <a:ext cx="8040319"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Payments  ·  Membership  ·  Loyalty  ·  Referral  ·  Rewards  ·  Reviews  ·  Analytics</a:t>
            </a:r>
            <a:endParaRPr lang="en-US" sz="1350" dirty="0"/>
          </a:p>
        </p:txBody>
      </p:sp>
      <p:sp>
        <p:nvSpPr>
          <p:cNvPr id="21" name="Text 19"/>
          <p:cNvSpPr txBox="1"/>
          <p:nvPr/>
        </p:nvSpPr>
        <p:spPr>
          <a:xfrm>
            <a:off x="566928" y="6254496"/>
            <a:ext cx="11057839" cy="365760"/>
          </a:xfrm>
          <a:prstGeom prst="rect">
            <a:avLst/>
          </a:prstGeom>
          <a:noFill/>
          <a:ln/>
        </p:spPr>
        <p:txBody>
          <a:bodyPr wrap="square" lIns="0" tIns="0" rIns="0" bIns="0" rtlCol="0" anchor="ctr"/>
          <a:lstStyle/>
          <a:p>
            <a:pPr indent="0" marL="0">
              <a:buNone/>
            </a:pPr>
            <a:r>
              <a:rPr lang="en-US" sz="1000" dirty="0">
                <a:solidFill>
                  <a:srgbClr val="6D7F9C"/>
                </a:solidFill>
                <a:latin typeface="Courier New" pitchFamily="34" charset="0"/>
                <a:ea typeface="Courier New" pitchFamily="34" charset="-122"/>
                <a:cs typeface="Courier New" pitchFamily="34" charset="-120"/>
              </a:rPr>
              <a:t>One rule, one file:  src/lib/business-model.ts  —  nothing else in the app compares business_type to a string.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11C"/>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00" kern="0" dirty="0">
                <a:solidFill>
                  <a:srgbClr val="FF5C39"/>
                </a:solidFill>
                <a:latin typeface="Calibri" pitchFamily="34" charset="0"/>
                <a:ea typeface="Calibri" pitchFamily="34" charset="-122"/>
                <a:cs typeface="Calibri" pitchFamily="34" charset="-120"/>
              </a:rPr>
              <a:t>SALON / BARBERSHOP — HOW IT WORKS</a:t>
            </a:r>
            <a:endParaRPr lang="en-US" sz="1200" dirty="0"/>
          </a:p>
        </p:txBody>
      </p:sp>
      <p:sp>
        <p:nvSpPr>
          <p:cNvPr id="3" name="Text 1"/>
          <p:cNvSpPr txBox="1"/>
          <p:nvPr/>
        </p:nvSpPr>
        <p:spPr>
          <a:xfrm>
            <a:off x="566928" y="621792"/>
            <a:ext cx="11057839" cy="585216"/>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Live queue, both sides of the counter.</a:t>
            </a:r>
            <a:endParaRPr lang="en-US" sz="3000" dirty="0"/>
          </a:p>
        </p:txBody>
      </p:sp>
      <p:sp>
        <p:nvSpPr>
          <p:cNvPr id="4" name="Text 2"/>
          <p:cNvSpPr txBox="1"/>
          <p:nvPr/>
        </p:nvSpPr>
        <p:spPr>
          <a:xfrm>
            <a:off x="566928" y="1389888"/>
            <a:ext cx="4041648" cy="219456"/>
          </a:xfrm>
          <a:prstGeom prst="rect">
            <a:avLst/>
          </a:prstGeom>
          <a:noFill/>
          <a:ln/>
        </p:spPr>
        <p:txBody>
          <a:bodyPr wrap="square" lIns="0" tIns="0" rIns="0" bIns="0" rtlCol="0" anchor="ctr"/>
          <a:lstStyle/>
          <a:p>
            <a:pPr indent="0" marL="0">
              <a:buNone/>
            </a:pPr>
            <a:r>
              <a:rPr lang="en-US" sz="1050" b="1" spc="140" kern="0" dirty="0">
                <a:solidFill>
                  <a:srgbClr val="FF5C39"/>
                </a:solidFill>
                <a:latin typeface="Calibri" pitchFamily="34" charset="0"/>
                <a:ea typeface="Calibri" pitchFamily="34" charset="-122"/>
                <a:cs typeface="Calibri" pitchFamily="34" charset="-120"/>
              </a:rPr>
              <a:t>CUSTOMER</a:t>
            </a:r>
            <a:endParaRPr lang="en-US" sz="1050" dirty="0"/>
          </a:p>
        </p:txBody>
      </p:sp>
      <p:sp>
        <p:nvSpPr>
          <p:cNvPr id="5" name="Shape 3"/>
          <p:cNvSpPr/>
          <p:nvPr/>
        </p:nvSpPr>
        <p:spPr>
          <a:xfrm>
            <a:off x="566928" y="1682496"/>
            <a:ext cx="4041648" cy="566928"/>
          </a:xfrm>
          <a:prstGeom prst="roundRect">
            <a:avLst>
              <a:gd name="adj" fmla="val 19355"/>
            </a:avLst>
          </a:prstGeom>
          <a:solidFill>
            <a:srgbClr val="161F30"/>
          </a:solidFill>
          <a:ln w="12700">
            <a:solidFill>
              <a:srgbClr val="2C3A54"/>
            </a:solidFill>
            <a:prstDash val="solid"/>
          </a:ln>
        </p:spPr>
      </p:sp>
      <p:sp>
        <p:nvSpPr>
          <p:cNvPr id="6" name="Text 4"/>
          <p:cNvSpPr txBox="1"/>
          <p:nvPr/>
        </p:nvSpPr>
        <p:spPr>
          <a:xfrm>
            <a:off x="621792" y="1682496"/>
            <a:ext cx="3931920" cy="566928"/>
          </a:xfrm>
          <a:prstGeom prst="rect">
            <a:avLst/>
          </a:prstGeom>
          <a:noFill/>
          <a:ln/>
        </p:spPr>
        <p:txBody>
          <a:bodyPr wrap="square" lIns="0" tIns="0" rIns="0" bIns="0" rtlCol="0" anchor="ctr"/>
          <a:lstStyle/>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Discover — map + list,</a:t>
            </a:r>
            <a:endParaRPr lang="en-US" sz="1050" dirty="0"/>
          </a:p>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live queue count per shop</a:t>
            </a:r>
            <a:endParaRPr lang="en-US" sz="1050" dirty="0"/>
          </a:p>
        </p:txBody>
      </p:sp>
      <p:sp>
        <p:nvSpPr>
          <p:cNvPr id="7" name="Text 5"/>
          <p:cNvSpPr txBox="1"/>
          <p:nvPr/>
        </p:nvSpPr>
        <p:spPr>
          <a:xfrm>
            <a:off x="2404872" y="2276856"/>
            <a:ext cx="365760" cy="182880"/>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8" name="Shape 6"/>
          <p:cNvSpPr/>
          <p:nvPr/>
        </p:nvSpPr>
        <p:spPr>
          <a:xfrm>
            <a:off x="566928" y="2459736"/>
            <a:ext cx="4041648" cy="566928"/>
          </a:xfrm>
          <a:prstGeom prst="roundRect">
            <a:avLst>
              <a:gd name="adj" fmla="val 19355"/>
            </a:avLst>
          </a:prstGeom>
          <a:solidFill>
            <a:srgbClr val="161F30"/>
          </a:solidFill>
          <a:ln w="12700">
            <a:solidFill>
              <a:srgbClr val="2C3A54"/>
            </a:solidFill>
            <a:prstDash val="solid"/>
          </a:ln>
        </p:spPr>
      </p:sp>
      <p:sp>
        <p:nvSpPr>
          <p:cNvPr id="9" name="Text 7"/>
          <p:cNvSpPr txBox="1"/>
          <p:nvPr/>
        </p:nvSpPr>
        <p:spPr>
          <a:xfrm>
            <a:off x="621792" y="2459736"/>
            <a:ext cx="3931920" cy="566928"/>
          </a:xfrm>
          <a:prstGeom prst="rect">
            <a:avLst/>
          </a:prstGeom>
          <a:noFill/>
          <a:ln/>
        </p:spPr>
        <p:txBody>
          <a:bodyPr wrap="square" lIns="0" tIns="0" rIns="0" bIns="0" rtlCol="0" anchor="ctr"/>
          <a:lstStyle/>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Open the shop — services,</a:t>
            </a:r>
            <a:endParaRPr lang="en-US" sz="1050" dirty="0"/>
          </a:p>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rates, duration</a:t>
            </a:r>
            <a:endParaRPr lang="en-US" sz="1050" dirty="0"/>
          </a:p>
        </p:txBody>
      </p:sp>
      <p:sp>
        <p:nvSpPr>
          <p:cNvPr id="10" name="Text 8"/>
          <p:cNvSpPr txBox="1"/>
          <p:nvPr/>
        </p:nvSpPr>
        <p:spPr>
          <a:xfrm>
            <a:off x="2404872" y="3054096"/>
            <a:ext cx="365760" cy="182880"/>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11" name="Shape 9"/>
          <p:cNvSpPr/>
          <p:nvPr/>
        </p:nvSpPr>
        <p:spPr>
          <a:xfrm>
            <a:off x="566928" y="3236976"/>
            <a:ext cx="4041648" cy="566928"/>
          </a:xfrm>
          <a:prstGeom prst="roundRect">
            <a:avLst>
              <a:gd name="adj" fmla="val 19355"/>
            </a:avLst>
          </a:prstGeom>
          <a:solidFill>
            <a:srgbClr val="161F30"/>
          </a:solidFill>
          <a:ln w="12700">
            <a:solidFill>
              <a:srgbClr val="2C3A54"/>
            </a:solidFill>
            <a:prstDash val="solid"/>
          </a:ln>
        </p:spPr>
      </p:sp>
      <p:sp>
        <p:nvSpPr>
          <p:cNvPr id="12" name="Text 10"/>
          <p:cNvSpPr txBox="1"/>
          <p:nvPr/>
        </p:nvSpPr>
        <p:spPr>
          <a:xfrm>
            <a:off x="621792" y="3236976"/>
            <a:ext cx="3931920" cy="566928"/>
          </a:xfrm>
          <a:prstGeom prst="rect">
            <a:avLst/>
          </a:prstGeom>
          <a:noFill/>
          <a:ln/>
        </p:spPr>
        <p:txBody>
          <a:bodyPr wrap="square" lIns="0" tIns="0" rIns="0" bIns="0" rtlCol="0" anchor="ctr"/>
          <a:lstStyle/>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Select service(s)</a:t>
            </a:r>
            <a:endParaRPr lang="en-US" sz="1050" dirty="0"/>
          </a:p>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 style, if the shop set one up</a:t>
            </a:r>
            <a:endParaRPr lang="en-US" sz="1050" dirty="0"/>
          </a:p>
        </p:txBody>
      </p:sp>
      <p:sp>
        <p:nvSpPr>
          <p:cNvPr id="13" name="Text 11"/>
          <p:cNvSpPr txBox="1"/>
          <p:nvPr/>
        </p:nvSpPr>
        <p:spPr>
          <a:xfrm>
            <a:off x="2404872" y="3831336"/>
            <a:ext cx="365760" cy="182880"/>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14" name="Shape 12"/>
          <p:cNvSpPr/>
          <p:nvPr/>
        </p:nvSpPr>
        <p:spPr>
          <a:xfrm>
            <a:off x="566928" y="4014216"/>
            <a:ext cx="4041648" cy="566928"/>
          </a:xfrm>
          <a:prstGeom prst="roundRect">
            <a:avLst>
              <a:gd name="adj" fmla="val 19355"/>
            </a:avLst>
          </a:prstGeom>
          <a:solidFill>
            <a:srgbClr val="161F30"/>
          </a:solidFill>
          <a:ln w="12700">
            <a:solidFill>
              <a:srgbClr val="2C3A54"/>
            </a:solidFill>
            <a:prstDash val="solid"/>
          </a:ln>
        </p:spPr>
      </p:sp>
      <p:sp>
        <p:nvSpPr>
          <p:cNvPr id="15" name="Text 13"/>
          <p:cNvSpPr txBox="1"/>
          <p:nvPr/>
        </p:nvSpPr>
        <p:spPr>
          <a:xfrm>
            <a:off x="621792" y="4014216"/>
            <a:ext cx="3931920" cy="566928"/>
          </a:xfrm>
          <a:prstGeom prst="rect">
            <a:avLst/>
          </a:prstGeom>
          <a:noFill/>
          <a:ln/>
        </p:spPr>
        <p:txBody>
          <a:bodyPr wrap="square" lIns="0" tIns="0" rIns="0" bIns="0" rtlCol="0" anchor="ctr"/>
          <a:lstStyle/>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Join the live queue</a:t>
            </a:r>
            <a:endParaRPr lang="en-US" sz="1050" dirty="0"/>
          </a:p>
        </p:txBody>
      </p:sp>
      <p:sp>
        <p:nvSpPr>
          <p:cNvPr id="16" name="Text 14"/>
          <p:cNvSpPr txBox="1"/>
          <p:nvPr/>
        </p:nvSpPr>
        <p:spPr>
          <a:xfrm>
            <a:off x="2404872" y="4608576"/>
            <a:ext cx="365760" cy="182880"/>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17" name="Shape 15"/>
          <p:cNvSpPr/>
          <p:nvPr/>
        </p:nvSpPr>
        <p:spPr>
          <a:xfrm>
            <a:off x="566928" y="4791456"/>
            <a:ext cx="4041648" cy="566928"/>
          </a:xfrm>
          <a:prstGeom prst="roundRect">
            <a:avLst>
              <a:gd name="adj" fmla="val 19355"/>
            </a:avLst>
          </a:prstGeom>
          <a:solidFill>
            <a:srgbClr val="1D2740"/>
          </a:solidFill>
          <a:ln w="12700">
            <a:solidFill>
              <a:srgbClr val="2C3A54"/>
            </a:solidFill>
            <a:prstDash val="solid"/>
          </a:ln>
        </p:spPr>
      </p:sp>
      <p:sp>
        <p:nvSpPr>
          <p:cNvPr id="18" name="Text 16"/>
          <p:cNvSpPr txBox="1"/>
          <p:nvPr/>
        </p:nvSpPr>
        <p:spPr>
          <a:xfrm>
            <a:off x="621792" y="4791456"/>
            <a:ext cx="3931920" cy="566928"/>
          </a:xfrm>
          <a:prstGeom prst="rect">
            <a:avLst/>
          </a:prstGeom>
          <a:noFill/>
          <a:ln/>
        </p:spPr>
        <p:txBody>
          <a:bodyPr wrap="square" lIns="0" tIns="0" rIns="0" bIns="0" rtlCol="0" anchor="ctr"/>
          <a:lstStyle/>
          <a:p>
            <a:pPr algn="ctr" indent="0" marL="0">
              <a:lnSpc>
                <a:spcPct val="92000"/>
              </a:lnSpc>
              <a:buNone/>
            </a:pPr>
            <a:r>
              <a:rPr lang="en-US" sz="1050" b="1" dirty="0">
                <a:solidFill>
                  <a:srgbClr val="FF5C39"/>
                </a:solidFill>
                <a:latin typeface="Calibri" pitchFamily="34" charset="0"/>
                <a:ea typeface="Calibri" pitchFamily="34" charset="-122"/>
                <a:cs typeface="Calibri" pitchFamily="34" charset="-120"/>
              </a:rPr>
              <a:t>Track it: position + ETA,</a:t>
            </a:r>
            <a:endParaRPr lang="en-US" sz="1050" dirty="0"/>
          </a:p>
          <a:p>
            <a:pPr algn="ctr" indent="0" marL="0">
              <a:lnSpc>
                <a:spcPct val="92000"/>
              </a:lnSpc>
              <a:buNone/>
            </a:pPr>
            <a:r>
              <a:rPr lang="en-US" sz="1050" b="1" dirty="0">
                <a:solidFill>
                  <a:srgbClr val="FF5C39"/>
                </a:solidFill>
                <a:latin typeface="Calibri" pitchFamily="34" charset="0"/>
                <a:ea typeface="Calibri" pitchFamily="34" charset="-122"/>
                <a:cs typeface="Calibri" pitchFamily="34" charset="-120"/>
              </a:rPr>
              <a:t>updating live</a:t>
            </a:r>
            <a:endParaRPr lang="en-US" sz="1050" dirty="0"/>
          </a:p>
        </p:txBody>
      </p:sp>
      <p:sp>
        <p:nvSpPr>
          <p:cNvPr id="19" name="Text 17"/>
          <p:cNvSpPr txBox="1"/>
          <p:nvPr/>
        </p:nvSpPr>
        <p:spPr>
          <a:xfrm>
            <a:off x="7583119" y="1389888"/>
            <a:ext cx="4041648" cy="219456"/>
          </a:xfrm>
          <a:prstGeom prst="rect">
            <a:avLst/>
          </a:prstGeom>
          <a:noFill/>
          <a:ln/>
        </p:spPr>
        <p:txBody>
          <a:bodyPr wrap="square" lIns="0" tIns="0" rIns="0" bIns="0" rtlCol="0" anchor="ctr"/>
          <a:lstStyle/>
          <a:p>
            <a:pPr indent="0" marL="0">
              <a:buNone/>
            </a:pPr>
            <a:r>
              <a:rPr lang="en-US" sz="1050" b="1" spc="140" kern="0" dirty="0">
                <a:solidFill>
                  <a:srgbClr val="FF5C39"/>
                </a:solidFill>
                <a:latin typeface="Calibri" pitchFamily="34" charset="0"/>
                <a:ea typeface="Calibri" pitchFamily="34" charset="-122"/>
                <a:cs typeface="Calibri" pitchFamily="34" charset="-120"/>
              </a:rPr>
              <a:t>PROVIDER</a:t>
            </a:r>
            <a:endParaRPr lang="en-US" sz="1050" dirty="0"/>
          </a:p>
        </p:txBody>
      </p:sp>
      <p:sp>
        <p:nvSpPr>
          <p:cNvPr id="20" name="Shape 18"/>
          <p:cNvSpPr/>
          <p:nvPr/>
        </p:nvSpPr>
        <p:spPr>
          <a:xfrm>
            <a:off x="7583119" y="1682496"/>
            <a:ext cx="4041648" cy="566928"/>
          </a:xfrm>
          <a:prstGeom prst="roundRect">
            <a:avLst>
              <a:gd name="adj" fmla="val 19355"/>
            </a:avLst>
          </a:prstGeom>
          <a:solidFill>
            <a:srgbClr val="161F30"/>
          </a:solidFill>
          <a:ln w="12700">
            <a:solidFill>
              <a:srgbClr val="2C3A54"/>
            </a:solidFill>
            <a:prstDash val="solid"/>
          </a:ln>
        </p:spPr>
      </p:sp>
      <p:sp>
        <p:nvSpPr>
          <p:cNvPr id="21" name="Text 19"/>
          <p:cNvSpPr txBox="1"/>
          <p:nvPr/>
        </p:nvSpPr>
        <p:spPr>
          <a:xfrm>
            <a:off x="7637983" y="1682496"/>
            <a:ext cx="3931920" cy="566928"/>
          </a:xfrm>
          <a:prstGeom prst="rect">
            <a:avLst/>
          </a:prstGeom>
          <a:noFill/>
          <a:ln/>
        </p:spPr>
        <p:txBody>
          <a:bodyPr wrap="square" lIns="0" tIns="0" rIns="0" bIns="0" rtlCol="0" anchor="ctr"/>
          <a:lstStyle/>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Live queue board —</a:t>
            </a:r>
            <a:endParaRPr lang="en-US" sz="1050" dirty="0"/>
          </a:p>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one lane per chair</a:t>
            </a:r>
            <a:endParaRPr lang="en-US" sz="1050" dirty="0"/>
          </a:p>
        </p:txBody>
      </p:sp>
      <p:sp>
        <p:nvSpPr>
          <p:cNvPr id="22" name="Text 20"/>
          <p:cNvSpPr txBox="1"/>
          <p:nvPr/>
        </p:nvSpPr>
        <p:spPr>
          <a:xfrm>
            <a:off x="9421063" y="2276856"/>
            <a:ext cx="365760" cy="182880"/>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23" name="Shape 21"/>
          <p:cNvSpPr/>
          <p:nvPr/>
        </p:nvSpPr>
        <p:spPr>
          <a:xfrm>
            <a:off x="7583119" y="2459736"/>
            <a:ext cx="4041648" cy="566928"/>
          </a:xfrm>
          <a:prstGeom prst="roundRect">
            <a:avLst>
              <a:gd name="adj" fmla="val 19355"/>
            </a:avLst>
          </a:prstGeom>
          <a:solidFill>
            <a:srgbClr val="161F30"/>
          </a:solidFill>
          <a:ln w="12700">
            <a:solidFill>
              <a:srgbClr val="2C3A54"/>
            </a:solidFill>
            <a:prstDash val="solid"/>
          </a:ln>
        </p:spPr>
      </p:sp>
      <p:sp>
        <p:nvSpPr>
          <p:cNvPr id="24" name="Text 22"/>
          <p:cNvSpPr txBox="1"/>
          <p:nvPr/>
        </p:nvSpPr>
        <p:spPr>
          <a:xfrm>
            <a:off x="7637983" y="2459736"/>
            <a:ext cx="3931920" cy="566928"/>
          </a:xfrm>
          <a:prstGeom prst="rect">
            <a:avLst/>
          </a:prstGeom>
          <a:noFill/>
          <a:ln/>
        </p:spPr>
        <p:txBody>
          <a:bodyPr wrap="square" lIns="0" tIns="0" rIns="0" bIns="0" rtlCol="0" anchor="ctr"/>
          <a:lstStyle/>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Chairs, staff and services</a:t>
            </a:r>
            <a:endParaRPr lang="en-US" sz="1050" dirty="0"/>
          </a:p>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 who can perform what</a:t>
            </a:r>
            <a:endParaRPr lang="en-US" sz="1050" dirty="0"/>
          </a:p>
        </p:txBody>
      </p:sp>
      <p:sp>
        <p:nvSpPr>
          <p:cNvPr id="25" name="Text 23"/>
          <p:cNvSpPr txBox="1"/>
          <p:nvPr/>
        </p:nvSpPr>
        <p:spPr>
          <a:xfrm>
            <a:off x="9421063" y="3054096"/>
            <a:ext cx="365760" cy="182880"/>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26" name="Shape 24"/>
          <p:cNvSpPr/>
          <p:nvPr/>
        </p:nvSpPr>
        <p:spPr>
          <a:xfrm>
            <a:off x="7583119" y="3236976"/>
            <a:ext cx="4041648" cy="566928"/>
          </a:xfrm>
          <a:prstGeom prst="roundRect">
            <a:avLst>
              <a:gd name="adj" fmla="val 19355"/>
            </a:avLst>
          </a:prstGeom>
          <a:solidFill>
            <a:srgbClr val="161F30"/>
          </a:solidFill>
          <a:ln w="12700">
            <a:solidFill>
              <a:srgbClr val="2C3A54"/>
            </a:solidFill>
            <a:prstDash val="solid"/>
          </a:ln>
        </p:spPr>
      </p:sp>
      <p:sp>
        <p:nvSpPr>
          <p:cNvPr id="27" name="Text 25"/>
          <p:cNvSpPr txBox="1"/>
          <p:nvPr/>
        </p:nvSpPr>
        <p:spPr>
          <a:xfrm>
            <a:off x="7637983" y="3236976"/>
            <a:ext cx="3931920" cy="566928"/>
          </a:xfrm>
          <a:prstGeom prst="rect">
            <a:avLst/>
          </a:prstGeom>
          <a:noFill/>
          <a:ln/>
        </p:spPr>
        <p:txBody>
          <a:bodyPr wrap="square" lIns="0" tIns="0" rIns="0" bIns="0" rtlCol="0" anchor="ctr"/>
          <a:lstStyle/>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Move status: WAITING →</a:t>
            </a:r>
            <a:endParaRPr lang="en-US" sz="1050" dirty="0"/>
          </a:p>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IN_PROGRESS → DONE</a:t>
            </a:r>
            <a:endParaRPr lang="en-US" sz="1050" dirty="0"/>
          </a:p>
        </p:txBody>
      </p:sp>
      <p:sp>
        <p:nvSpPr>
          <p:cNvPr id="28" name="Text 26"/>
          <p:cNvSpPr txBox="1"/>
          <p:nvPr/>
        </p:nvSpPr>
        <p:spPr>
          <a:xfrm>
            <a:off x="9421063" y="3831336"/>
            <a:ext cx="365760" cy="182880"/>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29" name="Shape 27"/>
          <p:cNvSpPr/>
          <p:nvPr/>
        </p:nvSpPr>
        <p:spPr>
          <a:xfrm>
            <a:off x="7583119" y="4014216"/>
            <a:ext cx="4041648" cy="566928"/>
          </a:xfrm>
          <a:prstGeom prst="roundRect">
            <a:avLst>
              <a:gd name="adj" fmla="val 19355"/>
            </a:avLst>
          </a:prstGeom>
          <a:solidFill>
            <a:srgbClr val="161F30"/>
          </a:solidFill>
          <a:ln w="12700">
            <a:solidFill>
              <a:srgbClr val="2C3A54"/>
            </a:solidFill>
            <a:prstDash val="solid"/>
          </a:ln>
        </p:spPr>
      </p:sp>
      <p:sp>
        <p:nvSpPr>
          <p:cNvPr id="30" name="Text 28"/>
          <p:cNvSpPr txBox="1"/>
          <p:nvPr/>
        </p:nvSpPr>
        <p:spPr>
          <a:xfrm>
            <a:off x="7637983" y="4014216"/>
            <a:ext cx="3931920" cy="566928"/>
          </a:xfrm>
          <a:prstGeom prst="rect">
            <a:avLst/>
          </a:prstGeom>
          <a:noFill/>
          <a:ln/>
        </p:spPr>
        <p:txBody>
          <a:bodyPr wrap="square" lIns="0" tIns="0" rIns="0" bIns="0" rtlCol="0" anchor="ctr"/>
          <a:lstStyle/>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Take payment — cash or due</a:t>
            </a:r>
            <a:endParaRPr lang="en-US" sz="1050" dirty="0"/>
          </a:p>
        </p:txBody>
      </p:sp>
      <p:sp>
        <p:nvSpPr>
          <p:cNvPr id="31" name="Text 29"/>
          <p:cNvSpPr txBox="1"/>
          <p:nvPr/>
        </p:nvSpPr>
        <p:spPr>
          <a:xfrm>
            <a:off x="9421063" y="4608576"/>
            <a:ext cx="365760" cy="182880"/>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32" name="Shape 30"/>
          <p:cNvSpPr/>
          <p:nvPr/>
        </p:nvSpPr>
        <p:spPr>
          <a:xfrm>
            <a:off x="7583119" y="4791456"/>
            <a:ext cx="4041648" cy="566928"/>
          </a:xfrm>
          <a:prstGeom prst="roundRect">
            <a:avLst>
              <a:gd name="adj" fmla="val 19355"/>
            </a:avLst>
          </a:prstGeom>
          <a:solidFill>
            <a:srgbClr val="1D2740"/>
          </a:solidFill>
          <a:ln w="12700">
            <a:solidFill>
              <a:srgbClr val="2C3A54"/>
            </a:solidFill>
            <a:prstDash val="solid"/>
          </a:ln>
        </p:spPr>
      </p:sp>
      <p:sp>
        <p:nvSpPr>
          <p:cNvPr id="33" name="Text 31"/>
          <p:cNvSpPr txBox="1"/>
          <p:nvPr/>
        </p:nvSpPr>
        <p:spPr>
          <a:xfrm>
            <a:off x="7637983" y="4791456"/>
            <a:ext cx="3931920" cy="566928"/>
          </a:xfrm>
          <a:prstGeom prst="rect">
            <a:avLst/>
          </a:prstGeom>
          <a:noFill/>
          <a:ln/>
        </p:spPr>
        <p:txBody>
          <a:bodyPr wrap="square" lIns="0" tIns="0" rIns="0" bIns="0" rtlCol="0" anchor="ctr"/>
          <a:lstStyle/>
          <a:p>
            <a:pPr algn="ctr" indent="0" marL="0">
              <a:lnSpc>
                <a:spcPct val="92000"/>
              </a:lnSpc>
              <a:buNone/>
            </a:pPr>
            <a:r>
              <a:rPr lang="en-US" sz="1050" b="1" dirty="0">
                <a:solidFill>
                  <a:srgbClr val="FF5C39"/>
                </a:solidFill>
                <a:latin typeface="Calibri" pitchFamily="34" charset="0"/>
                <a:ea typeface="Calibri" pitchFamily="34" charset="-122"/>
                <a:cs typeface="Calibri" pitchFamily="34" charset="-120"/>
              </a:rPr>
              <a:t>Income, cashbook,</a:t>
            </a:r>
            <a:endParaRPr lang="en-US" sz="1050" dirty="0"/>
          </a:p>
          <a:p>
            <a:pPr algn="ctr" indent="0" marL="0">
              <a:lnSpc>
                <a:spcPct val="92000"/>
              </a:lnSpc>
              <a:buNone/>
            </a:pPr>
            <a:r>
              <a:rPr lang="en-US" sz="1050" b="1" dirty="0">
                <a:solidFill>
                  <a:srgbClr val="FF5C39"/>
                </a:solidFill>
                <a:latin typeface="Calibri" pitchFamily="34" charset="0"/>
                <a:ea typeface="Calibri" pitchFamily="34" charset="-122"/>
                <a:cs typeface="Calibri" pitchFamily="34" charset="-120"/>
              </a:rPr>
              <a:t>analytics</a:t>
            </a:r>
            <a:endParaRPr lang="en-US" sz="1050" dirty="0"/>
          </a:p>
        </p:txBody>
      </p:sp>
      <p:sp>
        <p:nvSpPr>
          <p:cNvPr id="34" name="Shape 32"/>
          <p:cNvSpPr/>
          <p:nvPr/>
        </p:nvSpPr>
        <p:spPr>
          <a:xfrm>
            <a:off x="5010912" y="1682496"/>
            <a:ext cx="2169871" cy="3383280"/>
          </a:xfrm>
          <a:prstGeom prst="roundRect">
            <a:avLst>
              <a:gd name="adj" fmla="val 4214"/>
            </a:avLst>
          </a:prstGeom>
          <a:solidFill>
            <a:srgbClr val="1D2740"/>
          </a:solidFill>
          <a:ln w="16510">
            <a:solidFill>
              <a:srgbClr val="F5C451"/>
            </a:solidFill>
            <a:prstDash val="solid"/>
          </a:ln>
        </p:spPr>
      </p:sp>
      <p:sp>
        <p:nvSpPr>
          <p:cNvPr id="35" name="Text 33"/>
          <p:cNvSpPr txBox="1"/>
          <p:nvPr/>
        </p:nvSpPr>
        <p:spPr>
          <a:xfrm>
            <a:off x="5175504" y="1828800"/>
            <a:ext cx="1840687" cy="219456"/>
          </a:xfrm>
          <a:prstGeom prst="rect">
            <a:avLst/>
          </a:prstGeom>
          <a:noFill/>
          <a:ln/>
        </p:spPr>
        <p:txBody>
          <a:bodyPr wrap="square" lIns="0" tIns="0" rIns="0" bIns="0" rtlCol="0" anchor="ctr"/>
          <a:lstStyle/>
          <a:p>
            <a:pPr indent="0" marL="0">
              <a:buNone/>
            </a:pPr>
            <a:r>
              <a:rPr lang="en-US" sz="1000" b="1" spc="140" kern="0" dirty="0">
                <a:solidFill>
                  <a:srgbClr val="F5C451"/>
                </a:solidFill>
                <a:latin typeface="Calibri" pitchFamily="34" charset="0"/>
                <a:ea typeface="Calibri" pitchFamily="34" charset="-122"/>
                <a:cs typeface="Calibri" pitchFamily="34" charset="-120"/>
              </a:rPr>
              <a:t>POSTGRESQL</a:t>
            </a:r>
            <a:endParaRPr lang="en-US" sz="1000" dirty="0"/>
          </a:p>
        </p:txBody>
      </p:sp>
      <p:sp>
        <p:nvSpPr>
          <p:cNvPr id="36" name="Text 34"/>
          <p:cNvSpPr txBox="1"/>
          <p:nvPr/>
        </p:nvSpPr>
        <p:spPr>
          <a:xfrm>
            <a:off x="5175504" y="2103120"/>
            <a:ext cx="1840687" cy="512064"/>
          </a:xfrm>
          <a:prstGeom prst="rect">
            <a:avLst/>
          </a:prstGeom>
          <a:noFill/>
          <a:ln/>
        </p:spPr>
        <p:txBody>
          <a:bodyPr wrap="square" lIns="0" tIns="0" rIns="0" bIns="0" rtlCol="0" anchor="ctr"/>
          <a:lstStyle/>
          <a:p>
            <a:pPr indent="0" marL="0">
              <a:lnSpc>
                <a:spcPct val="95000"/>
              </a:lnSpc>
              <a:buNone/>
            </a:pPr>
            <a:r>
              <a:rPr lang="en-US" sz="1000" dirty="0">
                <a:solidFill>
                  <a:srgbClr val="FFFFFF"/>
                </a:solidFill>
                <a:latin typeface="Calibri" pitchFamily="34" charset="0"/>
                <a:ea typeface="Calibri" pitchFamily="34" charset="-122"/>
                <a:cs typeface="Calibri" pitchFamily="34" charset="-120"/>
              </a:rPr>
              <a:t>serials insert</a:t>
            </a:r>
            <a:endParaRPr lang="en-US" sz="1000" dirty="0"/>
          </a:p>
          <a:p>
            <a:pPr indent="0" marL="0">
              <a:lnSpc>
                <a:spcPct val="95000"/>
              </a:lnSpc>
              <a:buNone/>
            </a:pPr>
            <a:r>
              <a:rPr lang="en-US" sz="1000" dirty="0">
                <a:solidFill>
                  <a:srgbClr val="FFFFFF"/>
                </a:solidFill>
                <a:latin typeface="Calibri" pitchFamily="34" charset="0"/>
                <a:ea typeface="Calibri" pitchFamily="34" charset="-122"/>
                <a:cs typeface="Calibri" pitchFamily="34" charset="-120"/>
              </a:rPr>
              <a:t>— refused if the shop is closed</a:t>
            </a:r>
            <a:endParaRPr lang="en-US" sz="1000" dirty="0"/>
          </a:p>
        </p:txBody>
      </p:sp>
      <p:sp>
        <p:nvSpPr>
          <p:cNvPr id="37" name="Text 35"/>
          <p:cNvSpPr txBox="1"/>
          <p:nvPr/>
        </p:nvSpPr>
        <p:spPr>
          <a:xfrm>
            <a:off x="5175504" y="2688336"/>
            <a:ext cx="1840687" cy="512064"/>
          </a:xfrm>
          <a:prstGeom prst="rect">
            <a:avLst/>
          </a:prstGeom>
          <a:noFill/>
          <a:ln/>
        </p:spPr>
        <p:txBody>
          <a:bodyPr wrap="square" lIns="0" tIns="0" rIns="0" bIns="0" rtlCol="0" anchor="ctr"/>
          <a:lstStyle/>
          <a:p>
            <a:pPr indent="0" marL="0">
              <a:lnSpc>
                <a:spcPct val="95000"/>
              </a:lnSpc>
              <a:buNone/>
            </a:pPr>
            <a:r>
              <a:rPr lang="en-US" sz="1000" dirty="0">
                <a:solidFill>
                  <a:srgbClr val="FFFFFF"/>
                </a:solidFill>
                <a:latin typeface="Calibri" pitchFamily="34" charset="0"/>
                <a:ea typeface="Calibri" pitchFamily="34" charset="-122"/>
                <a:cs typeface="Calibri" pitchFamily="34" charset="-120"/>
              </a:rPr>
              <a:t>chair assigned from</a:t>
            </a:r>
            <a:endParaRPr lang="en-US" sz="1000" dirty="0"/>
          </a:p>
          <a:p>
            <a:pPr indent="0" marL="0">
              <a:lnSpc>
                <a:spcPct val="95000"/>
              </a:lnSpc>
              <a:buNone/>
            </a:pPr>
            <a:r>
              <a:rPr lang="en-US" sz="1000" dirty="0">
                <a:solidFill>
                  <a:srgbClr val="FFFFFF"/>
                </a:solidFill>
                <a:latin typeface="Calibri" pitchFamily="34" charset="0"/>
                <a:ea typeface="Calibri" pitchFamily="34" charset="-122"/>
                <a:cs typeface="Calibri" pitchFamily="34" charset="-120"/>
              </a:rPr>
              <a:t>who can perform the service</a:t>
            </a:r>
            <a:endParaRPr lang="en-US" sz="1000" dirty="0"/>
          </a:p>
        </p:txBody>
      </p:sp>
      <p:sp>
        <p:nvSpPr>
          <p:cNvPr id="38" name="Text 36"/>
          <p:cNvSpPr txBox="1"/>
          <p:nvPr/>
        </p:nvSpPr>
        <p:spPr>
          <a:xfrm>
            <a:off x="5175504" y="3273552"/>
            <a:ext cx="1840687" cy="512064"/>
          </a:xfrm>
          <a:prstGeom prst="rect">
            <a:avLst/>
          </a:prstGeom>
          <a:noFill/>
          <a:ln/>
        </p:spPr>
        <p:txBody>
          <a:bodyPr wrap="square" lIns="0" tIns="0" rIns="0" bIns="0" rtlCol="0" anchor="ctr"/>
          <a:lstStyle/>
          <a:p>
            <a:pPr indent="0" marL="0">
              <a:lnSpc>
                <a:spcPct val="95000"/>
              </a:lnSpc>
              <a:buNone/>
            </a:pPr>
            <a:r>
              <a:rPr lang="en-US" sz="1000" dirty="0">
                <a:solidFill>
                  <a:srgbClr val="FFFFFF"/>
                </a:solidFill>
                <a:latin typeface="Calibri" pitchFamily="34" charset="0"/>
                <a:ea typeface="Calibri" pitchFamily="34" charset="-122"/>
                <a:cs typeface="Calibri" pitchFamily="34" charset="-120"/>
              </a:rPr>
              <a:t>position + estimated start</a:t>
            </a:r>
            <a:endParaRPr lang="en-US" sz="1000" dirty="0"/>
          </a:p>
          <a:p>
            <a:pPr indent="0" marL="0">
              <a:lnSpc>
                <a:spcPct val="95000"/>
              </a:lnSpc>
              <a:buNone/>
            </a:pPr>
            <a:r>
              <a:rPr lang="en-US" sz="1000" dirty="0">
                <a:solidFill>
                  <a:srgbClr val="FFFFFF"/>
                </a:solidFill>
                <a:latin typeface="Calibri" pitchFamily="34" charset="0"/>
                <a:ea typeface="Calibri" pitchFamily="34" charset="-122"/>
                <a:cs typeface="Calibri" pitchFamily="34" charset="-120"/>
              </a:rPr>
              <a:t>computed HERE, not in the client</a:t>
            </a:r>
            <a:endParaRPr lang="en-US" sz="1000" dirty="0"/>
          </a:p>
        </p:txBody>
      </p:sp>
      <p:sp>
        <p:nvSpPr>
          <p:cNvPr id="39" name="Text 37"/>
          <p:cNvSpPr txBox="1"/>
          <p:nvPr/>
        </p:nvSpPr>
        <p:spPr>
          <a:xfrm>
            <a:off x="5175504" y="3858768"/>
            <a:ext cx="1840687" cy="512064"/>
          </a:xfrm>
          <a:prstGeom prst="rect">
            <a:avLst/>
          </a:prstGeom>
          <a:noFill/>
          <a:ln/>
        </p:spPr>
        <p:txBody>
          <a:bodyPr wrap="square" lIns="0" tIns="0" rIns="0" bIns="0" rtlCol="0" anchor="ctr"/>
          <a:lstStyle/>
          <a:p>
            <a:pPr indent="0" marL="0">
              <a:lnSpc>
                <a:spcPct val="95000"/>
              </a:lnSpc>
              <a:buNone/>
            </a:pPr>
            <a:r>
              <a:rPr lang="en-US" sz="1000" dirty="0">
                <a:solidFill>
                  <a:srgbClr val="FFFFFF"/>
                </a:solidFill>
                <a:latin typeface="Calibri" pitchFamily="34" charset="0"/>
                <a:ea typeface="Calibri" pitchFamily="34" charset="-122"/>
                <a:cs typeface="Calibri" pitchFamily="34" charset="-120"/>
              </a:rPr>
              <a:t>queue_public view</a:t>
            </a:r>
            <a:endParaRPr lang="en-US" sz="1000" dirty="0"/>
          </a:p>
          <a:p>
            <a:pPr indent="0" marL="0">
              <a:lnSpc>
                <a:spcPct val="95000"/>
              </a:lnSpc>
              <a:buNone/>
            </a:pPr>
            <a:r>
              <a:rPr lang="en-US" sz="1000" dirty="0">
                <a:solidFill>
                  <a:srgbClr val="FFFFFF"/>
                </a:solidFill>
                <a:latin typeface="Calibri" pitchFamily="34" charset="0"/>
                <a:ea typeface="Calibri" pitchFamily="34" charset="-122"/>
                <a:cs typeface="Calibri" pitchFamily="34" charset="-120"/>
              </a:rPr>
              <a:t>— PII-free, for public reads</a:t>
            </a:r>
            <a:endParaRPr lang="en-US" sz="1000" dirty="0"/>
          </a:p>
        </p:txBody>
      </p:sp>
      <p:sp>
        <p:nvSpPr>
          <p:cNvPr id="40" name="Text 38"/>
          <p:cNvSpPr txBox="1"/>
          <p:nvPr/>
        </p:nvSpPr>
        <p:spPr>
          <a:xfrm>
            <a:off x="5175504" y="4443984"/>
            <a:ext cx="1840687" cy="512064"/>
          </a:xfrm>
          <a:prstGeom prst="rect">
            <a:avLst/>
          </a:prstGeom>
          <a:noFill/>
          <a:ln/>
        </p:spPr>
        <p:txBody>
          <a:bodyPr wrap="square" lIns="0" tIns="0" rIns="0" bIns="0" rtlCol="0" anchor="ctr"/>
          <a:lstStyle/>
          <a:p>
            <a:pPr indent="0" marL="0">
              <a:lnSpc>
                <a:spcPct val="95000"/>
              </a:lnSpc>
              <a:buNone/>
            </a:pPr>
            <a:r>
              <a:rPr lang="en-US" sz="1000" dirty="0">
                <a:solidFill>
                  <a:srgbClr val="FFFFFF"/>
                </a:solidFill>
                <a:latin typeface="Calibri" pitchFamily="34" charset="0"/>
                <a:ea typeface="Calibri" pitchFamily="34" charset="-122"/>
                <a:cs typeface="Calibri" pitchFamily="34" charset="-120"/>
              </a:rPr>
              <a:t>Realtime push</a:t>
            </a:r>
            <a:endParaRPr lang="en-US" sz="1000" dirty="0"/>
          </a:p>
          <a:p>
            <a:pPr indent="0" marL="0">
              <a:lnSpc>
                <a:spcPct val="95000"/>
              </a:lnSpc>
              <a:buNone/>
            </a:pPr>
            <a:r>
              <a:rPr lang="en-US" sz="1000" dirty="0">
                <a:solidFill>
                  <a:srgbClr val="FFFFFF"/>
                </a:solidFill>
                <a:latin typeface="Calibri" pitchFamily="34" charset="0"/>
                <a:ea typeface="Calibri" pitchFamily="34" charset="-122"/>
                <a:cs typeface="Calibri" pitchFamily="34" charset="-120"/>
              </a:rPr>
              <a:t>on every queue change</a:t>
            </a:r>
            <a:endParaRPr lang="en-US" sz="1000" dirty="0"/>
          </a:p>
        </p:txBody>
      </p:sp>
      <p:sp>
        <p:nvSpPr>
          <p:cNvPr id="41" name="Shape 39"/>
          <p:cNvSpPr/>
          <p:nvPr/>
        </p:nvSpPr>
        <p:spPr>
          <a:xfrm>
            <a:off x="566928" y="5285232"/>
            <a:ext cx="11057839" cy="749808"/>
          </a:xfrm>
          <a:prstGeom prst="roundRect">
            <a:avLst>
              <a:gd name="adj" fmla="val 12195"/>
            </a:avLst>
          </a:prstGeom>
          <a:solidFill>
            <a:srgbClr val="161F30"/>
          </a:solidFill>
          <a:ln w="12700">
            <a:solidFill>
              <a:srgbClr val="2C3A54"/>
            </a:solidFill>
            <a:prstDash val="solid"/>
          </a:ln>
        </p:spPr>
      </p:sp>
      <p:sp>
        <p:nvSpPr>
          <p:cNvPr id="42" name="Text 40"/>
          <p:cNvSpPr txBox="1"/>
          <p:nvPr/>
        </p:nvSpPr>
        <p:spPr>
          <a:xfrm>
            <a:off x="841248" y="5413248"/>
            <a:ext cx="4572000" cy="219456"/>
          </a:xfrm>
          <a:prstGeom prst="rect">
            <a:avLst/>
          </a:prstGeom>
          <a:noFill/>
          <a:ln/>
        </p:spPr>
        <p:txBody>
          <a:bodyPr wrap="square" lIns="0" tIns="0" rIns="0" bIns="0" rtlCol="0" anchor="ctr"/>
          <a:lstStyle/>
          <a:p>
            <a:pPr indent="0" marL="0">
              <a:buNone/>
            </a:pPr>
            <a:r>
              <a:rPr lang="en-US" sz="1000" b="1" spc="140" kern="0" dirty="0">
                <a:solidFill>
                  <a:srgbClr val="F5C451"/>
                </a:solidFill>
                <a:latin typeface="Calibri" pitchFamily="34" charset="0"/>
                <a:ea typeface="Calibri" pitchFamily="34" charset="-122"/>
                <a:cs typeface="Calibri" pitchFamily="34" charset="-120"/>
              </a:rPr>
              <a:t>ON DONE — DATABASE TRIGGERS, NOT APP CODE</a:t>
            </a:r>
            <a:endParaRPr lang="en-US" sz="1000" dirty="0"/>
          </a:p>
        </p:txBody>
      </p:sp>
      <p:sp>
        <p:nvSpPr>
          <p:cNvPr id="43" name="Text 41"/>
          <p:cNvSpPr txBox="1"/>
          <p:nvPr/>
        </p:nvSpPr>
        <p:spPr>
          <a:xfrm>
            <a:off x="841248" y="5650992"/>
            <a:ext cx="10509199"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Loyalty points credited  ·  Referral qualified  ·  Review invite  ·  Regulars recomputed</a:t>
            </a:r>
            <a:endParaRPr lang="en-US" sz="1250" dirty="0"/>
          </a:p>
        </p:txBody>
      </p:sp>
      <p:sp>
        <p:nvSpPr>
          <p:cNvPr id="44" name="Text 42"/>
          <p:cNvSpPr txBox="1"/>
          <p:nvPr/>
        </p:nvSpPr>
        <p:spPr>
          <a:xfrm>
            <a:off x="566928" y="6254496"/>
            <a:ext cx="11057839" cy="365760"/>
          </a:xfrm>
          <a:prstGeom prst="rect">
            <a:avLst/>
          </a:prstGeom>
          <a:noFill/>
          <a:ln/>
        </p:spPr>
        <p:txBody>
          <a:bodyPr wrap="square" lIns="0" tIns="0" rIns="0" bIns="0" rtlCol="0" anchor="ctr"/>
          <a:lstStyle/>
          <a:p>
            <a:pPr indent="0" marL="0">
              <a:buNone/>
            </a:pPr>
            <a:r>
              <a:rPr lang="en-US" sz="1000" dirty="0">
                <a:solidFill>
                  <a:srgbClr val="6D7F9C"/>
                </a:solidFill>
                <a:latin typeface="Courier New" pitchFamily="34" charset="0"/>
                <a:ea typeface="Courier New" pitchFamily="34" charset="-122"/>
                <a:cs typeface="Courier New" pitchFamily="34" charset="-120"/>
              </a:rPr>
              <a:t>Style options are per-shop and optional — the owner turns them on. A parlour's schedule has nothing to feed them, so they are salon-only.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11C"/>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00" kern="0" dirty="0">
                <a:solidFill>
                  <a:srgbClr val="FF5C39"/>
                </a:solidFill>
                <a:latin typeface="Calibri" pitchFamily="34" charset="0"/>
                <a:ea typeface="Calibri" pitchFamily="34" charset="-122"/>
                <a:cs typeface="Calibri" pitchFamily="34" charset="-120"/>
              </a:rPr>
              <a:t>SALON — CUSTOMER EXPERIENCE</a:t>
            </a:r>
            <a:endParaRPr lang="en-US" sz="1200" dirty="0"/>
          </a:p>
        </p:txBody>
      </p:sp>
      <p:sp>
        <p:nvSpPr>
          <p:cNvPr id="3" name="Text 1"/>
          <p:cNvSpPr txBox="1"/>
          <p:nvPr/>
        </p:nvSpPr>
        <p:spPr>
          <a:xfrm>
            <a:off x="566928" y="621792"/>
            <a:ext cx="11057839" cy="585216"/>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Discover → Service → Style → Queue → Position + ETA</a:t>
            </a:r>
            <a:endParaRPr lang="en-US" sz="3000" dirty="0"/>
          </a:p>
        </p:txBody>
      </p:sp>
      <p:sp>
        <p:nvSpPr>
          <p:cNvPr id="4" name="Shape 2"/>
          <p:cNvSpPr/>
          <p:nvPr/>
        </p:nvSpPr>
        <p:spPr>
          <a:xfrm>
            <a:off x="566928" y="1536192"/>
            <a:ext cx="2029968" cy="3749040"/>
          </a:xfrm>
          <a:prstGeom prst="roundRect">
            <a:avLst>
              <a:gd name="adj" fmla="val 7207"/>
            </a:avLst>
          </a:prstGeom>
          <a:solidFill>
            <a:srgbClr val="161F30"/>
          </a:solidFill>
          <a:ln w="15875">
            <a:solidFill>
              <a:srgbClr val="2C3A54"/>
            </a:solidFill>
            <a:prstDash val="solid"/>
          </a:ln>
        </p:spPr>
      </p:sp>
      <p:sp>
        <p:nvSpPr>
          <p:cNvPr id="5" name="Shape 3"/>
          <p:cNvSpPr/>
          <p:nvPr/>
        </p:nvSpPr>
        <p:spPr>
          <a:xfrm>
            <a:off x="1380744" y="1618488"/>
            <a:ext cx="402336" cy="64008"/>
          </a:xfrm>
          <a:prstGeom prst="roundRect">
            <a:avLst>
              <a:gd name="adj" fmla="val 50000"/>
            </a:avLst>
          </a:prstGeom>
          <a:solidFill>
            <a:srgbClr val="2C3A54"/>
          </a:solidFill>
          <a:ln w="12700">
            <a:solidFill>
              <a:srgbClr val="2C3A54"/>
            </a:solidFill>
            <a:prstDash val="solid"/>
          </a:ln>
        </p:spPr>
      </p:sp>
      <p:sp>
        <p:nvSpPr>
          <p:cNvPr id="6" name="Text 4"/>
          <p:cNvSpPr txBox="1"/>
          <p:nvPr/>
        </p:nvSpPr>
        <p:spPr>
          <a:xfrm>
            <a:off x="566928" y="5340096"/>
            <a:ext cx="2029968" cy="201168"/>
          </a:xfrm>
          <a:prstGeom prst="rect">
            <a:avLst/>
          </a:prstGeom>
          <a:noFill/>
          <a:ln/>
        </p:spPr>
        <p:txBody>
          <a:bodyPr wrap="square" lIns="0" tIns="0" rIns="0" bIns="0" rtlCol="0" anchor="ctr"/>
          <a:lstStyle/>
          <a:p>
            <a:pPr algn="ctr" indent="0" marL="0">
              <a:buNone/>
            </a:pPr>
            <a:r>
              <a:rPr lang="en-US" sz="900" dirty="0">
                <a:solidFill>
                  <a:srgbClr val="FF5C39"/>
                </a:solidFill>
                <a:latin typeface="Courier New" pitchFamily="34" charset="0"/>
                <a:ea typeface="Courier New" pitchFamily="34" charset="-122"/>
                <a:cs typeface="Courier New" pitchFamily="34" charset="-120"/>
              </a:rPr>
              <a:t>/explore</a:t>
            </a:r>
            <a:endParaRPr lang="en-US" sz="900" dirty="0"/>
          </a:p>
        </p:txBody>
      </p:sp>
      <p:sp>
        <p:nvSpPr>
          <p:cNvPr id="7" name="Text 5"/>
          <p:cNvSpPr txBox="1"/>
          <p:nvPr/>
        </p:nvSpPr>
        <p:spPr>
          <a:xfrm>
            <a:off x="566928" y="5559552"/>
            <a:ext cx="2029968" cy="219456"/>
          </a:xfrm>
          <a:prstGeom prst="rect">
            <a:avLst/>
          </a:prstGeom>
          <a:noFill/>
          <a:ln/>
        </p:spPr>
        <p:txBody>
          <a:bodyPr wrap="square" lIns="0" tIns="0" rIns="0" bIns="0" rtlCol="0" anchor="ctr"/>
          <a:lstStyle/>
          <a:p>
            <a:pPr indent="0" marL="0">
              <a:buNone/>
            </a:pPr>
            <a:r>
              <a:rPr lang="en-US" sz="1000" b="1" spc="140" kern="0" dirty="0">
                <a:solidFill>
                  <a:srgbClr val="FF5C39"/>
                </a:solidFill>
                <a:latin typeface="Calibri" pitchFamily="34" charset="0"/>
                <a:ea typeface="Calibri" pitchFamily="34" charset="-122"/>
                <a:cs typeface="Calibri" pitchFamily="34" charset="-120"/>
              </a:rPr>
              <a:t>DISCOVER</a:t>
            </a:r>
            <a:endParaRPr lang="en-US" sz="1000" dirty="0"/>
          </a:p>
        </p:txBody>
      </p:sp>
      <p:sp>
        <p:nvSpPr>
          <p:cNvPr id="8" name="Shape 6"/>
          <p:cNvSpPr/>
          <p:nvPr/>
        </p:nvSpPr>
        <p:spPr>
          <a:xfrm>
            <a:off x="685800" y="1773936"/>
            <a:ext cx="1792224" cy="2011680"/>
          </a:xfrm>
          <a:prstGeom prst="roundRect">
            <a:avLst>
              <a:gd name="adj" fmla="val 3061"/>
            </a:avLst>
          </a:prstGeom>
          <a:solidFill>
            <a:srgbClr val="10192B"/>
          </a:solidFill>
          <a:ln w="6350">
            <a:solidFill>
              <a:srgbClr val="2C3A54"/>
            </a:solidFill>
            <a:prstDash val="solid"/>
          </a:ln>
        </p:spPr>
      </p:sp>
      <p:sp>
        <p:nvSpPr>
          <p:cNvPr id="9" name="Shape 7"/>
          <p:cNvSpPr/>
          <p:nvPr/>
        </p:nvSpPr>
        <p:spPr>
          <a:xfrm>
            <a:off x="1005840" y="2185416"/>
            <a:ext cx="310896" cy="310896"/>
          </a:xfrm>
          <a:prstGeom prst="ellipse">
            <a:avLst/>
          </a:prstGeom>
          <a:solidFill>
            <a:srgbClr val="FF5C39"/>
          </a:solidFill>
          <a:ln w="12700">
            <a:solidFill>
              <a:srgbClr val="FFFFFF"/>
            </a:solidFill>
            <a:prstDash val="solid"/>
          </a:ln>
        </p:spPr>
      </p:sp>
      <p:sp>
        <p:nvSpPr>
          <p:cNvPr id="10" name="Text 8"/>
          <p:cNvSpPr txBox="1"/>
          <p:nvPr/>
        </p:nvSpPr>
        <p:spPr>
          <a:xfrm>
            <a:off x="1005840" y="2185416"/>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1" name="Shape 9"/>
          <p:cNvSpPr/>
          <p:nvPr/>
        </p:nvSpPr>
        <p:spPr>
          <a:xfrm>
            <a:off x="1691640" y="2642616"/>
            <a:ext cx="310896" cy="310896"/>
          </a:xfrm>
          <a:prstGeom prst="ellipse">
            <a:avLst/>
          </a:prstGeom>
          <a:solidFill>
            <a:srgbClr val="FF5C39"/>
          </a:solidFill>
          <a:ln w="12700">
            <a:solidFill>
              <a:srgbClr val="FFFFFF"/>
            </a:solidFill>
            <a:prstDash val="solid"/>
          </a:ln>
        </p:spPr>
      </p:sp>
      <p:sp>
        <p:nvSpPr>
          <p:cNvPr id="12" name="Text 10"/>
          <p:cNvSpPr txBox="1"/>
          <p:nvPr/>
        </p:nvSpPr>
        <p:spPr>
          <a:xfrm>
            <a:off x="1691640" y="2642616"/>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a:t>
            </a:r>
            <a:endParaRPr lang="en-US" sz="900" dirty="0"/>
          </a:p>
        </p:txBody>
      </p:sp>
      <p:sp>
        <p:nvSpPr>
          <p:cNvPr id="13" name="Shape 11"/>
          <p:cNvSpPr/>
          <p:nvPr/>
        </p:nvSpPr>
        <p:spPr>
          <a:xfrm>
            <a:off x="1234440" y="3191256"/>
            <a:ext cx="310896" cy="310896"/>
          </a:xfrm>
          <a:prstGeom prst="ellipse">
            <a:avLst/>
          </a:prstGeom>
          <a:solidFill>
            <a:srgbClr val="FF5C39"/>
          </a:solidFill>
          <a:ln w="12700">
            <a:solidFill>
              <a:srgbClr val="FFFFFF"/>
            </a:solidFill>
            <a:prstDash val="solid"/>
          </a:ln>
        </p:spPr>
      </p:sp>
      <p:sp>
        <p:nvSpPr>
          <p:cNvPr id="14" name="Text 12"/>
          <p:cNvSpPr txBox="1"/>
          <p:nvPr/>
        </p:nvSpPr>
        <p:spPr>
          <a:xfrm>
            <a:off x="1234440" y="3191256"/>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5" name="Text 13"/>
          <p:cNvSpPr txBox="1"/>
          <p:nvPr/>
        </p:nvSpPr>
        <p:spPr>
          <a:xfrm>
            <a:off x="685800" y="3877056"/>
            <a:ext cx="1792224" cy="201168"/>
          </a:xfrm>
          <a:prstGeom prst="rect">
            <a:avLst/>
          </a:prstGeom>
          <a:noFill/>
          <a:ln/>
        </p:spPr>
        <p:txBody>
          <a:bodyPr wrap="square" lIns="0" tIns="0" rIns="0" bIns="0" rtlCol="0" anchor="ctr"/>
          <a:lstStyle/>
          <a:p>
            <a:pPr algn="l" indent="0" marL="0">
              <a:lnSpc>
                <a:spcPct val="112000"/>
              </a:lnSpc>
              <a:buNone/>
            </a:pPr>
            <a:r>
              <a:rPr lang="en-US" sz="900" dirty="0">
                <a:solidFill>
                  <a:srgbClr val="6D7F9C"/>
                </a:solidFill>
                <a:latin typeface="Calibri" pitchFamily="34" charset="0"/>
                <a:ea typeface="Calibri" pitchFamily="34" charset="-122"/>
                <a:cs typeface="Calibri" pitchFamily="34" charset="-120"/>
              </a:rPr>
              <a:t>in queue, right now</a:t>
            </a:r>
            <a:endParaRPr lang="en-US" sz="900" dirty="0"/>
          </a:p>
        </p:txBody>
      </p:sp>
      <p:sp>
        <p:nvSpPr>
          <p:cNvPr id="16" name="Shape 14"/>
          <p:cNvSpPr/>
          <p:nvPr/>
        </p:nvSpPr>
        <p:spPr>
          <a:xfrm>
            <a:off x="685800" y="4114800"/>
            <a:ext cx="1792224" cy="274320"/>
          </a:xfrm>
          <a:prstGeom prst="roundRect">
            <a:avLst>
              <a:gd name="adj" fmla="val 16667"/>
            </a:avLst>
          </a:prstGeom>
          <a:solidFill>
            <a:srgbClr val="1D2740"/>
          </a:solidFill>
          <a:ln w="6350">
            <a:solidFill>
              <a:srgbClr val="2C3A54"/>
            </a:solidFill>
            <a:prstDash val="solid"/>
          </a:ln>
        </p:spPr>
      </p:sp>
      <p:sp>
        <p:nvSpPr>
          <p:cNvPr id="17" name="Text 15"/>
          <p:cNvSpPr txBox="1"/>
          <p:nvPr/>
        </p:nvSpPr>
        <p:spPr>
          <a:xfrm>
            <a:off x="749808" y="4114800"/>
            <a:ext cx="939637" cy="27432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Only salons shown</a:t>
            </a:r>
            <a:endParaRPr lang="en-US" sz="900" dirty="0"/>
          </a:p>
        </p:txBody>
      </p:sp>
      <p:sp>
        <p:nvSpPr>
          <p:cNvPr id="18" name="Shape 16"/>
          <p:cNvSpPr/>
          <p:nvPr/>
        </p:nvSpPr>
        <p:spPr>
          <a:xfrm>
            <a:off x="685800" y="4425696"/>
            <a:ext cx="1792224" cy="274320"/>
          </a:xfrm>
          <a:prstGeom prst="roundRect">
            <a:avLst>
              <a:gd name="adj" fmla="val 16667"/>
            </a:avLst>
          </a:prstGeom>
          <a:solidFill>
            <a:srgbClr val="1D2740"/>
          </a:solidFill>
          <a:ln w="6350">
            <a:solidFill>
              <a:srgbClr val="2C3A54"/>
            </a:solidFill>
            <a:prstDash val="solid"/>
          </a:ln>
        </p:spPr>
      </p:sp>
      <p:sp>
        <p:nvSpPr>
          <p:cNvPr id="19" name="Text 17"/>
          <p:cNvSpPr txBox="1"/>
          <p:nvPr/>
        </p:nvSpPr>
        <p:spPr>
          <a:xfrm>
            <a:off x="749808" y="4425696"/>
            <a:ext cx="939637"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Sorted by distance</a:t>
            </a:r>
            <a:endParaRPr lang="en-US" sz="900" dirty="0"/>
          </a:p>
        </p:txBody>
      </p:sp>
      <p:sp>
        <p:nvSpPr>
          <p:cNvPr id="20" name="Text 18"/>
          <p:cNvSpPr txBox="1"/>
          <p:nvPr/>
        </p:nvSpPr>
        <p:spPr>
          <a:xfrm>
            <a:off x="2601468" y="3300984"/>
            <a:ext cx="256032" cy="219456"/>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21" name="Shape 19"/>
          <p:cNvSpPr/>
          <p:nvPr/>
        </p:nvSpPr>
        <p:spPr>
          <a:xfrm>
            <a:off x="2825496" y="1536192"/>
            <a:ext cx="2029968" cy="3749040"/>
          </a:xfrm>
          <a:prstGeom prst="roundRect">
            <a:avLst>
              <a:gd name="adj" fmla="val 7207"/>
            </a:avLst>
          </a:prstGeom>
          <a:solidFill>
            <a:srgbClr val="161F30"/>
          </a:solidFill>
          <a:ln w="15875">
            <a:solidFill>
              <a:srgbClr val="2C3A54"/>
            </a:solidFill>
            <a:prstDash val="solid"/>
          </a:ln>
        </p:spPr>
      </p:sp>
      <p:sp>
        <p:nvSpPr>
          <p:cNvPr id="22" name="Shape 20"/>
          <p:cNvSpPr/>
          <p:nvPr/>
        </p:nvSpPr>
        <p:spPr>
          <a:xfrm>
            <a:off x="3639312" y="1618488"/>
            <a:ext cx="402336" cy="64008"/>
          </a:xfrm>
          <a:prstGeom prst="roundRect">
            <a:avLst>
              <a:gd name="adj" fmla="val 50000"/>
            </a:avLst>
          </a:prstGeom>
          <a:solidFill>
            <a:srgbClr val="2C3A54"/>
          </a:solidFill>
          <a:ln w="12700">
            <a:solidFill>
              <a:srgbClr val="2C3A54"/>
            </a:solidFill>
            <a:prstDash val="solid"/>
          </a:ln>
        </p:spPr>
      </p:sp>
      <p:sp>
        <p:nvSpPr>
          <p:cNvPr id="23" name="Text 21"/>
          <p:cNvSpPr txBox="1"/>
          <p:nvPr/>
        </p:nvSpPr>
        <p:spPr>
          <a:xfrm>
            <a:off x="2825496" y="5340096"/>
            <a:ext cx="2029968" cy="201168"/>
          </a:xfrm>
          <a:prstGeom prst="rect">
            <a:avLst/>
          </a:prstGeom>
          <a:noFill/>
          <a:ln/>
        </p:spPr>
        <p:txBody>
          <a:bodyPr wrap="square" lIns="0" tIns="0" rIns="0" bIns="0" rtlCol="0" anchor="ctr"/>
          <a:lstStyle/>
          <a:p>
            <a:pPr algn="ctr" indent="0" marL="0">
              <a:buNone/>
            </a:pPr>
            <a:r>
              <a:rPr lang="en-US" sz="900" dirty="0">
                <a:solidFill>
                  <a:srgbClr val="FF5C39"/>
                </a:solidFill>
                <a:latin typeface="Courier New" pitchFamily="34" charset="0"/>
                <a:ea typeface="Courier New" pitchFamily="34" charset="-122"/>
                <a:cs typeface="Courier New" pitchFamily="34" charset="-120"/>
              </a:rPr>
              <a:t>/explore/[shopId]</a:t>
            </a:r>
            <a:endParaRPr lang="en-US" sz="900" dirty="0"/>
          </a:p>
        </p:txBody>
      </p:sp>
      <p:sp>
        <p:nvSpPr>
          <p:cNvPr id="24" name="Text 22"/>
          <p:cNvSpPr txBox="1"/>
          <p:nvPr/>
        </p:nvSpPr>
        <p:spPr>
          <a:xfrm>
            <a:off x="2825496" y="5559552"/>
            <a:ext cx="2029968" cy="219456"/>
          </a:xfrm>
          <a:prstGeom prst="rect">
            <a:avLst/>
          </a:prstGeom>
          <a:noFill/>
          <a:ln/>
        </p:spPr>
        <p:txBody>
          <a:bodyPr wrap="square" lIns="0" tIns="0" rIns="0" bIns="0" rtlCol="0" anchor="ctr"/>
          <a:lstStyle/>
          <a:p>
            <a:pPr indent="0" marL="0">
              <a:buNone/>
            </a:pPr>
            <a:r>
              <a:rPr lang="en-US" sz="1000" b="1" spc="140" kern="0" dirty="0">
                <a:solidFill>
                  <a:srgbClr val="FF5C39"/>
                </a:solidFill>
                <a:latin typeface="Calibri" pitchFamily="34" charset="0"/>
                <a:ea typeface="Calibri" pitchFamily="34" charset="-122"/>
                <a:cs typeface="Calibri" pitchFamily="34" charset="-120"/>
              </a:rPr>
              <a:t>SERVICES</a:t>
            </a:r>
            <a:endParaRPr lang="en-US" sz="1000" dirty="0"/>
          </a:p>
        </p:txBody>
      </p:sp>
      <p:sp>
        <p:nvSpPr>
          <p:cNvPr id="25" name="Shape 23"/>
          <p:cNvSpPr/>
          <p:nvPr/>
        </p:nvSpPr>
        <p:spPr>
          <a:xfrm>
            <a:off x="2944368" y="1773936"/>
            <a:ext cx="1792224" cy="566928"/>
          </a:xfrm>
          <a:prstGeom prst="roundRect">
            <a:avLst>
              <a:gd name="adj" fmla="val 9677"/>
            </a:avLst>
          </a:prstGeom>
          <a:solidFill>
            <a:srgbClr val="1D2740"/>
          </a:solidFill>
          <a:ln w="6350">
            <a:solidFill>
              <a:srgbClr val="2C3A54"/>
            </a:solidFill>
            <a:prstDash val="solid"/>
          </a:ln>
        </p:spPr>
      </p:sp>
      <p:sp>
        <p:nvSpPr>
          <p:cNvPr id="26" name="Text 24"/>
          <p:cNvSpPr txBox="1"/>
          <p:nvPr/>
        </p:nvSpPr>
        <p:spPr>
          <a:xfrm>
            <a:off x="3035808" y="1847088"/>
            <a:ext cx="1609344" cy="182880"/>
          </a:xfrm>
          <a:prstGeom prst="rect">
            <a:avLst/>
          </a:prstGeom>
          <a:noFill/>
          <a:ln/>
        </p:spPr>
        <p:txBody>
          <a:bodyPr wrap="square" lIns="0" tIns="0" rIns="0" bIns="0" rtlCol="0" anchor="ctr"/>
          <a:lstStyle/>
          <a:p>
            <a:pPr algn="l" indent="0" marL="0">
              <a:lnSpc>
                <a:spcPct val="112000"/>
              </a:lnSpc>
              <a:buNone/>
            </a:pPr>
            <a:r>
              <a:rPr lang="en-US" sz="900" b="1" dirty="0">
                <a:solidFill>
                  <a:srgbClr val="FFFFFF"/>
                </a:solidFill>
                <a:latin typeface="Calibri" pitchFamily="34" charset="0"/>
                <a:ea typeface="Calibri" pitchFamily="34" charset="-122"/>
                <a:cs typeface="Calibri" pitchFamily="34" charset="-120"/>
              </a:rPr>
              <a:t>Shop name</a:t>
            </a:r>
            <a:endParaRPr lang="en-US" sz="900" dirty="0"/>
          </a:p>
        </p:txBody>
      </p:sp>
      <p:sp>
        <p:nvSpPr>
          <p:cNvPr id="27" name="Text 25"/>
          <p:cNvSpPr txBox="1"/>
          <p:nvPr/>
        </p:nvSpPr>
        <p:spPr>
          <a:xfrm>
            <a:off x="3035808" y="2048256"/>
            <a:ext cx="1609344" cy="182880"/>
          </a:xfrm>
          <a:prstGeom prst="rect">
            <a:avLst/>
          </a:prstGeom>
          <a:noFill/>
          <a:ln/>
        </p:spPr>
        <p:txBody>
          <a:bodyPr wrap="square" lIns="0" tIns="0" rIns="0" bIns="0" rtlCol="0" anchor="ctr"/>
          <a:lstStyle/>
          <a:p>
            <a:pPr algn="l" indent="0" marL="0">
              <a:lnSpc>
                <a:spcPct val="112000"/>
              </a:lnSpc>
              <a:buNone/>
            </a:pPr>
            <a:r>
              <a:rPr lang="en-US" sz="900" dirty="0">
                <a:solidFill>
                  <a:srgbClr val="94A6C4"/>
                </a:solidFill>
                <a:latin typeface="Calibri" pitchFamily="34" charset="0"/>
                <a:ea typeface="Calibri" pitchFamily="34" charset="-122"/>
                <a:cs typeface="Calibri" pitchFamily="34" charset="-120"/>
              </a:rPr>
              <a:t>Open · 3 in queue</a:t>
            </a:r>
            <a:endParaRPr lang="en-US" sz="900" dirty="0"/>
          </a:p>
        </p:txBody>
      </p:sp>
      <p:sp>
        <p:nvSpPr>
          <p:cNvPr id="28" name="Shape 26"/>
          <p:cNvSpPr/>
          <p:nvPr/>
        </p:nvSpPr>
        <p:spPr>
          <a:xfrm>
            <a:off x="2944368" y="2487168"/>
            <a:ext cx="1792224" cy="274320"/>
          </a:xfrm>
          <a:prstGeom prst="roundRect">
            <a:avLst>
              <a:gd name="adj" fmla="val 16667"/>
            </a:avLst>
          </a:prstGeom>
          <a:solidFill>
            <a:srgbClr val="1D2740"/>
          </a:solidFill>
          <a:ln w="6350">
            <a:solidFill>
              <a:srgbClr val="2C3A54"/>
            </a:solidFill>
            <a:prstDash val="solid"/>
          </a:ln>
        </p:spPr>
      </p:sp>
      <p:sp>
        <p:nvSpPr>
          <p:cNvPr id="29" name="Text 27"/>
          <p:cNvSpPr txBox="1"/>
          <p:nvPr/>
        </p:nvSpPr>
        <p:spPr>
          <a:xfrm>
            <a:off x="3008376" y="2487168"/>
            <a:ext cx="939637" cy="27432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Haircut</a:t>
            </a:r>
            <a:endParaRPr lang="en-US" sz="900" dirty="0"/>
          </a:p>
        </p:txBody>
      </p:sp>
      <p:sp>
        <p:nvSpPr>
          <p:cNvPr id="30" name="Text 28"/>
          <p:cNvSpPr txBox="1"/>
          <p:nvPr/>
        </p:nvSpPr>
        <p:spPr>
          <a:xfrm>
            <a:off x="3983858" y="2487168"/>
            <a:ext cx="617037" cy="274320"/>
          </a:xfrm>
          <a:prstGeom prst="rect">
            <a:avLst/>
          </a:prstGeom>
          <a:noFill/>
          <a:ln/>
        </p:spPr>
        <p:txBody>
          <a:bodyPr wrap="square" lIns="0" tIns="0" rIns="0" bIns="0" rtlCol="0" anchor="ctr"/>
          <a:lstStyle/>
          <a:p>
            <a:pPr algn="r" indent="0" marL="0">
              <a:buNone/>
            </a:pPr>
            <a:r>
              <a:rPr lang="en-US" sz="900" b="1" dirty="0">
                <a:solidFill>
                  <a:srgbClr val="FF5C39"/>
                </a:solidFill>
                <a:latin typeface="Calibri" pitchFamily="34" charset="0"/>
                <a:ea typeface="Calibri" pitchFamily="34" charset="-122"/>
                <a:cs typeface="Calibri" pitchFamily="34" charset="-120"/>
              </a:rPr>
              <a:t>৳250</a:t>
            </a:r>
            <a:endParaRPr lang="en-US" sz="900" dirty="0"/>
          </a:p>
        </p:txBody>
      </p:sp>
      <p:sp>
        <p:nvSpPr>
          <p:cNvPr id="31" name="Shape 29"/>
          <p:cNvSpPr/>
          <p:nvPr/>
        </p:nvSpPr>
        <p:spPr>
          <a:xfrm>
            <a:off x="2944368" y="2834640"/>
            <a:ext cx="1792224" cy="274320"/>
          </a:xfrm>
          <a:prstGeom prst="roundRect">
            <a:avLst>
              <a:gd name="adj" fmla="val 16667"/>
            </a:avLst>
          </a:prstGeom>
          <a:solidFill>
            <a:srgbClr val="1D2740"/>
          </a:solidFill>
          <a:ln w="6350">
            <a:solidFill>
              <a:srgbClr val="2C3A54"/>
            </a:solidFill>
            <a:prstDash val="solid"/>
          </a:ln>
        </p:spPr>
      </p:sp>
      <p:sp>
        <p:nvSpPr>
          <p:cNvPr id="32" name="Text 30"/>
          <p:cNvSpPr txBox="1"/>
          <p:nvPr/>
        </p:nvSpPr>
        <p:spPr>
          <a:xfrm>
            <a:off x="3008376" y="2834640"/>
            <a:ext cx="939637"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Beard trim</a:t>
            </a:r>
            <a:endParaRPr lang="en-US" sz="900" dirty="0"/>
          </a:p>
        </p:txBody>
      </p:sp>
      <p:sp>
        <p:nvSpPr>
          <p:cNvPr id="33" name="Text 31"/>
          <p:cNvSpPr txBox="1"/>
          <p:nvPr/>
        </p:nvSpPr>
        <p:spPr>
          <a:xfrm>
            <a:off x="3983858" y="2834640"/>
            <a:ext cx="617037" cy="274320"/>
          </a:xfrm>
          <a:prstGeom prst="rect">
            <a:avLst/>
          </a:prstGeom>
          <a:noFill/>
          <a:ln/>
        </p:spPr>
        <p:txBody>
          <a:bodyPr wrap="square" lIns="0" tIns="0" rIns="0" bIns="0" rtlCol="0" anchor="ctr"/>
          <a:lstStyle/>
          <a:p>
            <a:pPr algn="r" indent="0" marL="0">
              <a:buNone/>
            </a:pPr>
            <a:r>
              <a:rPr lang="en-US" sz="900" b="1" dirty="0">
                <a:solidFill>
                  <a:srgbClr val="94A6C4"/>
                </a:solidFill>
                <a:latin typeface="Calibri" pitchFamily="34" charset="0"/>
                <a:ea typeface="Calibri" pitchFamily="34" charset="-122"/>
                <a:cs typeface="Calibri" pitchFamily="34" charset="-120"/>
              </a:rPr>
              <a:t>৳120</a:t>
            </a:r>
            <a:endParaRPr lang="en-US" sz="900" dirty="0"/>
          </a:p>
        </p:txBody>
      </p:sp>
      <p:sp>
        <p:nvSpPr>
          <p:cNvPr id="34" name="Shape 32"/>
          <p:cNvSpPr/>
          <p:nvPr/>
        </p:nvSpPr>
        <p:spPr>
          <a:xfrm>
            <a:off x="2944368" y="3182112"/>
            <a:ext cx="1792224" cy="274320"/>
          </a:xfrm>
          <a:prstGeom prst="roundRect">
            <a:avLst>
              <a:gd name="adj" fmla="val 16667"/>
            </a:avLst>
          </a:prstGeom>
          <a:solidFill>
            <a:srgbClr val="1D2740"/>
          </a:solidFill>
          <a:ln w="6350">
            <a:solidFill>
              <a:srgbClr val="2C3A54"/>
            </a:solidFill>
            <a:prstDash val="solid"/>
          </a:ln>
        </p:spPr>
      </p:sp>
      <p:sp>
        <p:nvSpPr>
          <p:cNvPr id="35" name="Text 33"/>
          <p:cNvSpPr txBox="1"/>
          <p:nvPr/>
        </p:nvSpPr>
        <p:spPr>
          <a:xfrm>
            <a:off x="3008376" y="3182112"/>
            <a:ext cx="939637"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Hair wash</a:t>
            </a:r>
            <a:endParaRPr lang="en-US" sz="900" dirty="0"/>
          </a:p>
        </p:txBody>
      </p:sp>
      <p:sp>
        <p:nvSpPr>
          <p:cNvPr id="36" name="Text 34"/>
          <p:cNvSpPr txBox="1"/>
          <p:nvPr/>
        </p:nvSpPr>
        <p:spPr>
          <a:xfrm>
            <a:off x="3983858" y="3182112"/>
            <a:ext cx="617037" cy="274320"/>
          </a:xfrm>
          <a:prstGeom prst="rect">
            <a:avLst/>
          </a:prstGeom>
          <a:noFill/>
          <a:ln/>
        </p:spPr>
        <p:txBody>
          <a:bodyPr wrap="square" lIns="0" tIns="0" rIns="0" bIns="0" rtlCol="0" anchor="ctr"/>
          <a:lstStyle/>
          <a:p>
            <a:pPr algn="r" indent="0" marL="0">
              <a:buNone/>
            </a:pPr>
            <a:r>
              <a:rPr lang="en-US" sz="900" b="1" dirty="0">
                <a:solidFill>
                  <a:srgbClr val="94A6C4"/>
                </a:solidFill>
                <a:latin typeface="Calibri" pitchFamily="34" charset="0"/>
                <a:ea typeface="Calibri" pitchFamily="34" charset="-122"/>
                <a:cs typeface="Calibri" pitchFamily="34" charset="-120"/>
              </a:rPr>
              <a:t>৳100</a:t>
            </a:r>
            <a:endParaRPr lang="en-US" sz="900" dirty="0"/>
          </a:p>
        </p:txBody>
      </p:sp>
      <p:sp>
        <p:nvSpPr>
          <p:cNvPr id="37" name="Text 35"/>
          <p:cNvSpPr txBox="1"/>
          <p:nvPr/>
        </p:nvSpPr>
        <p:spPr>
          <a:xfrm>
            <a:off x="2944368" y="3602736"/>
            <a:ext cx="1792224" cy="182880"/>
          </a:xfrm>
          <a:prstGeom prst="rect">
            <a:avLst/>
          </a:prstGeom>
          <a:noFill/>
          <a:ln/>
        </p:spPr>
        <p:txBody>
          <a:bodyPr wrap="square" lIns="0" tIns="0" rIns="0" bIns="0" rtlCol="0" anchor="ctr"/>
          <a:lstStyle/>
          <a:p>
            <a:pPr algn="l" indent="0" marL="0">
              <a:lnSpc>
                <a:spcPct val="112000"/>
              </a:lnSpc>
              <a:buNone/>
            </a:pPr>
            <a:r>
              <a:rPr lang="en-US" sz="900" dirty="0">
                <a:solidFill>
                  <a:srgbClr val="6D7F9C"/>
                </a:solidFill>
                <a:latin typeface="Calibri" pitchFamily="34" charset="0"/>
                <a:ea typeface="Calibri" pitchFamily="34" charset="-122"/>
                <a:cs typeface="Calibri" pitchFamily="34" charset="-120"/>
              </a:rPr>
              <a:t>20 min · tap to select</a:t>
            </a:r>
            <a:endParaRPr lang="en-US" sz="900" dirty="0"/>
          </a:p>
        </p:txBody>
      </p:sp>
      <p:sp>
        <p:nvSpPr>
          <p:cNvPr id="38" name="Text 36"/>
          <p:cNvSpPr txBox="1"/>
          <p:nvPr/>
        </p:nvSpPr>
        <p:spPr>
          <a:xfrm>
            <a:off x="4860036" y="3300984"/>
            <a:ext cx="256032" cy="219456"/>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39" name="Shape 37"/>
          <p:cNvSpPr/>
          <p:nvPr/>
        </p:nvSpPr>
        <p:spPr>
          <a:xfrm>
            <a:off x="5084064" y="1536192"/>
            <a:ext cx="2029968" cy="3749040"/>
          </a:xfrm>
          <a:prstGeom prst="roundRect">
            <a:avLst>
              <a:gd name="adj" fmla="val 7207"/>
            </a:avLst>
          </a:prstGeom>
          <a:solidFill>
            <a:srgbClr val="161F30"/>
          </a:solidFill>
          <a:ln w="15875">
            <a:solidFill>
              <a:srgbClr val="2C3A54"/>
            </a:solidFill>
            <a:prstDash val="solid"/>
          </a:ln>
        </p:spPr>
      </p:sp>
      <p:sp>
        <p:nvSpPr>
          <p:cNvPr id="40" name="Shape 38"/>
          <p:cNvSpPr/>
          <p:nvPr/>
        </p:nvSpPr>
        <p:spPr>
          <a:xfrm>
            <a:off x="5897880" y="1618488"/>
            <a:ext cx="402336" cy="64008"/>
          </a:xfrm>
          <a:prstGeom prst="roundRect">
            <a:avLst>
              <a:gd name="adj" fmla="val 50000"/>
            </a:avLst>
          </a:prstGeom>
          <a:solidFill>
            <a:srgbClr val="2C3A54"/>
          </a:solidFill>
          <a:ln w="12700">
            <a:solidFill>
              <a:srgbClr val="2C3A54"/>
            </a:solidFill>
            <a:prstDash val="solid"/>
          </a:ln>
        </p:spPr>
      </p:sp>
      <p:sp>
        <p:nvSpPr>
          <p:cNvPr id="41" name="Text 39"/>
          <p:cNvSpPr txBox="1"/>
          <p:nvPr/>
        </p:nvSpPr>
        <p:spPr>
          <a:xfrm>
            <a:off x="5084064" y="5340096"/>
            <a:ext cx="2029968" cy="201168"/>
          </a:xfrm>
          <a:prstGeom prst="rect">
            <a:avLst/>
          </a:prstGeom>
          <a:noFill/>
          <a:ln/>
        </p:spPr>
        <p:txBody>
          <a:bodyPr wrap="square" lIns="0" tIns="0" rIns="0" bIns="0" rtlCol="0" anchor="ctr"/>
          <a:lstStyle/>
          <a:p>
            <a:pPr algn="ctr" indent="0" marL="0">
              <a:buNone/>
            </a:pPr>
            <a:r>
              <a:rPr lang="en-US" sz="900" dirty="0">
                <a:solidFill>
                  <a:srgbClr val="FF5C39"/>
                </a:solidFill>
                <a:latin typeface="Courier New" pitchFamily="34" charset="0"/>
                <a:ea typeface="Courier New" pitchFamily="34" charset="-122"/>
                <a:cs typeface="Courier New" pitchFamily="34" charset="-120"/>
              </a:rPr>
              <a:t>/explore/[shopId]</a:t>
            </a:r>
            <a:endParaRPr lang="en-US" sz="900" dirty="0"/>
          </a:p>
        </p:txBody>
      </p:sp>
      <p:sp>
        <p:nvSpPr>
          <p:cNvPr id="42" name="Text 40"/>
          <p:cNvSpPr txBox="1"/>
          <p:nvPr/>
        </p:nvSpPr>
        <p:spPr>
          <a:xfrm>
            <a:off x="5084064" y="5559552"/>
            <a:ext cx="2029968" cy="219456"/>
          </a:xfrm>
          <a:prstGeom prst="rect">
            <a:avLst/>
          </a:prstGeom>
          <a:noFill/>
          <a:ln/>
        </p:spPr>
        <p:txBody>
          <a:bodyPr wrap="square" lIns="0" tIns="0" rIns="0" bIns="0" rtlCol="0" anchor="ctr"/>
          <a:lstStyle/>
          <a:p>
            <a:pPr indent="0" marL="0">
              <a:buNone/>
            </a:pPr>
            <a:r>
              <a:rPr lang="en-US" sz="1000" b="1" spc="140" kern="0" dirty="0">
                <a:solidFill>
                  <a:srgbClr val="FF5C39"/>
                </a:solidFill>
                <a:latin typeface="Calibri" pitchFamily="34" charset="0"/>
                <a:ea typeface="Calibri" pitchFamily="34" charset="-122"/>
                <a:cs typeface="Calibri" pitchFamily="34" charset="-120"/>
              </a:rPr>
              <a:t>STYLE</a:t>
            </a:r>
            <a:endParaRPr lang="en-US" sz="1000" dirty="0"/>
          </a:p>
        </p:txBody>
      </p:sp>
      <p:sp>
        <p:nvSpPr>
          <p:cNvPr id="43" name="Text 41"/>
          <p:cNvSpPr txBox="1"/>
          <p:nvPr/>
        </p:nvSpPr>
        <p:spPr>
          <a:xfrm>
            <a:off x="5202936" y="1828800"/>
            <a:ext cx="1792224" cy="219456"/>
          </a:xfrm>
          <a:prstGeom prst="rect">
            <a:avLst/>
          </a:prstGeom>
          <a:noFill/>
          <a:ln/>
        </p:spPr>
        <p:txBody>
          <a:bodyPr wrap="square" lIns="0" tIns="0" rIns="0" bIns="0" rtlCol="0" anchor="ctr"/>
          <a:lstStyle/>
          <a:p>
            <a:pPr algn="l" indent="0" marL="0">
              <a:lnSpc>
                <a:spcPct val="112000"/>
              </a:lnSpc>
              <a:buNone/>
            </a:pPr>
            <a:r>
              <a:rPr lang="en-US" sz="900" b="1" dirty="0">
                <a:solidFill>
                  <a:srgbClr val="FFFFFF"/>
                </a:solidFill>
                <a:latin typeface="Calibri" pitchFamily="34" charset="0"/>
                <a:ea typeface="Calibri" pitchFamily="34" charset="-122"/>
                <a:cs typeface="Calibri" pitchFamily="34" charset="-120"/>
              </a:rPr>
              <a:t>Choose your style</a:t>
            </a:r>
            <a:endParaRPr lang="en-US" sz="900" dirty="0"/>
          </a:p>
        </p:txBody>
      </p:sp>
      <p:sp>
        <p:nvSpPr>
          <p:cNvPr id="44" name="Text 42"/>
          <p:cNvSpPr txBox="1"/>
          <p:nvPr/>
        </p:nvSpPr>
        <p:spPr>
          <a:xfrm>
            <a:off x="5202936" y="2048256"/>
            <a:ext cx="1792224" cy="182880"/>
          </a:xfrm>
          <a:prstGeom prst="rect">
            <a:avLst/>
          </a:prstGeom>
          <a:noFill/>
          <a:ln/>
        </p:spPr>
        <p:txBody>
          <a:bodyPr wrap="square" lIns="0" tIns="0" rIns="0" bIns="0" rtlCol="0" anchor="ctr"/>
          <a:lstStyle/>
          <a:p>
            <a:pPr algn="l" indent="0" marL="0">
              <a:lnSpc>
                <a:spcPct val="112000"/>
              </a:lnSpc>
              <a:buNone/>
            </a:pPr>
            <a:r>
              <a:rPr lang="en-US" sz="900" dirty="0">
                <a:solidFill>
                  <a:srgbClr val="6D7F9C"/>
                </a:solidFill>
                <a:latin typeface="Calibri" pitchFamily="34" charset="0"/>
                <a:ea typeface="Calibri" pitchFamily="34" charset="-122"/>
                <a:cs typeface="Calibri" pitchFamily="34" charset="-120"/>
              </a:rPr>
              <a:t>the shop configured these</a:t>
            </a:r>
            <a:endParaRPr lang="en-US" sz="900" dirty="0"/>
          </a:p>
        </p:txBody>
      </p:sp>
      <p:sp>
        <p:nvSpPr>
          <p:cNvPr id="45" name="Shape 43"/>
          <p:cNvSpPr/>
          <p:nvPr/>
        </p:nvSpPr>
        <p:spPr>
          <a:xfrm>
            <a:off x="5202936" y="2322576"/>
            <a:ext cx="822960" cy="237744"/>
          </a:xfrm>
          <a:prstGeom prst="roundRect">
            <a:avLst>
              <a:gd name="adj" fmla="val 50000"/>
            </a:avLst>
          </a:prstGeom>
          <a:solidFill>
            <a:srgbClr val="2A1A14"/>
          </a:solidFill>
          <a:ln w="9525">
            <a:solidFill>
              <a:srgbClr val="FF5C39"/>
            </a:solidFill>
            <a:prstDash val="solid"/>
          </a:ln>
        </p:spPr>
      </p:sp>
      <p:sp>
        <p:nvSpPr>
          <p:cNvPr id="46" name="Text 44"/>
          <p:cNvSpPr txBox="1"/>
          <p:nvPr/>
        </p:nvSpPr>
        <p:spPr>
          <a:xfrm>
            <a:off x="5202936" y="2322576"/>
            <a:ext cx="822960" cy="237744"/>
          </a:xfrm>
          <a:prstGeom prst="rect">
            <a:avLst/>
          </a:prstGeom>
          <a:noFill/>
          <a:ln/>
        </p:spPr>
        <p:txBody>
          <a:bodyPr wrap="square" lIns="0" tIns="0" rIns="0" bIns="0" rtlCol="0" anchor="ctr"/>
          <a:lstStyle/>
          <a:p>
            <a:pPr algn="ctr" indent="0" marL="0">
              <a:buNone/>
            </a:pPr>
            <a:r>
              <a:rPr lang="en-US" sz="900" b="1" dirty="0">
                <a:solidFill>
                  <a:srgbClr val="FF5C39"/>
                </a:solidFill>
                <a:latin typeface="Calibri" pitchFamily="34" charset="0"/>
                <a:ea typeface="Calibri" pitchFamily="34" charset="-122"/>
                <a:cs typeface="Calibri" pitchFamily="34" charset="-120"/>
              </a:rPr>
              <a:t>Fade</a:t>
            </a:r>
            <a:endParaRPr lang="en-US" sz="900" dirty="0"/>
          </a:p>
        </p:txBody>
      </p:sp>
      <p:sp>
        <p:nvSpPr>
          <p:cNvPr id="47" name="Shape 45"/>
          <p:cNvSpPr/>
          <p:nvPr/>
        </p:nvSpPr>
        <p:spPr>
          <a:xfrm>
            <a:off x="6099048" y="2322576"/>
            <a:ext cx="822960" cy="237744"/>
          </a:xfrm>
          <a:prstGeom prst="roundRect">
            <a:avLst>
              <a:gd name="adj" fmla="val 50000"/>
            </a:avLst>
          </a:prstGeom>
          <a:solidFill>
            <a:srgbClr val="1D2740"/>
          </a:solidFill>
          <a:ln w="9525">
            <a:solidFill>
              <a:srgbClr val="94A6C4"/>
            </a:solidFill>
            <a:prstDash val="solid"/>
          </a:ln>
        </p:spPr>
      </p:sp>
      <p:sp>
        <p:nvSpPr>
          <p:cNvPr id="48" name="Text 46"/>
          <p:cNvSpPr txBox="1"/>
          <p:nvPr/>
        </p:nvSpPr>
        <p:spPr>
          <a:xfrm>
            <a:off x="6099048" y="2322576"/>
            <a:ext cx="822960" cy="237744"/>
          </a:xfrm>
          <a:prstGeom prst="rect">
            <a:avLst/>
          </a:prstGeom>
          <a:noFill/>
          <a:ln/>
        </p:spPr>
        <p:txBody>
          <a:bodyPr wrap="square" lIns="0" tIns="0" rIns="0" bIns="0" rtlCol="0" anchor="ctr"/>
          <a:lstStyle/>
          <a:p>
            <a:pPr algn="ctr" indent="0" marL="0">
              <a:buNone/>
            </a:pPr>
            <a:r>
              <a:rPr lang="en-US" sz="900" b="1" dirty="0">
                <a:solidFill>
                  <a:srgbClr val="94A6C4"/>
                </a:solidFill>
                <a:latin typeface="Calibri" pitchFamily="34" charset="0"/>
                <a:ea typeface="Calibri" pitchFamily="34" charset="-122"/>
                <a:cs typeface="Calibri" pitchFamily="34" charset="-120"/>
              </a:rPr>
              <a:t>Crew cut</a:t>
            </a:r>
            <a:endParaRPr lang="en-US" sz="900" dirty="0"/>
          </a:p>
        </p:txBody>
      </p:sp>
      <p:sp>
        <p:nvSpPr>
          <p:cNvPr id="49" name="Shape 47"/>
          <p:cNvSpPr/>
          <p:nvPr/>
        </p:nvSpPr>
        <p:spPr>
          <a:xfrm>
            <a:off x="5202936" y="2670048"/>
            <a:ext cx="822960" cy="237744"/>
          </a:xfrm>
          <a:prstGeom prst="roundRect">
            <a:avLst>
              <a:gd name="adj" fmla="val 50000"/>
            </a:avLst>
          </a:prstGeom>
          <a:solidFill>
            <a:srgbClr val="1D2740"/>
          </a:solidFill>
          <a:ln w="9525">
            <a:solidFill>
              <a:srgbClr val="94A6C4"/>
            </a:solidFill>
            <a:prstDash val="solid"/>
          </a:ln>
        </p:spPr>
      </p:sp>
      <p:sp>
        <p:nvSpPr>
          <p:cNvPr id="50" name="Text 48"/>
          <p:cNvSpPr txBox="1"/>
          <p:nvPr/>
        </p:nvSpPr>
        <p:spPr>
          <a:xfrm>
            <a:off x="5202936" y="2670048"/>
            <a:ext cx="822960" cy="237744"/>
          </a:xfrm>
          <a:prstGeom prst="rect">
            <a:avLst/>
          </a:prstGeom>
          <a:noFill/>
          <a:ln/>
        </p:spPr>
        <p:txBody>
          <a:bodyPr wrap="square" lIns="0" tIns="0" rIns="0" bIns="0" rtlCol="0" anchor="ctr"/>
          <a:lstStyle/>
          <a:p>
            <a:pPr algn="ctr" indent="0" marL="0">
              <a:buNone/>
            </a:pPr>
            <a:r>
              <a:rPr lang="en-US" sz="900" b="1" dirty="0">
                <a:solidFill>
                  <a:srgbClr val="94A6C4"/>
                </a:solidFill>
                <a:latin typeface="Calibri" pitchFamily="34" charset="0"/>
                <a:ea typeface="Calibri" pitchFamily="34" charset="-122"/>
                <a:cs typeface="Calibri" pitchFamily="34" charset="-120"/>
              </a:rPr>
              <a:t>Layer</a:t>
            </a:r>
            <a:endParaRPr lang="en-US" sz="900" dirty="0"/>
          </a:p>
        </p:txBody>
      </p:sp>
      <p:sp>
        <p:nvSpPr>
          <p:cNvPr id="51" name="Shape 49"/>
          <p:cNvSpPr/>
          <p:nvPr/>
        </p:nvSpPr>
        <p:spPr>
          <a:xfrm>
            <a:off x="6099048" y="2670048"/>
            <a:ext cx="822960" cy="237744"/>
          </a:xfrm>
          <a:prstGeom prst="roundRect">
            <a:avLst>
              <a:gd name="adj" fmla="val 50000"/>
            </a:avLst>
          </a:prstGeom>
          <a:solidFill>
            <a:srgbClr val="1D2740"/>
          </a:solidFill>
          <a:ln w="9525">
            <a:solidFill>
              <a:srgbClr val="94A6C4"/>
            </a:solidFill>
            <a:prstDash val="solid"/>
          </a:ln>
        </p:spPr>
      </p:sp>
      <p:sp>
        <p:nvSpPr>
          <p:cNvPr id="52" name="Text 50"/>
          <p:cNvSpPr txBox="1"/>
          <p:nvPr/>
        </p:nvSpPr>
        <p:spPr>
          <a:xfrm>
            <a:off x="6099048" y="2670048"/>
            <a:ext cx="822960" cy="237744"/>
          </a:xfrm>
          <a:prstGeom prst="rect">
            <a:avLst/>
          </a:prstGeom>
          <a:noFill/>
          <a:ln/>
        </p:spPr>
        <p:txBody>
          <a:bodyPr wrap="square" lIns="0" tIns="0" rIns="0" bIns="0" rtlCol="0" anchor="ctr"/>
          <a:lstStyle/>
          <a:p>
            <a:pPr algn="ctr" indent="0" marL="0">
              <a:buNone/>
            </a:pPr>
            <a:r>
              <a:rPr lang="en-US" sz="900" b="1" dirty="0">
                <a:solidFill>
                  <a:srgbClr val="94A6C4"/>
                </a:solidFill>
                <a:latin typeface="Calibri" pitchFamily="34" charset="0"/>
                <a:ea typeface="Calibri" pitchFamily="34" charset="-122"/>
                <a:cs typeface="Calibri" pitchFamily="34" charset="-120"/>
              </a:rPr>
              <a:t>Buzz</a:t>
            </a:r>
            <a:endParaRPr lang="en-US" sz="900" dirty="0"/>
          </a:p>
        </p:txBody>
      </p:sp>
      <p:sp>
        <p:nvSpPr>
          <p:cNvPr id="53" name="Text 51"/>
          <p:cNvSpPr txBox="1"/>
          <p:nvPr/>
        </p:nvSpPr>
        <p:spPr>
          <a:xfrm>
            <a:off x="5202936" y="3090672"/>
            <a:ext cx="1792224" cy="182880"/>
          </a:xfrm>
          <a:prstGeom prst="rect">
            <a:avLst/>
          </a:prstGeom>
          <a:noFill/>
          <a:ln/>
        </p:spPr>
        <p:txBody>
          <a:bodyPr wrap="square" lIns="0" tIns="0" rIns="0" bIns="0" rtlCol="0" anchor="ctr"/>
          <a:lstStyle/>
          <a:p>
            <a:pPr algn="l" indent="0" marL="0">
              <a:lnSpc>
                <a:spcPct val="112000"/>
              </a:lnSpc>
              <a:buNone/>
            </a:pPr>
            <a:r>
              <a:rPr lang="en-US" sz="900" i="1" dirty="0">
                <a:solidFill>
                  <a:srgbClr val="6D7F9C"/>
                </a:solidFill>
                <a:latin typeface="Calibri" pitchFamily="34" charset="0"/>
                <a:ea typeface="Calibri" pitchFamily="34" charset="-122"/>
                <a:cs typeface="Calibri" pitchFamily="34" charset="-120"/>
              </a:rPr>
              <a:t>Optional. Salon only.</a:t>
            </a:r>
            <a:endParaRPr lang="en-US" sz="900" dirty="0"/>
          </a:p>
        </p:txBody>
      </p:sp>
      <p:sp>
        <p:nvSpPr>
          <p:cNvPr id="54" name="Text 52"/>
          <p:cNvSpPr txBox="1"/>
          <p:nvPr/>
        </p:nvSpPr>
        <p:spPr>
          <a:xfrm>
            <a:off x="7118604" y="3300984"/>
            <a:ext cx="256032" cy="219456"/>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55" name="Shape 53"/>
          <p:cNvSpPr/>
          <p:nvPr/>
        </p:nvSpPr>
        <p:spPr>
          <a:xfrm>
            <a:off x="7342632" y="1536192"/>
            <a:ext cx="2029968" cy="3749040"/>
          </a:xfrm>
          <a:prstGeom prst="roundRect">
            <a:avLst>
              <a:gd name="adj" fmla="val 7207"/>
            </a:avLst>
          </a:prstGeom>
          <a:solidFill>
            <a:srgbClr val="161F30"/>
          </a:solidFill>
          <a:ln w="15875">
            <a:solidFill>
              <a:srgbClr val="2C3A54"/>
            </a:solidFill>
            <a:prstDash val="solid"/>
          </a:ln>
        </p:spPr>
      </p:sp>
      <p:sp>
        <p:nvSpPr>
          <p:cNvPr id="56" name="Shape 54"/>
          <p:cNvSpPr/>
          <p:nvPr/>
        </p:nvSpPr>
        <p:spPr>
          <a:xfrm>
            <a:off x="8156448" y="1618488"/>
            <a:ext cx="402336" cy="64008"/>
          </a:xfrm>
          <a:prstGeom prst="roundRect">
            <a:avLst>
              <a:gd name="adj" fmla="val 50000"/>
            </a:avLst>
          </a:prstGeom>
          <a:solidFill>
            <a:srgbClr val="2C3A54"/>
          </a:solidFill>
          <a:ln w="12700">
            <a:solidFill>
              <a:srgbClr val="2C3A54"/>
            </a:solidFill>
            <a:prstDash val="solid"/>
          </a:ln>
        </p:spPr>
      </p:sp>
      <p:sp>
        <p:nvSpPr>
          <p:cNvPr id="57" name="Text 55"/>
          <p:cNvSpPr txBox="1"/>
          <p:nvPr/>
        </p:nvSpPr>
        <p:spPr>
          <a:xfrm>
            <a:off x="7342632" y="5340096"/>
            <a:ext cx="2029968" cy="201168"/>
          </a:xfrm>
          <a:prstGeom prst="rect">
            <a:avLst/>
          </a:prstGeom>
          <a:noFill/>
          <a:ln/>
        </p:spPr>
        <p:txBody>
          <a:bodyPr wrap="square" lIns="0" tIns="0" rIns="0" bIns="0" rtlCol="0" anchor="ctr"/>
          <a:lstStyle/>
          <a:p>
            <a:pPr algn="ctr" indent="0" marL="0">
              <a:buNone/>
            </a:pPr>
            <a:r>
              <a:rPr lang="en-US" sz="900" dirty="0">
                <a:solidFill>
                  <a:srgbClr val="FF5C39"/>
                </a:solidFill>
                <a:latin typeface="Courier New" pitchFamily="34" charset="0"/>
                <a:ea typeface="Courier New" pitchFamily="34" charset="-122"/>
                <a:cs typeface="Courier New" pitchFamily="34" charset="-120"/>
              </a:rPr>
              <a:t>confirm</a:t>
            </a:r>
            <a:endParaRPr lang="en-US" sz="900" dirty="0"/>
          </a:p>
        </p:txBody>
      </p:sp>
      <p:sp>
        <p:nvSpPr>
          <p:cNvPr id="58" name="Text 56"/>
          <p:cNvSpPr txBox="1"/>
          <p:nvPr/>
        </p:nvSpPr>
        <p:spPr>
          <a:xfrm>
            <a:off x="7342632" y="5559552"/>
            <a:ext cx="2029968" cy="219456"/>
          </a:xfrm>
          <a:prstGeom prst="rect">
            <a:avLst/>
          </a:prstGeom>
          <a:noFill/>
          <a:ln/>
        </p:spPr>
        <p:txBody>
          <a:bodyPr wrap="square" lIns="0" tIns="0" rIns="0" bIns="0" rtlCol="0" anchor="ctr"/>
          <a:lstStyle/>
          <a:p>
            <a:pPr indent="0" marL="0">
              <a:buNone/>
            </a:pPr>
            <a:r>
              <a:rPr lang="en-US" sz="1000" b="1" spc="140" kern="0" dirty="0">
                <a:solidFill>
                  <a:srgbClr val="FF5C39"/>
                </a:solidFill>
                <a:latin typeface="Calibri" pitchFamily="34" charset="0"/>
                <a:ea typeface="Calibri" pitchFamily="34" charset="-122"/>
                <a:cs typeface="Calibri" pitchFamily="34" charset="-120"/>
              </a:rPr>
              <a:t>CONFIRM</a:t>
            </a:r>
            <a:endParaRPr lang="en-US" sz="1000" dirty="0"/>
          </a:p>
        </p:txBody>
      </p:sp>
      <p:sp>
        <p:nvSpPr>
          <p:cNvPr id="59" name="Text 57"/>
          <p:cNvSpPr txBox="1"/>
          <p:nvPr/>
        </p:nvSpPr>
        <p:spPr>
          <a:xfrm>
            <a:off x="7461504" y="1828800"/>
            <a:ext cx="1792224" cy="219456"/>
          </a:xfrm>
          <a:prstGeom prst="rect">
            <a:avLst/>
          </a:prstGeom>
          <a:noFill/>
          <a:ln/>
        </p:spPr>
        <p:txBody>
          <a:bodyPr wrap="square" lIns="0" tIns="0" rIns="0" bIns="0" rtlCol="0" anchor="ctr"/>
          <a:lstStyle/>
          <a:p>
            <a:pPr algn="l" indent="0" marL="0">
              <a:lnSpc>
                <a:spcPct val="112000"/>
              </a:lnSpc>
              <a:buNone/>
            </a:pPr>
            <a:r>
              <a:rPr lang="en-US" sz="900" b="1" dirty="0">
                <a:solidFill>
                  <a:srgbClr val="FFFFFF"/>
                </a:solidFill>
                <a:latin typeface="Calibri" pitchFamily="34" charset="0"/>
                <a:ea typeface="Calibri" pitchFamily="34" charset="-122"/>
                <a:cs typeface="Calibri" pitchFamily="34" charset="-120"/>
              </a:rPr>
              <a:t>Confirm your serial</a:t>
            </a:r>
            <a:endParaRPr lang="en-US" sz="900" dirty="0"/>
          </a:p>
        </p:txBody>
      </p:sp>
      <p:sp>
        <p:nvSpPr>
          <p:cNvPr id="60" name="Shape 58"/>
          <p:cNvSpPr/>
          <p:nvPr/>
        </p:nvSpPr>
        <p:spPr>
          <a:xfrm>
            <a:off x="7461504" y="2139696"/>
            <a:ext cx="1792224" cy="274320"/>
          </a:xfrm>
          <a:prstGeom prst="roundRect">
            <a:avLst>
              <a:gd name="adj" fmla="val 16667"/>
            </a:avLst>
          </a:prstGeom>
          <a:solidFill>
            <a:srgbClr val="1D2740"/>
          </a:solidFill>
          <a:ln w="6350">
            <a:solidFill>
              <a:srgbClr val="2C3A54"/>
            </a:solidFill>
            <a:prstDash val="solid"/>
          </a:ln>
        </p:spPr>
      </p:sp>
      <p:sp>
        <p:nvSpPr>
          <p:cNvPr id="61" name="Text 59"/>
          <p:cNvSpPr txBox="1"/>
          <p:nvPr/>
        </p:nvSpPr>
        <p:spPr>
          <a:xfrm>
            <a:off x="7525512" y="2139696"/>
            <a:ext cx="939637"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Haircut</a:t>
            </a:r>
            <a:endParaRPr lang="en-US" sz="900" dirty="0"/>
          </a:p>
        </p:txBody>
      </p:sp>
      <p:sp>
        <p:nvSpPr>
          <p:cNvPr id="62" name="Text 60"/>
          <p:cNvSpPr txBox="1"/>
          <p:nvPr/>
        </p:nvSpPr>
        <p:spPr>
          <a:xfrm>
            <a:off x="8500994" y="2139696"/>
            <a:ext cx="617037" cy="274320"/>
          </a:xfrm>
          <a:prstGeom prst="rect">
            <a:avLst/>
          </a:prstGeom>
          <a:noFill/>
          <a:ln/>
        </p:spPr>
        <p:txBody>
          <a:bodyPr wrap="square" lIns="0" tIns="0" rIns="0" bIns="0" rtlCol="0" anchor="ctr"/>
          <a:lstStyle/>
          <a:p>
            <a:pPr algn="r" indent="0" marL="0">
              <a:buNone/>
            </a:pPr>
            <a:r>
              <a:rPr lang="en-US" sz="900" b="1" dirty="0">
                <a:solidFill>
                  <a:srgbClr val="94A6C4"/>
                </a:solidFill>
                <a:latin typeface="Calibri" pitchFamily="34" charset="0"/>
                <a:ea typeface="Calibri" pitchFamily="34" charset="-122"/>
                <a:cs typeface="Calibri" pitchFamily="34" charset="-120"/>
              </a:rPr>
              <a:t>৳250</a:t>
            </a:r>
            <a:endParaRPr lang="en-US" sz="900" dirty="0"/>
          </a:p>
        </p:txBody>
      </p:sp>
      <p:sp>
        <p:nvSpPr>
          <p:cNvPr id="63" name="Shape 61"/>
          <p:cNvSpPr/>
          <p:nvPr/>
        </p:nvSpPr>
        <p:spPr>
          <a:xfrm>
            <a:off x="7461504" y="2487168"/>
            <a:ext cx="1792224" cy="274320"/>
          </a:xfrm>
          <a:prstGeom prst="roundRect">
            <a:avLst>
              <a:gd name="adj" fmla="val 16667"/>
            </a:avLst>
          </a:prstGeom>
          <a:solidFill>
            <a:srgbClr val="1D2740"/>
          </a:solidFill>
          <a:ln w="6350">
            <a:solidFill>
              <a:srgbClr val="2C3A54"/>
            </a:solidFill>
            <a:prstDash val="solid"/>
          </a:ln>
        </p:spPr>
      </p:sp>
      <p:sp>
        <p:nvSpPr>
          <p:cNvPr id="64" name="Text 62"/>
          <p:cNvSpPr txBox="1"/>
          <p:nvPr/>
        </p:nvSpPr>
        <p:spPr>
          <a:xfrm>
            <a:off x="7525512" y="2487168"/>
            <a:ext cx="939637"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Est. duration</a:t>
            </a:r>
            <a:endParaRPr lang="en-US" sz="900" dirty="0"/>
          </a:p>
        </p:txBody>
      </p:sp>
      <p:sp>
        <p:nvSpPr>
          <p:cNvPr id="65" name="Text 63"/>
          <p:cNvSpPr txBox="1"/>
          <p:nvPr/>
        </p:nvSpPr>
        <p:spPr>
          <a:xfrm>
            <a:off x="8500994" y="2487168"/>
            <a:ext cx="617037" cy="274320"/>
          </a:xfrm>
          <a:prstGeom prst="rect">
            <a:avLst/>
          </a:prstGeom>
          <a:noFill/>
          <a:ln/>
        </p:spPr>
        <p:txBody>
          <a:bodyPr wrap="square" lIns="0" tIns="0" rIns="0" bIns="0" rtlCol="0" anchor="ctr"/>
          <a:lstStyle/>
          <a:p>
            <a:pPr algn="r" indent="0" marL="0">
              <a:buNone/>
            </a:pPr>
            <a:r>
              <a:rPr lang="en-US" sz="900" dirty="0">
                <a:solidFill>
                  <a:srgbClr val="94A6C4"/>
                </a:solidFill>
                <a:latin typeface="Calibri" pitchFamily="34" charset="0"/>
                <a:ea typeface="Calibri" pitchFamily="34" charset="-122"/>
                <a:cs typeface="Calibri" pitchFamily="34" charset="-120"/>
              </a:rPr>
              <a:t>20 min</a:t>
            </a:r>
            <a:endParaRPr lang="en-US" sz="900" dirty="0"/>
          </a:p>
        </p:txBody>
      </p:sp>
      <p:sp>
        <p:nvSpPr>
          <p:cNvPr id="66" name="Shape 64"/>
          <p:cNvSpPr/>
          <p:nvPr/>
        </p:nvSpPr>
        <p:spPr>
          <a:xfrm>
            <a:off x="7461504" y="2834640"/>
            <a:ext cx="1792224" cy="274320"/>
          </a:xfrm>
          <a:prstGeom prst="roundRect">
            <a:avLst>
              <a:gd name="adj" fmla="val 16667"/>
            </a:avLst>
          </a:prstGeom>
          <a:solidFill>
            <a:srgbClr val="1D2740"/>
          </a:solidFill>
          <a:ln w="6350">
            <a:solidFill>
              <a:srgbClr val="2C3A54"/>
            </a:solidFill>
            <a:prstDash val="solid"/>
          </a:ln>
        </p:spPr>
      </p:sp>
      <p:sp>
        <p:nvSpPr>
          <p:cNvPr id="67" name="Text 65"/>
          <p:cNvSpPr txBox="1"/>
          <p:nvPr/>
        </p:nvSpPr>
        <p:spPr>
          <a:xfrm>
            <a:off x="7525512" y="2834640"/>
            <a:ext cx="939637" cy="27432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Total</a:t>
            </a:r>
            <a:endParaRPr lang="en-US" sz="900" dirty="0"/>
          </a:p>
        </p:txBody>
      </p:sp>
      <p:sp>
        <p:nvSpPr>
          <p:cNvPr id="68" name="Text 66"/>
          <p:cNvSpPr txBox="1"/>
          <p:nvPr/>
        </p:nvSpPr>
        <p:spPr>
          <a:xfrm>
            <a:off x="8500994" y="2834640"/>
            <a:ext cx="617037" cy="274320"/>
          </a:xfrm>
          <a:prstGeom prst="rect">
            <a:avLst/>
          </a:prstGeom>
          <a:noFill/>
          <a:ln/>
        </p:spPr>
        <p:txBody>
          <a:bodyPr wrap="square" lIns="0" tIns="0" rIns="0" bIns="0" rtlCol="0" anchor="ctr"/>
          <a:lstStyle/>
          <a:p>
            <a:pPr algn="r" indent="0" marL="0">
              <a:buNone/>
            </a:pPr>
            <a:r>
              <a:rPr lang="en-US" sz="900" b="1" dirty="0">
                <a:solidFill>
                  <a:srgbClr val="FF5C39"/>
                </a:solidFill>
                <a:latin typeface="Calibri" pitchFamily="34" charset="0"/>
                <a:ea typeface="Calibri" pitchFamily="34" charset="-122"/>
                <a:cs typeface="Calibri" pitchFamily="34" charset="-120"/>
              </a:rPr>
              <a:t>৳250</a:t>
            </a:r>
            <a:endParaRPr lang="en-US" sz="900" dirty="0"/>
          </a:p>
        </p:txBody>
      </p:sp>
      <p:sp>
        <p:nvSpPr>
          <p:cNvPr id="69" name="Shape 67"/>
          <p:cNvSpPr/>
          <p:nvPr/>
        </p:nvSpPr>
        <p:spPr>
          <a:xfrm>
            <a:off x="7461504" y="3291840"/>
            <a:ext cx="1792224" cy="329184"/>
          </a:xfrm>
          <a:prstGeom prst="roundRect">
            <a:avLst>
              <a:gd name="adj" fmla="val 19444"/>
            </a:avLst>
          </a:prstGeom>
          <a:solidFill>
            <a:srgbClr val="FF5C39"/>
          </a:solidFill>
          <a:ln w="12700">
            <a:solidFill>
              <a:srgbClr val="FF5C39"/>
            </a:solidFill>
            <a:prstDash val="solid"/>
          </a:ln>
        </p:spPr>
      </p:sp>
      <p:sp>
        <p:nvSpPr>
          <p:cNvPr id="70" name="Text 68"/>
          <p:cNvSpPr txBox="1"/>
          <p:nvPr/>
        </p:nvSpPr>
        <p:spPr>
          <a:xfrm>
            <a:off x="7461504" y="3291840"/>
            <a:ext cx="1792224" cy="329184"/>
          </a:xfrm>
          <a:prstGeom prst="rect">
            <a:avLst/>
          </a:prstGeom>
          <a:noFill/>
          <a:ln/>
        </p:spPr>
        <p:txBody>
          <a:bodyPr wrap="square" lIns="0" tIns="0" rIns="0" bIns="0" rtlCol="0" anchor="ctr"/>
          <a:lstStyle/>
          <a:p>
            <a:pPr algn="ctr" indent="0" marL="0">
              <a:buNone/>
            </a:pPr>
            <a:r>
              <a:rPr lang="en-US" sz="900" b="1" dirty="0">
                <a:solidFill>
                  <a:srgbClr val="1A0D08"/>
                </a:solidFill>
                <a:latin typeface="Calibri" pitchFamily="34" charset="0"/>
                <a:ea typeface="Calibri" pitchFamily="34" charset="-122"/>
                <a:cs typeface="Calibri" pitchFamily="34" charset="-120"/>
              </a:rPr>
              <a:t>সিরিযাল নাও</a:t>
            </a:r>
            <a:endParaRPr lang="en-US" sz="900" dirty="0"/>
          </a:p>
        </p:txBody>
      </p:sp>
      <p:sp>
        <p:nvSpPr>
          <p:cNvPr id="71" name="Text 69"/>
          <p:cNvSpPr txBox="1"/>
          <p:nvPr/>
        </p:nvSpPr>
        <p:spPr>
          <a:xfrm>
            <a:off x="9377172" y="3300984"/>
            <a:ext cx="256032" cy="219456"/>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72" name="Shape 70"/>
          <p:cNvSpPr/>
          <p:nvPr/>
        </p:nvSpPr>
        <p:spPr>
          <a:xfrm>
            <a:off x="9601200" y="1536192"/>
            <a:ext cx="2029968" cy="3749040"/>
          </a:xfrm>
          <a:prstGeom prst="roundRect">
            <a:avLst>
              <a:gd name="adj" fmla="val 7207"/>
            </a:avLst>
          </a:prstGeom>
          <a:solidFill>
            <a:srgbClr val="161F30"/>
          </a:solidFill>
          <a:ln w="15875">
            <a:solidFill>
              <a:srgbClr val="2C3A54"/>
            </a:solidFill>
            <a:prstDash val="solid"/>
          </a:ln>
        </p:spPr>
      </p:sp>
      <p:sp>
        <p:nvSpPr>
          <p:cNvPr id="73" name="Shape 71"/>
          <p:cNvSpPr/>
          <p:nvPr/>
        </p:nvSpPr>
        <p:spPr>
          <a:xfrm>
            <a:off x="10415016" y="1618488"/>
            <a:ext cx="402336" cy="64008"/>
          </a:xfrm>
          <a:prstGeom prst="roundRect">
            <a:avLst>
              <a:gd name="adj" fmla="val 50000"/>
            </a:avLst>
          </a:prstGeom>
          <a:solidFill>
            <a:srgbClr val="2C3A54"/>
          </a:solidFill>
          <a:ln w="12700">
            <a:solidFill>
              <a:srgbClr val="2C3A54"/>
            </a:solidFill>
            <a:prstDash val="solid"/>
          </a:ln>
        </p:spPr>
      </p:sp>
      <p:sp>
        <p:nvSpPr>
          <p:cNvPr id="74" name="Text 72"/>
          <p:cNvSpPr txBox="1"/>
          <p:nvPr/>
        </p:nvSpPr>
        <p:spPr>
          <a:xfrm>
            <a:off x="9601200" y="5340096"/>
            <a:ext cx="2029968" cy="201168"/>
          </a:xfrm>
          <a:prstGeom prst="rect">
            <a:avLst/>
          </a:prstGeom>
          <a:noFill/>
          <a:ln/>
        </p:spPr>
        <p:txBody>
          <a:bodyPr wrap="square" lIns="0" tIns="0" rIns="0" bIns="0" rtlCol="0" anchor="ctr"/>
          <a:lstStyle/>
          <a:p>
            <a:pPr algn="ctr" indent="0" marL="0">
              <a:buNone/>
            </a:pPr>
            <a:r>
              <a:rPr lang="en-US" sz="900" dirty="0">
                <a:solidFill>
                  <a:srgbClr val="FF5C39"/>
                </a:solidFill>
                <a:latin typeface="Courier New" pitchFamily="34" charset="0"/>
                <a:ea typeface="Courier New" pitchFamily="34" charset="-122"/>
                <a:cs typeface="Courier New" pitchFamily="34" charset="-120"/>
              </a:rPr>
              <a:t>/my-serial</a:t>
            </a:r>
            <a:endParaRPr lang="en-US" sz="900" dirty="0"/>
          </a:p>
        </p:txBody>
      </p:sp>
      <p:sp>
        <p:nvSpPr>
          <p:cNvPr id="75" name="Text 73"/>
          <p:cNvSpPr txBox="1"/>
          <p:nvPr/>
        </p:nvSpPr>
        <p:spPr>
          <a:xfrm>
            <a:off x="9601200" y="5559552"/>
            <a:ext cx="2029968" cy="219456"/>
          </a:xfrm>
          <a:prstGeom prst="rect">
            <a:avLst/>
          </a:prstGeom>
          <a:noFill/>
          <a:ln/>
        </p:spPr>
        <p:txBody>
          <a:bodyPr wrap="square" lIns="0" tIns="0" rIns="0" bIns="0" rtlCol="0" anchor="ctr"/>
          <a:lstStyle/>
          <a:p>
            <a:pPr indent="0" marL="0">
              <a:buNone/>
            </a:pPr>
            <a:r>
              <a:rPr lang="en-US" sz="1000" b="1" spc="140" kern="0" dirty="0">
                <a:solidFill>
                  <a:srgbClr val="FF5C39"/>
                </a:solidFill>
                <a:latin typeface="Calibri" pitchFamily="34" charset="0"/>
                <a:ea typeface="Calibri" pitchFamily="34" charset="-122"/>
                <a:cs typeface="Calibri" pitchFamily="34" charset="-120"/>
              </a:rPr>
              <a:t>LIVE SERIAL</a:t>
            </a:r>
            <a:endParaRPr lang="en-US" sz="1000" dirty="0"/>
          </a:p>
        </p:txBody>
      </p:sp>
      <p:sp>
        <p:nvSpPr>
          <p:cNvPr id="76" name="Text 74"/>
          <p:cNvSpPr txBox="1"/>
          <p:nvPr/>
        </p:nvSpPr>
        <p:spPr>
          <a:xfrm>
            <a:off x="9720072" y="1993392"/>
            <a:ext cx="1792224" cy="786384"/>
          </a:xfrm>
          <a:prstGeom prst="rect">
            <a:avLst/>
          </a:prstGeom>
          <a:noFill/>
          <a:ln/>
        </p:spPr>
        <p:txBody>
          <a:bodyPr wrap="square" lIns="0" tIns="0" rIns="0" bIns="0" rtlCol="0" anchor="ctr"/>
          <a:lstStyle/>
          <a:p>
            <a:pPr algn="ctr" indent="0" marL="0">
              <a:buNone/>
            </a:pPr>
            <a:r>
              <a:rPr lang="en-US" sz="5600" b="1" dirty="0">
                <a:solidFill>
                  <a:srgbClr val="FF5C39"/>
                </a:solidFill>
                <a:latin typeface="Arial" pitchFamily="34" charset="0"/>
                <a:ea typeface="Arial" pitchFamily="34" charset="-122"/>
                <a:cs typeface="Arial" pitchFamily="34" charset="-120"/>
              </a:rPr>
              <a:t>4</a:t>
            </a:r>
            <a:endParaRPr lang="en-US" sz="5600" dirty="0"/>
          </a:p>
        </p:txBody>
      </p:sp>
      <p:sp>
        <p:nvSpPr>
          <p:cNvPr id="77" name="Text 75"/>
          <p:cNvSpPr txBox="1"/>
          <p:nvPr/>
        </p:nvSpPr>
        <p:spPr>
          <a:xfrm>
            <a:off x="9720072" y="2798064"/>
            <a:ext cx="1792224" cy="201168"/>
          </a:xfrm>
          <a:prstGeom prst="rect">
            <a:avLst/>
          </a:prstGeom>
          <a:noFill/>
          <a:ln/>
        </p:spPr>
        <p:txBody>
          <a:bodyPr wrap="square" lIns="0" tIns="0" rIns="0" bIns="0" rtlCol="0" anchor="ctr"/>
          <a:lstStyle/>
          <a:p>
            <a:pPr algn="ctr" indent="0" marL="0">
              <a:lnSpc>
                <a:spcPct val="112000"/>
              </a:lnSpc>
              <a:buNone/>
            </a:pPr>
            <a:r>
              <a:rPr lang="en-US" sz="850" dirty="0">
                <a:solidFill>
                  <a:srgbClr val="94A6C4"/>
                </a:solidFill>
                <a:latin typeface="Calibri" pitchFamily="34" charset="0"/>
                <a:ea typeface="Calibri" pitchFamily="34" charset="-122"/>
                <a:cs typeface="Calibri" pitchFamily="34" charset="-120"/>
              </a:rPr>
              <a:t>your position</a:t>
            </a:r>
            <a:endParaRPr lang="en-US" sz="850" dirty="0"/>
          </a:p>
        </p:txBody>
      </p:sp>
      <p:sp>
        <p:nvSpPr>
          <p:cNvPr id="78" name="Shape 76"/>
          <p:cNvSpPr/>
          <p:nvPr/>
        </p:nvSpPr>
        <p:spPr>
          <a:xfrm>
            <a:off x="9720072" y="3145536"/>
            <a:ext cx="1792224" cy="274320"/>
          </a:xfrm>
          <a:prstGeom prst="roundRect">
            <a:avLst>
              <a:gd name="adj" fmla="val 16667"/>
            </a:avLst>
          </a:prstGeom>
          <a:solidFill>
            <a:srgbClr val="1D2740"/>
          </a:solidFill>
          <a:ln w="6350">
            <a:solidFill>
              <a:srgbClr val="2C3A54"/>
            </a:solidFill>
            <a:prstDash val="solid"/>
          </a:ln>
        </p:spPr>
      </p:sp>
      <p:sp>
        <p:nvSpPr>
          <p:cNvPr id="79" name="Text 77"/>
          <p:cNvSpPr txBox="1"/>
          <p:nvPr/>
        </p:nvSpPr>
        <p:spPr>
          <a:xfrm>
            <a:off x="9784080" y="3145536"/>
            <a:ext cx="939637" cy="27432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Leave by</a:t>
            </a:r>
            <a:endParaRPr lang="en-US" sz="900" dirty="0"/>
          </a:p>
        </p:txBody>
      </p:sp>
      <p:sp>
        <p:nvSpPr>
          <p:cNvPr id="80" name="Text 78"/>
          <p:cNvSpPr txBox="1"/>
          <p:nvPr/>
        </p:nvSpPr>
        <p:spPr>
          <a:xfrm>
            <a:off x="10759562" y="3145536"/>
            <a:ext cx="617037" cy="274320"/>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5:40 pm</a:t>
            </a:r>
            <a:endParaRPr lang="en-US" sz="900" dirty="0"/>
          </a:p>
        </p:txBody>
      </p:sp>
      <p:sp>
        <p:nvSpPr>
          <p:cNvPr id="81" name="Shape 79"/>
          <p:cNvSpPr/>
          <p:nvPr/>
        </p:nvSpPr>
        <p:spPr>
          <a:xfrm>
            <a:off x="9720072" y="3493008"/>
            <a:ext cx="1792224" cy="274320"/>
          </a:xfrm>
          <a:prstGeom prst="roundRect">
            <a:avLst>
              <a:gd name="adj" fmla="val 16667"/>
            </a:avLst>
          </a:prstGeom>
          <a:solidFill>
            <a:srgbClr val="1D2740"/>
          </a:solidFill>
          <a:ln w="6350">
            <a:solidFill>
              <a:srgbClr val="2C3A54"/>
            </a:solidFill>
            <a:prstDash val="solid"/>
          </a:ln>
        </p:spPr>
      </p:sp>
      <p:sp>
        <p:nvSpPr>
          <p:cNvPr id="82" name="Text 80"/>
          <p:cNvSpPr txBox="1"/>
          <p:nvPr/>
        </p:nvSpPr>
        <p:spPr>
          <a:xfrm>
            <a:off x="9784080" y="3493008"/>
            <a:ext cx="939637"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Ahead of you</a:t>
            </a:r>
            <a:endParaRPr lang="en-US" sz="900" dirty="0"/>
          </a:p>
        </p:txBody>
      </p:sp>
      <p:sp>
        <p:nvSpPr>
          <p:cNvPr id="83" name="Text 81"/>
          <p:cNvSpPr txBox="1"/>
          <p:nvPr/>
        </p:nvSpPr>
        <p:spPr>
          <a:xfrm>
            <a:off x="10759562" y="3493008"/>
            <a:ext cx="617037" cy="274320"/>
          </a:xfrm>
          <a:prstGeom prst="rect">
            <a:avLst/>
          </a:prstGeom>
          <a:noFill/>
          <a:ln/>
        </p:spPr>
        <p:txBody>
          <a:bodyPr wrap="square" lIns="0" tIns="0" rIns="0" bIns="0" rtlCol="0" anchor="ctr"/>
          <a:lstStyle/>
          <a:p>
            <a:pPr algn="r" indent="0" marL="0">
              <a:buNone/>
            </a:pPr>
            <a:r>
              <a:rPr lang="en-US" sz="900" dirty="0">
                <a:solidFill>
                  <a:srgbClr val="94A6C4"/>
                </a:solidFill>
                <a:latin typeface="Calibri" pitchFamily="34" charset="0"/>
                <a:ea typeface="Calibri" pitchFamily="34" charset="-122"/>
                <a:cs typeface="Calibri" pitchFamily="34" charset="-120"/>
              </a:rPr>
              <a:t>3 people</a:t>
            </a:r>
            <a:endParaRPr lang="en-US" sz="900" dirty="0"/>
          </a:p>
        </p:txBody>
      </p:sp>
      <p:sp>
        <p:nvSpPr>
          <p:cNvPr id="84" name="Shape 82"/>
          <p:cNvSpPr/>
          <p:nvPr/>
        </p:nvSpPr>
        <p:spPr>
          <a:xfrm>
            <a:off x="9720072" y="3840480"/>
            <a:ext cx="1792224" cy="274320"/>
          </a:xfrm>
          <a:prstGeom prst="roundRect">
            <a:avLst>
              <a:gd name="adj" fmla="val 16667"/>
            </a:avLst>
          </a:prstGeom>
          <a:solidFill>
            <a:srgbClr val="1D2740"/>
          </a:solidFill>
          <a:ln w="6350">
            <a:solidFill>
              <a:srgbClr val="2C3A54"/>
            </a:solidFill>
            <a:prstDash val="solid"/>
          </a:ln>
        </p:spPr>
      </p:sp>
      <p:sp>
        <p:nvSpPr>
          <p:cNvPr id="85" name="Text 83"/>
          <p:cNvSpPr txBox="1"/>
          <p:nvPr/>
        </p:nvSpPr>
        <p:spPr>
          <a:xfrm>
            <a:off x="9784080" y="3840480"/>
            <a:ext cx="939637"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Status</a:t>
            </a:r>
            <a:endParaRPr lang="en-US" sz="900" dirty="0"/>
          </a:p>
        </p:txBody>
      </p:sp>
      <p:sp>
        <p:nvSpPr>
          <p:cNvPr id="86" name="Text 84"/>
          <p:cNvSpPr txBox="1"/>
          <p:nvPr/>
        </p:nvSpPr>
        <p:spPr>
          <a:xfrm>
            <a:off x="10759562" y="3840480"/>
            <a:ext cx="617037" cy="274320"/>
          </a:xfrm>
          <a:prstGeom prst="rect">
            <a:avLst/>
          </a:prstGeom>
          <a:noFill/>
          <a:ln/>
        </p:spPr>
        <p:txBody>
          <a:bodyPr wrap="square" lIns="0" tIns="0" rIns="0" bIns="0" rtlCol="0" anchor="ctr"/>
          <a:lstStyle/>
          <a:p>
            <a:pPr algn="r" indent="0" marL="0">
              <a:buNone/>
            </a:pPr>
            <a:r>
              <a:rPr lang="en-US" sz="900" b="1" dirty="0">
                <a:solidFill>
                  <a:srgbClr val="FF5C39"/>
                </a:solidFill>
                <a:latin typeface="Calibri" pitchFamily="34" charset="0"/>
                <a:ea typeface="Calibri" pitchFamily="34" charset="-122"/>
                <a:cs typeface="Calibri" pitchFamily="34" charset="-120"/>
              </a:rPr>
              <a:t>WAITING</a:t>
            </a:r>
            <a:endParaRPr lang="en-US" sz="900" dirty="0"/>
          </a:p>
        </p:txBody>
      </p:sp>
      <p:sp>
        <p:nvSpPr>
          <p:cNvPr id="87" name="Text 85"/>
          <p:cNvSpPr txBox="1"/>
          <p:nvPr/>
        </p:nvSpPr>
        <p:spPr>
          <a:xfrm>
            <a:off x="9720072" y="4261104"/>
            <a:ext cx="1792224" cy="182880"/>
          </a:xfrm>
          <a:prstGeom prst="rect">
            <a:avLst/>
          </a:prstGeom>
          <a:noFill/>
          <a:ln/>
        </p:spPr>
        <p:txBody>
          <a:bodyPr wrap="square" lIns="0" tIns="0" rIns="0" bIns="0" rtlCol="0" anchor="ctr"/>
          <a:lstStyle/>
          <a:p>
            <a:pPr algn="ctr" indent="0" marL="0">
              <a:lnSpc>
                <a:spcPct val="112000"/>
              </a:lnSpc>
              <a:buNone/>
            </a:pPr>
            <a:r>
              <a:rPr lang="en-US" sz="900" dirty="0">
                <a:solidFill>
                  <a:srgbClr val="5FD4BE"/>
                </a:solidFill>
                <a:latin typeface="Calibri" pitchFamily="34" charset="0"/>
                <a:ea typeface="Calibri" pitchFamily="34" charset="-122"/>
                <a:cs typeface="Calibri" pitchFamily="34" charset="-120"/>
              </a:rPr>
              <a:t>updates itself — no refresh</a:t>
            </a:r>
            <a:endParaRPr lang="en-US" sz="900" dirty="0"/>
          </a:p>
        </p:txBody>
      </p:sp>
      <p:sp>
        <p:nvSpPr>
          <p:cNvPr id="88" name="Text 86"/>
          <p:cNvSpPr txBox="1"/>
          <p:nvPr/>
        </p:nvSpPr>
        <p:spPr>
          <a:xfrm>
            <a:off x="566928" y="6254496"/>
            <a:ext cx="11057839" cy="365760"/>
          </a:xfrm>
          <a:prstGeom prst="rect">
            <a:avLst/>
          </a:prstGeom>
          <a:noFill/>
          <a:ln/>
        </p:spPr>
        <p:txBody>
          <a:bodyPr wrap="square" lIns="0" tIns="0" rIns="0" bIns="0" rtlCol="0" anchor="ctr"/>
          <a:lstStyle/>
          <a:p>
            <a:pPr indent="0" marL="0">
              <a:buNone/>
            </a:pPr>
            <a:r>
              <a:rPr lang="en-US" sz="1000" dirty="0">
                <a:solidFill>
                  <a:srgbClr val="6D7F9C"/>
                </a:solidFill>
                <a:latin typeface="Courier New" pitchFamily="34" charset="0"/>
                <a:ea typeface="Courier New" pitchFamily="34" charset="-122"/>
                <a:cs typeface="Courier New" pitchFamily="34" charset="-120"/>
              </a:rPr>
              <a:t>Layout and content follow the shipped UI. Position, ETA and chair assignment are computed in PostgreSQL and pushed over Supabase Realtime.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11C"/>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00" kern="0" dirty="0">
                <a:solidFill>
                  <a:srgbClr val="5FD4BE"/>
                </a:solidFill>
                <a:latin typeface="Calibri" pitchFamily="34" charset="0"/>
                <a:ea typeface="Calibri" pitchFamily="34" charset="-122"/>
                <a:cs typeface="Calibri" pitchFamily="34" charset="-120"/>
              </a:rPr>
              <a:t>BEAUTY PARLOUR — HOW IT WORKS</a:t>
            </a:r>
            <a:endParaRPr lang="en-US" sz="1200" dirty="0"/>
          </a:p>
        </p:txBody>
      </p:sp>
      <p:sp>
        <p:nvSpPr>
          <p:cNvPr id="3" name="Text 1"/>
          <p:cNvSpPr txBox="1"/>
          <p:nvPr/>
        </p:nvSpPr>
        <p:spPr>
          <a:xfrm>
            <a:off x="566928" y="621792"/>
            <a:ext cx="11057839" cy="585216"/>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A beauty parlour never sees a queue.</a:t>
            </a:r>
            <a:endParaRPr lang="en-US" sz="3000" dirty="0"/>
          </a:p>
        </p:txBody>
      </p:sp>
      <p:sp>
        <p:nvSpPr>
          <p:cNvPr id="4" name="Text 2"/>
          <p:cNvSpPr txBox="1"/>
          <p:nvPr/>
        </p:nvSpPr>
        <p:spPr>
          <a:xfrm>
            <a:off x="566928" y="1389888"/>
            <a:ext cx="4041648" cy="219456"/>
          </a:xfrm>
          <a:prstGeom prst="rect">
            <a:avLst/>
          </a:prstGeom>
          <a:noFill/>
          <a:ln/>
        </p:spPr>
        <p:txBody>
          <a:bodyPr wrap="square" lIns="0" tIns="0" rIns="0" bIns="0" rtlCol="0" anchor="ctr"/>
          <a:lstStyle/>
          <a:p>
            <a:pPr indent="0" marL="0">
              <a:buNone/>
            </a:pPr>
            <a:r>
              <a:rPr lang="en-US" sz="1050" b="1" spc="140" kern="0" dirty="0">
                <a:solidFill>
                  <a:srgbClr val="5FD4BE"/>
                </a:solidFill>
                <a:latin typeface="Calibri" pitchFamily="34" charset="0"/>
                <a:ea typeface="Calibri" pitchFamily="34" charset="-122"/>
                <a:cs typeface="Calibri" pitchFamily="34" charset="-120"/>
              </a:rPr>
              <a:t>CUSTOMER</a:t>
            </a:r>
            <a:endParaRPr lang="en-US" sz="1050" dirty="0"/>
          </a:p>
        </p:txBody>
      </p:sp>
      <p:sp>
        <p:nvSpPr>
          <p:cNvPr id="5" name="Shape 3"/>
          <p:cNvSpPr/>
          <p:nvPr/>
        </p:nvSpPr>
        <p:spPr>
          <a:xfrm>
            <a:off x="566928" y="1682496"/>
            <a:ext cx="4041648" cy="566928"/>
          </a:xfrm>
          <a:prstGeom prst="roundRect">
            <a:avLst>
              <a:gd name="adj" fmla="val 19355"/>
            </a:avLst>
          </a:prstGeom>
          <a:solidFill>
            <a:srgbClr val="161F30"/>
          </a:solidFill>
          <a:ln w="12700">
            <a:solidFill>
              <a:srgbClr val="2C3A54"/>
            </a:solidFill>
            <a:prstDash val="solid"/>
          </a:ln>
        </p:spPr>
      </p:sp>
      <p:sp>
        <p:nvSpPr>
          <p:cNvPr id="6" name="Text 4"/>
          <p:cNvSpPr txBox="1"/>
          <p:nvPr/>
        </p:nvSpPr>
        <p:spPr>
          <a:xfrm>
            <a:off x="621792" y="1682496"/>
            <a:ext cx="3931920" cy="566928"/>
          </a:xfrm>
          <a:prstGeom prst="rect">
            <a:avLst/>
          </a:prstGeom>
          <a:noFill/>
          <a:ln/>
        </p:spPr>
        <p:txBody>
          <a:bodyPr wrap="square" lIns="0" tIns="0" rIns="0" bIns="0" rtlCol="0" anchor="ctr"/>
          <a:lstStyle/>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Discover — badge reads</a:t>
            </a:r>
            <a:endParaRPr lang="en-US" sz="1050" dirty="0"/>
          </a:p>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“by appointment”, no queue count</a:t>
            </a:r>
            <a:endParaRPr lang="en-US" sz="1050" dirty="0"/>
          </a:p>
        </p:txBody>
      </p:sp>
      <p:sp>
        <p:nvSpPr>
          <p:cNvPr id="7" name="Text 5"/>
          <p:cNvSpPr txBox="1"/>
          <p:nvPr/>
        </p:nvSpPr>
        <p:spPr>
          <a:xfrm>
            <a:off x="2404872" y="2276856"/>
            <a:ext cx="365760" cy="182880"/>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8" name="Shape 6"/>
          <p:cNvSpPr/>
          <p:nvPr/>
        </p:nvSpPr>
        <p:spPr>
          <a:xfrm>
            <a:off x="566928" y="2459736"/>
            <a:ext cx="4041648" cy="566928"/>
          </a:xfrm>
          <a:prstGeom prst="roundRect">
            <a:avLst>
              <a:gd name="adj" fmla="val 19355"/>
            </a:avLst>
          </a:prstGeom>
          <a:solidFill>
            <a:srgbClr val="161F30"/>
          </a:solidFill>
          <a:ln w="12700">
            <a:solidFill>
              <a:srgbClr val="2C3A54"/>
            </a:solidFill>
            <a:prstDash val="solid"/>
          </a:ln>
        </p:spPr>
      </p:sp>
      <p:sp>
        <p:nvSpPr>
          <p:cNvPr id="9" name="Text 7"/>
          <p:cNvSpPr txBox="1"/>
          <p:nvPr/>
        </p:nvSpPr>
        <p:spPr>
          <a:xfrm>
            <a:off x="621792" y="2459736"/>
            <a:ext cx="3931920" cy="566928"/>
          </a:xfrm>
          <a:prstGeom prst="rect">
            <a:avLst/>
          </a:prstGeom>
          <a:noFill/>
          <a:ln/>
        </p:spPr>
        <p:txBody>
          <a:bodyPr wrap="square" lIns="0" tIns="0" rIns="0" bIns="0" rtlCol="0" anchor="ctr"/>
          <a:lstStyle/>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Select service</a:t>
            </a:r>
            <a:endParaRPr lang="en-US" sz="1050" dirty="0"/>
          </a:p>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 duration drives everything</a:t>
            </a:r>
            <a:endParaRPr lang="en-US" sz="1050" dirty="0"/>
          </a:p>
        </p:txBody>
      </p:sp>
      <p:sp>
        <p:nvSpPr>
          <p:cNvPr id="10" name="Text 8"/>
          <p:cNvSpPr txBox="1"/>
          <p:nvPr/>
        </p:nvSpPr>
        <p:spPr>
          <a:xfrm>
            <a:off x="2404872" y="3054096"/>
            <a:ext cx="365760" cy="182880"/>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11" name="Shape 9"/>
          <p:cNvSpPr/>
          <p:nvPr/>
        </p:nvSpPr>
        <p:spPr>
          <a:xfrm>
            <a:off x="566928" y="3236976"/>
            <a:ext cx="4041648" cy="566928"/>
          </a:xfrm>
          <a:prstGeom prst="roundRect">
            <a:avLst>
              <a:gd name="adj" fmla="val 19355"/>
            </a:avLst>
          </a:prstGeom>
          <a:solidFill>
            <a:srgbClr val="161F30"/>
          </a:solidFill>
          <a:ln w="12700">
            <a:solidFill>
              <a:srgbClr val="2C3A54"/>
            </a:solidFill>
            <a:prstDash val="solid"/>
          </a:ln>
        </p:spPr>
      </p:sp>
      <p:sp>
        <p:nvSpPr>
          <p:cNvPr id="12" name="Text 10"/>
          <p:cNvSpPr txBox="1"/>
          <p:nvPr/>
        </p:nvSpPr>
        <p:spPr>
          <a:xfrm>
            <a:off x="621792" y="3236976"/>
            <a:ext cx="3931920" cy="566928"/>
          </a:xfrm>
          <a:prstGeom prst="rect">
            <a:avLst/>
          </a:prstGeom>
          <a:noFill/>
          <a:ln/>
        </p:spPr>
        <p:txBody>
          <a:bodyPr wrap="square" lIns="0" tIns="0" rIns="0" bIns="0" rtlCol="0" anchor="ctr"/>
          <a:lstStyle/>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Select a date</a:t>
            </a:r>
            <a:endParaRPr lang="en-US" sz="1050" dirty="0"/>
          </a:p>
        </p:txBody>
      </p:sp>
      <p:sp>
        <p:nvSpPr>
          <p:cNvPr id="13" name="Text 11"/>
          <p:cNvSpPr txBox="1"/>
          <p:nvPr/>
        </p:nvSpPr>
        <p:spPr>
          <a:xfrm>
            <a:off x="2404872" y="3831336"/>
            <a:ext cx="365760" cy="182880"/>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14" name="Shape 12"/>
          <p:cNvSpPr/>
          <p:nvPr/>
        </p:nvSpPr>
        <p:spPr>
          <a:xfrm>
            <a:off x="566928" y="4014216"/>
            <a:ext cx="4041648" cy="566928"/>
          </a:xfrm>
          <a:prstGeom prst="roundRect">
            <a:avLst>
              <a:gd name="adj" fmla="val 19355"/>
            </a:avLst>
          </a:prstGeom>
          <a:solidFill>
            <a:srgbClr val="161F30"/>
          </a:solidFill>
          <a:ln w="12700">
            <a:solidFill>
              <a:srgbClr val="2C3A54"/>
            </a:solidFill>
            <a:prstDash val="solid"/>
          </a:ln>
        </p:spPr>
      </p:sp>
      <p:sp>
        <p:nvSpPr>
          <p:cNvPr id="15" name="Text 13"/>
          <p:cNvSpPr txBox="1"/>
          <p:nvPr/>
        </p:nvSpPr>
        <p:spPr>
          <a:xfrm>
            <a:off x="621792" y="4014216"/>
            <a:ext cx="3931920" cy="566928"/>
          </a:xfrm>
          <a:prstGeom prst="rect">
            <a:avLst/>
          </a:prstGeom>
          <a:noFill/>
          <a:ln/>
        </p:spPr>
        <p:txBody>
          <a:bodyPr wrap="square" lIns="0" tIns="0" rIns="0" bIns="0" rtlCol="0" anchor="ctr"/>
          <a:lstStyle/>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Pick from the available slots</a:t>
            </a:r>
            <a:endParaRPr lang="en-US" sz="1050" dirty="0"/>
          </a:p>
        </p:txBody>
      </p:sp>
      <p:sp>
        <p:nvSpPr>
          <p:cNvPr id="16" name="Text 14"/>
          <p:cNvSpPr txBox="1"/>
          <p:nvPr/>
        </p:nvSpPr>
        <p:spPr>
          <a:xfrm>
            <a:off x="2404872" y="4608576"/>
            <a:ext cx="365760" cy="182880"/>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17" name="Shape 15"/>
          <p:cNvSpPr/>
          <p:nvPr/>
        </p:nvSpPr>
        <p:spPr>
          <a:xfrm>
            <a:off x="566928" y="4791456"/>
            <a:ext cx="4041648" cy="566928"/>
          </a:xfrm>
          <a:prstGeom prst="roundRect">
            <a:avLst>
              <a:gd name="adj" fmla="val 19355"/>
            </a:avLst>
          </a:prstGeom>
          <a:solidFill>
            <a:srgbClr val="1D2740"/>
          </a:solidFill>
          <a:ln w="12700">
            <a:solidFill>
              <a:srgbClr val="2C3A54"/>
            </a:solidFill>
            <a:prstDash val="solid"/>
          </a:ln>
        </p:spPr>
      </p:sp>
      <p:sp>
        <p:nvSpPr>
          <p:cNvPr id="18" name="Text 16"/>
          <p:cNvSpPr txBox="1"/>
          <p:nvPr/>
        </p:nvSpPr>
        <p:spPr>
          <a:xfrm>
            <a:off x="621792" y="4791456"/>
            <a:ext cx="3931920" cy="566928"/>
          </a:xfrm>
          <a:prstGeom prst="rect">
            <a:avLst/>
          </a:prstGeom>
          <a:noFill/>
          <a:ln/>
        </p:spPr>
        <p:txBody>
          <a:bodyPr wrap="square" lIns="0" tIns="0" rIns="0" bIns="0" rtlCol="0" anchor="ctr"/>
          <a:lstStyle/>
          <a:p>
            <a:pPr algn="ctr" indent="0" marL="0">
              <a:lnSpc>
                <a:spcPct val="92000"/>
              </a:lnSpc>
              <a:buNone/>
            </a:pPr>
            <a:r>
              <a:rPr lang="en-US" sz="1050" b="1" dirty="0">
                <a:solidFill>
                  <a:srgbClr val="5FD4BE"/>
                </a:solidFill>
                <a:latin typeface="Calibri" pitchFamily="34" charset="0"/>
                <a:ea typeface="Calibri" pitchFamily="34" charset="-122"/>
                <a:cs typeface="Calibri" pitchFamily="34" charset="-120"/>
              </a:rPr>
              <a:t>Confirmed appointment</a:t>
            </a:r>
            <a:endParaRPr lang="en-US" sz="1050" dirty="0"/>
          </a:p>
          <a:p>
            <a:pPr algn="ctr" indent="0" marL="0">
              <a:lnSpc>
                <a:spcPct val="92000"/>
              </a:lnSpc>
              <a:buNone/>
            </a:pPr>
            <a:r>
              <a:rPr lang="en-US" sz="1050" b="1" dirty="0">
                <a:solidFill>
                  <a:srgbClr val="5FD4BE"/>
                </a:solidFill>
                <a:latin typeface="Calibri" pitchFamily="34" charset="0"/>
                <a:ea typeface="Calibri" pitchFamily="34" charset="-122"/>
                <a:cs typeface="Calibri" pitchFamily="34" charset="-120"/>
              </a:rPr>
              <a:t>— date, time, beautician</a:t>
            </a:r>
            <a:endParaRPr lang="en-US" sz="1050" dirty="0"/>
          </a:p>
        </p:txBody>
      </p:sp>
      <p:sp>
        <p:nvSpPr>
          <p:cNvPr id="19" name="Text 17"/>
          <p:cNvSpPr txBox="1"/>
          <p:nvPr/>
        </p:nvSpPr>
        <p:spPr>
          <a:xfrm>
            <a:off x="7583119" y="1389888"/>
            <a:ext cx="4041648" cy="219456"/>
          </a:xfrm>
          <a:prstGeom prst="rect">
            <a:avLst/>
          </a:prstGeom>
          <a:noFill/>
          <a:ln/>
        </p:spPr>
        <p:txBody>
          <a:bodyPr wrap="square" lIns="0" tIns="0" rIns="0" bIns="0" rtlCol="0" anchor="ctr"/>
          <a:lstStyle/>
          <a:p>
            <a:pPr indent="0" marL="0">
              <a:buNone/>
            </a:pPr>
            <a:r>
              <a:rPr lang="en-US" sz="1050" b="1" spc="140" kern="0" dirty="0">
                <a:solidFill>
                  <a:srgbClr val="5FD4BE"/>
                </a:solidFill>
                <a:latin typeface="Calibri" pitchFamily="34" charset="0"/>
                <a:ea typeface="Calibri" pitchFamily="34" charset="-122"/>
                <a:cs typeface="Calibri" pitchFamily="34" charset="-120"/>
              </a:rPr>
              <a:t>PROVIDER</a:t>
            </a:r>
            <a:endParaRPr lang="en-US" sz="1050" dirty="0"/>
          </a:p>
        </p:txBody>
      </p:sp>
      <p:sp>
        <p:nvSpPr>
          <p:cNvPr id="20" name="Shape 18"/>
          <p:cNvSpPr/>
          <p:nvPr/>
        </p:nvSpPr>
        <p:spPr>
          <a:xfrm>
            <a:off x="7583119" y="1682496"/>
            <a:ext cx="4041648" cy="566928"/>
          </a:xfrm>
          <a:prstGeom prst="roundRect">
            <a:avLst>
              <a:gd name="adj" fmla="val 19355"/>
            </a:avLst>
          </a:prstGeom>
          <a:solidFill>
            <a:srgbClr val="161F30"/>
          </a:solidFill>
          <a:ln w="12700">
            <a:solidFill>
              <a:srgbClr val="2C3A54"/>
            </a:solidFill>
            <a:prstDash val="solid"/>
          </a:ln>
        </p:spPr>
      </p:sp>
      <p:sp>
        <p:nvSpPr>
          <p:cNvPr id="21" name="Text 19"/>
          <p:cNvSpPr txBox="1"/>
          <p:nvPr/>
        </p:nvSpPr>
        <p:spPr>
          <a:xfrm>
            <a:off x="7637983" y="1682496"/>
            <a:ext cx="3931920" cy="566928"/>
          </a:xfrm>
          <a:prstGeom prst="rect">
            <a:avLst/>
          </a:prstGeom>
          <a:noFill/>
          <a:ln/>
        </p:spPr>
        <p:txBody>
          <a:bodyPr wrap="square" lIns="0" tIns="0" rIns="0" bIns="0" rtlCol="0" anchor="ctr"/>
          <a:lstStyle/>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Today's schedule</a:t>
            </a:r>
            <a:endParaRPr lang="en-US" sz="1050" dirty="0"/>
          </a:p>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 not a queue board</a:t>
            </a:r>
            <a:endParaRPr lang="en-US" sz="1050" dirty="0"/>
          </a:p>
        </p:txBody>
      </p:sp>
      <p:sp>
        <p:nvSpPr>
          <p:cNvPr id="22" name="Text 20"/>
          <p:cNvSpPr txBox="1"/>
          <p:nvPr/>
        </p:nvSpPr>
        <p:spPr>
          <a:xfrm>
            <a:off x="9421063" y="2276856"/>
            <a:ext cx="365760" cy="182880"/>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23" name="Shape 21"/>
          <p:cNvSpPr/>
          <p:nvPr/>
        </p:nvSpPr>
        <p:spPr>
          <a:xfrm>
            <a:off x="7583119" y="2459736"/>
            <a:ext cx="4041648" cy="566928"/>
          </a:xfrm>
          <a:prstGeom prst="roundRect">
            <a:avLst>
              <a:gd name="adj" fmla="val 19355"/>
            </a:avLst>
          </a:prstGeom>
          <a:solidFill>
            <a:srgbClr val="161F30"/>
          </a:solidFill>
          <a:ln w="12700">
            <a:solidFill>
              <a:srgbClr val="2C3A54"/>
            </a:solidFill>
            <a:prstDash val="solid"/>
          </a:ln>
        </p:spPr>
      </p:sp>
      <p:sp>
        <p:nvSpPr>
          <p:cNvPr id="24" name="Text 22"/>
          <p:cNvSpPr txBox="1"/>
          <p:nvPr/>
        </p:nvSpPr>
        <p:spPr>
          <a:xfrm>
            <a:off x="7637983" y="2459736"/>
            <a:ext cx="3931920" cy="566928"/>
          </a:xfrm>
          <a:prstGeom prst="rect">
            <a:avLst/>
          </a:prstGeom>
          <a:noFill/>
          <a:ln/>
        </p:spPr>
        <p:txBody>
          <a:bodyPr wrap="square" lIns="0" tIns="0" rIns="0" bIns="0" rtlCol="0" anchor="ctr"/>
          <a:lstStyle/>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Seats and beauticians</a:t>
            </a:r>
            <a:endParaRPr lang="en-US" sz="1050" dirty="0"/>
          </a:p>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 per-person working hours</a:t>
            </a:r>
            <a:endParaRPr lang="en-US" sz="1050" dirty="0"/>
          </a:p>
        </p:txBody>
      </p:sp>
      <p:sp>
        <p:nvSpPr>
          <p:cNvPr id="25" name="Text 23"/>
          <p:cNvSpPr txBox="1"/>
          <p:nvPr/>
        </p:nvSpPr>
        <p:spPr>
          <a:xfrm>
            <a:off x="9421063" y="3054096"/>
            <a:ext cx="365760" cy="182880"/>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26" name="Shape 24"/>
          <p:cNvSpPr/>
          <p:nvPr/>
        </p:nvSpPr>
        <p:spPr>
          <a:xfrm>
            <a:off x="7583119" y="3236976"/>
            <a:ext cx="4041648" cy="566928"/>
          </a:xfrm>
          <a:prstGeom prst="roundRect">
            <a:avLst>
              <a:gd name="adj" fmla="val 19355"/>
            </a:avLst>
          </a:prstGeom>
          <a:solidFill>
            <a:srgbClr val="161F30"/>
          </a:solidFill>
          <a:ln w="12700">
            <a:solidFill>
              <a:srgbClr val="2C3A54"/>
            </a:solidFill>
            <a:prstDash val="solid"/>
          </a:ln>
        </p:spPr>
      </p:sp>
      <p:sp>
        <p:nvSpPr>
          <p:cNvPr id="27" name="Text 25"/>
          <p:cNvSpPr txBox="1"/>
          <p:nvPr/>
        </p:nvSpPr>
        <p:spPr>
          <a:xfrm>
            <a:off x="7637983" y="3236976"/>
            <a:ext cx="3931920" cy="566928"/>
          </a:xfrm>
          <a:prstGeom prst="rect">
            <a:avLst/>
          </a:prstGeom>
          <a:noFill/>
          <a:ln/>
        </p:spPr>
        <p:txBody>
          <a:bodyPr wrap="square" lIns="0" tIns="0" rIns="0" bIns="0" rtlCol="0" anchor="ctr"/>
          <a:lstStyle/>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Full appointment register</a:t>
            </a:r>
            <a:endParaRPr lang="en-US" sz="1050" dirty="0"/>
          </a:p>
        </p:txBody>
      </p:sp>
      <p:sp>
        <p:nvSpPr>
          <p:cNvPr id="28" name="Text 26"/>
          <p:cNvSpPr txBox="1"/>
          <p:nvPr/>
        </p:nvSpPr>
        <p:spPr>
          <a:xfrm>
            <a:off x="9421063" y="3831336"/>
            <a:ext cx="365760" cy="182880"/>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29" name="Shape 27"/>
          <p:cNvSpPr/>
          <p:nvPr/>
        </p:nvSpPr>
        <p:spPr>
          <a:xfrm>
            <a:off x="7583119" y="4014216"/>
            <a:ext cx="4041648" cy="566928"/>
          </a:xfrm>
          <a:prstGeom prst="roundRect">
            <a:avLst>
              <a:gd name="adj" fmla="val 19355"/>
            </a:avLst>
          </a:prstGeom>
          <a:solidFill>
            <a:srgbClr val="161F30"/>
          </a:solidFill>
          <a:ln w="12700">
            <a:solidFill>
              <a:srgbClr val="2C3A54"/>
            </a:solidFill>
            <a:prstDash val="solid"/>
          </a:ln>
        </p:spPr>
      </p:sp>
      <p:sp>
        <p:nvSpPr>
          <p:cNvPr id="30" name="Text 28"/>
          <p:cNvSpPr txBox="1"/>
          <p:nvPr/>
        </p:nvSpPr>
        <p:spPr>
          <a:xfrm>
            <a:off x="7637983" y="4014216"/>
            <a:ext cx="3931920" cy="566928"/>
          </a:xfrm>
          <a:prstGeom prst="rect">
            <a:avLst/>
          </a:prstGeom>
          <a:noFill/>
          <a:ln/>
        </p:spPr>
        <p:txBody>
          <a:bodyPr wrap="square" lIns="0" tIns="0" rIns="0" bIns="0" rtlCol="0" anchor="ctr"/>
          <a:lstStyle/>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Status: BOOKED → CONFIRMED →</a:t>
            </a:r>
            <a:endParaRPr lang="en-US" sz="1050" dirty="0"/>
          </a:p>
          <a:p>
            <a:pPr algn="ctr" indent="0" marL="0">
              <a:lnSpc>
                <a:spcPct val="92000"/>
              </a:lnSpc>
              <a:buNone/>
            </a:pPr>
            <a:r>
              <a:rPr lang="en-US" sz="1050" b="1" dirty="0">
                <a:solidFill>
                  <a:srgbClr val="FFFFFF"/>
                </a:solidFill>
                <a:latin typeface="Calibri" pitchFamily="34" charset="0"/>
                <a:ea typeface="Calibri" pitchFamily="34" charset="-122"/>
                <a:cs typeface="Calibri" pitchFamily="34" charset="-120"/>
              </a:rPr>
              <a:t>IN_PROGRESS → DONE / NO_SHOW</a:t>
            </a:r>
            <a:endParaRPr lang="en-US" sz="1050" dirty="0"/>
          </a:p>
        </p:txBody>
      </p:sp>
      <p:sp>
        <p:nvSpPr>
          <p:cNvPr id="31" name="Text 29"/>
          <p:cNvSpPr txBox="1"/>
          <p:nvPr/>
        </p:nvSpPr>
        <p:spPr>
          <a:xfrm>
            <a:off x="9421063" y="4608576"/>
            <a:ext cx="365760" cy="182880"/>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32" name="Shape 30"/>
          <p:cNvSpPr/>
          <p:nvPr/>
        </p:nvSpPr>
        <p:spPr>
          <a:xfrm>
            <a:off x="7583119" y="4791456"/>
            <a:ext cx="4041648" cy="566928"/>
          </a:xfrm>
          <a:prstGeom prst="roundRect">
            <a:avLst>
              <a:gd name="adj" fmla="val 19355"/>
            </a:avLst>
          </a:prstGeom>
          <a:solidFill>
            <a:srgbClr val="1D2740"/>
          </a:solidFill>
          <a:ln w="12700">
            <a:solidFill>
              <a:srgbClr val="2C3A54"/>
            </a:solidFill>
            <a:prstDash val="solid"/>
          </a:ln>
        </p:spPr>
      </p:sp>
      <p:sp>
        <p:nvSpPr>
          <p:cNvPr id="33" name="Text 31"/>
          <p:cNvSpPr txBox="1"/>
          <p:nvPr/>
        </p:nvSpPr>
        <p:spPr>
          <a:xfrm>
            <a:off x="7637983" y="4791456"/>
            <a:ext cx="3931920" cy="566928"/>
          </a:xfrm>
          <a:prstGeom prst="rect">
            <a:avLst/>
          </a:prstGeom>
          <a:noFill/>
          <a:ln/>
        </p:spPr>
        <p:txBody>
          <a:bodyPr wrap="square" lIns="0" tIns="0" rIns="0" bIns="0" rtlCol="0" anchor="ctr"/>
          <a:lstStyle/>
          <a:p>
            <a:pPr algn="ctr" indent="0" marL="0">
              <a:lnSpc>
                <a:spcPct val="92000"/>
              </a:lnSpc>
              <a:buNone/>
            </a:pPr>
            <a:r>
              <a:rPr lang="en-US" sz="1050" b="1" dirty="0">
                <a:solidFill>
                  <a:srgbClr val="5FD4BE"/>
                </a:solidFill>
                <a:latin typeface="Calibri" pitchFamily="34" charset="0"/>
                <a:ea typeface="Calibri" pitchFamily="34" charset="-122"/>
                <a:cs typeface="Calibri" pitchFamily="34" charset="-120"/>
              </a:rPr>
              <a:t>Payment, income,</a:t>
            </a:r>
            <a:endParaRPr lang="en-US" sz="1050" dirty="0"/>
          </a:p>
          <a:p>
            <a:pPr algn="ctr" indent="0" marL="0">
              <a:lnSpc>
                <a:spcPct val="92000"/>
              </a:lnSpc>
              <a:buNone/>
            </a:pPr>
            <a:r>
              <a:rPr lang="en-US" sz="1050" b="1" dirty="0">
                <a:solidFill>
                  <a:srgbClr val="5FD4BE"/>
                </a:solidFill>
                <a:latin typeface="Calibri" pitchFamily="34" charset="0"/>
                <a:ea typeface="Calibri" pitchFamily="34" charset="-122"/>
                <a:cs typeface="Calibri" pitchFamily="34" charset="-120"/>
              </a:rPr>
              <a:t>analytics</a:t>
            </a:r>
            <a:endParaRPr lang="en-US" sz="1050" dirty="0"/>
          </a:p>
        </p:txBody>
      </p:sp>
      <p:sp>
        <p:nvSpPr>
          <p:cNvPr id="34" name="Shape 32"/>
          <p:cNvSpPr/>
          <p:nvPr/>
        </p:nvSpPr>
        <p:spPr>
          <a:xfrm>
            <a:off x="5010912" y="1682496"/>
            <a:ext cx="2169871" cy="3383280"/>
          </a:xfrm>
          <a:prstGeom prst="roundRect">
            <a:avLst>
              <a:gd name="adj" fmla="val 4214"/>
            </a:avLst>
          </a:prstGeom>
          <a:solidFill>
            <a:srgbClr val="1D2740"/>
          </a:solidFill>
          <a:ln w="16510">
            <a:solidFill>
              <a:srgbClr val="F5C451"/>
            </a:solidFill>
            <a:prstDash val="solid"/>
          </a:ln>
        </p:spPr>
      </p:sp>
      <p:sp>
        <p:nvSpPr>
          <p:cNvPr id="35" name="Text 33"/>
          <p:cNvSpPr txBox="1"/>
          <p:nvPr/>
        </p:nvSpPr>
        <p:spPr>
          <a:xfrm>
            <a:off x="5175504" y="1828800"/>
            <a:ext cx="1840687" cy="219456"/>
          </a:xfrm>
          <a:prstGeom prst="rect">
            <a:avLst/>
          </a:prstGeom>
          <a:noFill/>
          <a:ln/>
        </p:spPr>
        <p:txBody>
          <a:bodyPr wrap="square" lIns="0" tIns="0" rIns="0" bIns="0" rtlCol="0" anchor="ctr"/>
          <a:lstStyle/>
          <a:p>
            <a:pPr indent="0" marL="0">
              <a:buNone/>
            </a:pPr>
            <a:r>
              <a:rPr lang="en-US" sz="1000" b="1" spc="140" kern="0" dirty="0">
                <a:solidFill>
                  <a:srgbClr val="F5C451"/>
                </a:solidFill>
                <a:latin typeface="Calibri" pitchFamily="34" charset="0"/>
                <a:ea typeface="Calibri" pitchFamily="34" charset="-122"/>
                <a:cs typeface="Calibri" pitchFamily="34" charset="-120"/>
              </a:rPr>
              <a:t>POSTGRESQL</a:t>
            </a:r>
            <a:endParaRPr lang="en-US" sz="1000" dirty="0"/>
          </a:p>
        </p:txBody>
      </p:sp>
      <p:sp>
        <p:nvSpPr>
          <p:cNvPr id="36" name="Text 34"/>
          <p:cNvSpPr txBox="1"/>
          <p:nvPr/>
        </p:nvSpPr>
        <p:spPr>
          <a:xfrm>
            <a:off x="5175504" y="2103120"/>
            <a:ext cx="1840687" cy="402336"/>
          </a:xfrm>
          <a:prstGeom prst="rect">
            <a:avLst/>
          </a:prstGeom>
          <a:noFill/>
          <a:ln/>
        </p:spPr>
        <p:txBody>
          <a:bodyPr wrap="square" lIns="0" tIns="0" rIns="0" bIns="0" rtlCol="0" anchor="ctr"/>
          <a:lstStyle/>
          <a:p>
            <a:pPr algn="l" indent="0" marL="0">
              <a:lnSpc>
                <a:spcPct val="95000"/>
              </a:lnSpc>
              <a:buNone/>
            </a:pPr>
            <a:r>
              <a:rPr lang="en-US" sz="1000" b="1" dirty="0">
                <a:solidFill>
                  <a:srgbClr val="FFFFFF"/>
                </a:solidFill>
                <a:latin typeface="Calibri" pitchFamily="34" charset="0"/>
                <a:ea typeface="Calibri" pitchFamily="34" charset="-122"/>
                <a:cs typeface="Calibri" pitchFamily="34" charset="-120"/>
              </a:rPr>
              <a:t>Slots are COMPUTED,</a:t>
            </a:r>
            <a:endParaRPr lang="en-US" sz="1000" dirty="0"/>
          </a:p>
          <a:p>
            <a:pPr algn="l" indent="0" marL="0">
              <a:lnSpc>
                <a:spcPct val="95000"/>
              </a:lnSpc>
              <a:buNone/>
            </a:pPr>
            <a:r>
              <a:rPr lang="en-US" sz="1000" b="1" dirty="0">
                <a:solidFill>
                  <a:srgbClr val="FFFFFF"/>
                </a:solidFill>
                <a:latin typeface="Calibri" pitchFamily="34" charset="0"/>
                <a:ea typeface="Calibri" pitchFamily="34" charset="-122"/>
                <a:cs typeface="Calibri" pitchFamily="34" charset="-120"/>
              </a:rPr>
              <a:t>never a stored list:</a:t>
            </a:r>
            <a:endParaRPr lang="en-US" sz="1000" dirty="0"/>
          </a:p>
        </p:txBody>
      </p:sp>
      <p:sp>
        <p:nvSpPr>
          <p:cNvPr id="37" name="Text 35"/>
          <p:cNvSpPr txBox="1"/>
          <p:nvPr/>
        </p:nvSpPr>
        <p:spPr>
          <a:xfrm>
            <a:off x="5175504" y="2578608"/>
            <a:ext cx="1840687" cy="219456"/>
          </a:xfrm>
          <a:prstGeom prst="rect">
            <a:avLst/>
          </a:prstGeom>
          <a:noFill/>
          <a:ln/>
        </p:spPr>
        <p:txBody>
          <a:bodyPr wrap="square" lIns="0" tIns="0" rIns="0" bIns="0" rtlCol="0" anchor="ctr"/>
          <a:lstStyle/>
          <a:p>
            <a:pPr algn="l" indent="0" marL="0">
              <a:lnSpc>
                <a:spcPct val="112000"/>
              </a:lnSpc>
              <a:buNone/>
            </a:pPr>
            <a:r>
              <a:rPr lang="en-US" sz="950" dirty="0">
                <a:solidFill>
                  <a:srgbClr val="94A6C4"/>
                </a:solidFill>
                <a:latin typeface="Calibri" pitchFamily="34" charset="0"/>
                <a:ea typeface="Calibri" pitchFamily="34" charset="-122"/>
                <a:cs typeface="Calibri" pitchFamily="34" charset="-120"/>
              </a:rPr>
              <a:t>service duration</a:t>
            </a:r>
            <a:endParaRPr lang="en-US" sz="950" dirty="0"/>
          </a:p>
        </p:txBody>
      </p:sp>
      <p:sp>
        <p:nvSpPr>
          <p:cNvPr id="38" name="Text 36"/>
          <p:cNvSpPr txBox="1"/>
          <p:nvPr/>
        </p:nvSpPr>
        <p:spPr>
          <a:xfrm>
            <a:off x="5175504" y="2834640"/>
            <a:ext cx="1840687" cy="219456"/>
          </a:xfrm>
          <a:prstGeom prst="rect">
            <a:avLst/>
          </a:prstGeom>
          <a:noFill/>
          <a:ln/>
        </p:spPr>
        <p:txBody>
          <a:bodyPr wrap="square" lIns="0" tIns="0" rIns="0" bIns="0" rtlCol="0" anchor="ctr"/>
          <a:lstStyle/>
          <a:p>
            <a:pPr algn="l" indent="0" marL="0">
              <a:lnSpc>
                <a:spcPct val="112000"/>
              </a:lnSpc>
              <a:buNone/>
            </a:pPr>
            <a:r>
              <a:rPr lang="en-US" sz="950" dirty="0">
                <a:solidFill>
                  <a:srgbClr val="94A6C4"/>
                </a:solidFill>
                <a:latin typeface="Calibri" pitchFamily="34" charset="0"/>
                <a:ea typeface="Calibri" pitchFamily="34" charset="-122"/>
                <a:cs typeface="Calibri" pitchFamily="34" charset="-120"/>
              </a:rPr>
              <a:t>×  staff who can perform it</a:t>
            </a:r>
            <a:endParaRPr lang="en-US" sz="950" dirty="0"/>
          </a:p>
        </p:txBody>
      </p:sp>
      <p:sp>
        <p:nvSpPr>
          <p:cNvPr id="39" name="Text 37"/>
          <p:cNvSpPr txBox="1"/>
          <p:nvPr/>
        </p:nvSpPr>
        <p:spPr>
          <a:xfrm>
            <a:off x="5175504" y="3090672"/>
            <a:ext cx="1840687" cy="219456"/>
          </a:xfrm>
          <a:prstGeom prst="rect">
            <a:avLst/>
          </a:prstGeom>
          <a:noFill/>
          <a:ln/>
        </p:spPr>
        <p:txBody>
          <a:bodyPr wrap="square" lIns="0" tIns="0" rIns="0" bIns="0" rtlCol="0" anchor="ctr"/>
          <a:lstStyle/>
          <a:p>
            <a:pPr algn="l" indent="0" marL="0">
              <a:lnSpc>
                <a:spcPct val="112000"/>
              </a:lnSpc>
              <a:buNone/>
            </a:pPr>
            <a:r>
              <a:rPr lang="en-US" sz="950" dirty="0">
                <a:solidFill>
                  <a:srgbClr val="94A6C4"/>
                </a:solidFill>
                <a:latin typeface="Calibri" pitchFamily="34" charset="0"/>
                <a:ea typeface="Calibri" pitchFamily="34" charset="-122"/>
                <a:cs typeface="Calibri" pitchFamily="34" charset="-120"/>
              </a:rPr>
              <a:t>×  that staff's hours that day</a:t>
            </a:r>
            <a:endParaRPr lang="en-US" sz="950" dirty="0"/>
          </a:p>
        </p:txBody>
      </p:sp>
      <p:sp>
        <p:nvSpPr>
          <p:cNvPr id="40" name="Text 38"/>
          <p:cNvSpPr txBox="1"/>
          <p:nvPr/>
        </p:nvSpPr>
        <p:spPr>
          <a:xfrm>
            <a:off x="5175504" y="3346704"/>
            <a:ext cx="1840687" cy="219456"/>
          </a:xfrm>
          <a:prstGeom prst="rect">
            <a:avLst/>
          </a:prstGeom>
          <a:noFill/>
          <a:ln/>
        </p:spPr>
        <p:txBody>
          <a:bodyPr wrap="square" lIns="0" tIns="0" rIns="0" bIns="0" rtlCol="0" anchor="ctr"/>
          <a:lstStyle/>
          <a:p>
            <a:pPr algn="l" indent="0" marL="0">
              <a:lnSpc>
                <a:spcPct val="112000"/>
              </a:lnSpc>
              <a:buNone/>
            </a:pPr>
            <a:r>
              <a:rPr lang="en-US" sz="950" dirty="0">
                <a:solidFill>
                  <a:srgbClr val="94A6C4"/>
                </a:solidFill>
                <a:latin typeface="Calibri" pitchFamily="34" charset="0"/>
                <a:ea typeface="Calibri" pitchFamily="34" charset="-122"/>
                <a:cs typeface="Calibri" pitchFamily="34" charset="-120"/>
              </a:rPr>
              <a:t>×  existing appointments</a:t>
            </a:r>
            <a:endParaRPr lang="en-US" sz="950" dirty="0"/>
          </a:p>
        </p:txBody>
      </p:sp>
      <p:sp>
        <p:nvSpPr>
          <p:cNvPr id="41" name="Shape 39"/>
          <p:cNvSpPr/>
          <p:nvPr/>
        </p:nvSpPr>
        <p:spPr>
          <a:xfrm>
            <a:off x="5138928" y="3712464"/>
            <a:ext cx="1913839" cy="1225296"/>
          </a:xfrm>
          <a:prstGeom prst="roundRect">
            <a:avLst>
              <a:gd name="adj" fmla="val 7463"/>
            </a:avLst>
          </a:prstGeom>
          <a:solidFill>
            <a:srgbClr val="241C0A"/>
          </a:solidFill>
          <a:ln w="13970">
            <a:solidFill>
              <a:srgbClr val="F5C451"/>
            </a:solidFill>
            <a:prstDash val="solid"/>
          </a:ln>
        </p:spPr>
      </p:sp>
      <p:sp>
        <p:nvSpPr>
          <p:cNvPr id="42" name="Text 40"/>
          <p:cNvSpPr txBox="1"/>
          <p:nvPr/>
        </p:nvSpPr>
        <p:spPr>
          <a:xfrm>
            <a:off x="5266944" y="3822192"/>
            <a:ext cx="1657807" cy="219456"/>
          </a:xfrm>
          <a:prstGeom prst="rect">
            <a:avLst/>
          </a:prstGeom>
          <a:noFill/>
          <a:ln/>
        </p:spPr>
        <p:txBody>
          <a:bodyPr wrap="square" lIns="0" tIns="0" rIns="0" bIns="0" rtlCol="0" anchor="ctr"/>
          <a:lstStyle/>
          <a:p>
            <a:pPr indent="0" marL="0">
              <a:buNone/>
            </a:pPr>
            <a:r>
              <a:rPr lang="en-US" sz="900" b="1" spc="140" kern="0" dirty="0">
                <a:solidFill>
                  <a:srgbClr val="F5C451"/>
                </a:solidFill>
                <a:latin typeface="Calibri" pitchFamily="34" charset="0"/>
                <a:ea typeface="Calibri" pitchFamily="34" charset="-122"/>
                <a:cs typeface="Calibri" pitchFamily="34" charset="-120"/>
              </a:rPr>
              <a:t>appointments_no_overlap</a:t>
            </a:r>
            <a:endParaRPr lang="en-US" sz="900" dirty="0"/>
          </a:p>
        </p:txBody>
      </p:sp>
      <p:sp>
        <p:nvSpPr>
          <p:cNvPr id="43" name="Text 41"/>
          <p:cNvSpPr txBox="1"/>
          <p:nvPr/>
        </p:nvSpPr>
        <p:spPr>
          <a:xfrm>
            <a:off x="5266944" y="4059936"/>
            <a:ext cx="1657807" cy="402336"/>
          </a:xfrm>
          <a:prstGeom prst="rect">
            <a:avLst/>
          </a:prstGeom>
          <a:noFill/>
          <a:ln/>
        </p:spPr>
        <p:txBody>
          <a:bodyPr wrap="square" lIns="0" tIns="0" rIns="0" bIns="0" rtlCol="0" anchor="ctr"/>
          <a:lstStyle/>
          <a:p>
            <a:pPr algn="l" indent="0" marL="0">
              <a:lnSpc>
                <a:spcPct val="95000"/>
              </a:lnSpc>
              <a:buNone/>
            </a:pPr>
            <a:r>
              <a:rPr lang="en-US" sz="900" dirty="0">
                <a:solidFill>
                  <a:srgbClr val="FFFFFF"/>
                </a:solidFill>
                <a:latin typeface="Calibri" pitchFamily="34" charset="0"/>
                <a:ea typeface="Calibri" pitchFamily="34" charset="-122"/>
                <a:cs typeface="Calibri" pitchFamily="34" charset="-120"/>
              </a:rPr>
              <a:t>EXCLUDE USING gist</a:t>
            </a:r>
            <a:endParaRPr lang="en-US" sz="900" dirty="0"/>
          </a:p>
          <a:p>
            <a:pPr algn="l" indent="0" marL="0">
              <a:lnSpc>
                <a:spcPct val="95000"/>
              </a:lnSpc>
              <a:buNone/>
            </a:pPr>
            <a:r>
              <a:rPr lang="en-US" sz="900" dirty="0">
                <a:solidFill>
                  <a:srgbClr val="FFFFFF"/>
                </a:solidFill>
                <a:latin typeface="Calibri" pitchFamily="34" charset="0"/>
                <a:ea typeface="Calibri" pitchFamily="34" charset="-122"/>
                <a:cs typeface="Calibri" pitchFamily="34" charset="-120"/>
              </a:rPr>
              <a:t>(staff_id, time range)</a:t>
            </a:r>
            <a:endParaRPr lang="en-US" sz="900" dirty="0"/>
          </a:p>
        </p:txBody>
      </p:sp>
      <p:sp>
        <p:nvSpPr>
          <p:cNvPr id="44" name="Text 42"/>
          <p:cNvSpPr txBox="1"/>
          <p:nvPr/>
        </p:nvSpPr>
        <p:spPr>
          <a:xfrm>
            <a:off x="5266944" y="4498848"/>
            <a:ext cx="1657807" cy="402336"/>
          </a:xfrm>
          <a:prstGeom prst="rect">
            <a:avLst/>
          </a:prstGeom>
          <a:noFill/>
          <a:ln/>
        </p:spPr>
        <p:txBody>
          <a:bodyPr wrap="square" lIns="0" tIns="0" rIns="0" bIns="0" rtlCol="0" anchor="ctr"/>
          <a:lstStyle/>
          <a:p>
            <a:pPr algn="l" indent="0" marL="0">
              <a:lnSpc>
                <a:spcPct val="95000"/>
              </a:lnSpc>
              <a:buNone/>
            </a:pPr>
            <a:r>
              <a:rPr lang="en-US" sz="900" b="1" dirty="0">
                <a:solidFill>
                  <a:srgbClr val="F5C451"/>
                </a:solidFill>
                <a:latin typeface="Calibri" pitchFamily="34" charset="0"/>
                <a:ea typeface="Calibri" pitchFamily="34" charset="-122"/>
                <a:cs typeface="Calibri" pitchFamily="34" charset="-120"/>
              </a:rPr>
              <a:t>A double booking cannot</a:t>
            </a:r>
            <a:endParaRPr lang="en-US" sz="900" dirty="0"/>
          </a:p>
          <a:p>
            <a:pPr algn="l" indent="0" marL="0">
              <a:lnSpc>
                <a:spcPct val="95000"/>
              </a:lnSpc>
              <a:buNone/>
            </a:pPr>
            <a:r>
              <a:rPr lang="en-US" sz="900" b="1" dirty="0">
                <a:solidFill>
                  <a:srgbClr val="F5C451"/>
                </a:solidFill>
                <a:latin typeface="Calibri" pitchFamily="34" charset="0"/>
                <a:ea typeface="Calibri" pitchFamily="34" charset="-122"/>
                <a:cs typeface="Calibri" pitchFamily="34" charset="-120"/>
              </a:rPr>
              <a:t>be inserted. Not unlikely —</a:t>
            </a:r>
            <a:endParaRPr lang="en-US" sz="900" dirty="0"/>
          </a:p>
          <a:p>
            <a:pPr algn="l" indent="0" marL="0">
              <a:lnSpc>
                <a:spcPct val="95000"/>
              </a:lnSpc>
              <a:buNone/>
            </a:pPr>
            <a:r>
              <a:rPr lang="en-US" sz="900" b="1" dirty="0">
                <a:solidFill>
                  <a:srgbClr val="F5C451"/>
                </a:solidFill>
                <a:latin typeface="Calibri" pitchFamily="34" charset="0"/>
                <a:ea typeface="Calibri" pitchFamily="34" charset="-122"/>
                <a:cs typeface="Calibri" pitchFamily="34" charset="-120"/>
              </a:rPr>
              <a:t>impossible.</a:t>
            </a:r>
            <a:endParaRPr lang="en-US" sz="900" dirty="0"/>
          </a:p>
        </p:txBody>
      </p:sp>
      <p:sp>
        <p:nvSpPr>
          <p:cNvPr id="45" name="Shape 43"/>
          <p:cNvSpPr/>
          <p:nvPr/>
        </p:nvSpPr>
        <p:spPr>
          <a:xfrm>
            <a:off x="566928" y="5285232"/>
            <a:ext cx="11057839" cy="749808"/>
          </a:xfrm>
          <a:prstGeom prst="roundRect">
            <a:avLst>
              <a:gd name="adj" fmla="val 12195"/>
            </a:avLst>
          </a:prstGeom>
          <a:solidFill>
            <a:srgbClr val="161F30"/>
          </a:solidFill>
          <a:ln w="12700">
            <a:solidFill>
              <a:srgbClr val="2C3A54"/>
            </a:solidFill>
            <a:prstDash val="solid"/>
          </a:ln>
        </p:spPr>
      </p:sp>
      <p:sp>
        <p:nvSpPr>
          <p:cNvPr id="46" name="Text 44"/>
          <p:cNvSpPr txBox="1"/>
          <p:nvPr/>
        </p:nvSpPr>
        <p:spPr>
          <a:xfrm>
            <a:off x="841248" y="5413248"/>
            <a:ext cx="4023360" cy="219456"/>
          </a:xfrm>
          <a:prstGeom prst="rect">
            <a:avLst/>
          </a:prstGeom>
          <a:noFill/>
          <a:ln/>
        </p:spPr>
        <p:txBody>
          <a:bodyPr wrap="square" lIns="0" tIns="0" rIns="0" bIns="0" rtlCol="0" anchor="ctr"/>
          <a:lstStyle/>
          <a:p>
            <a:pPr indent="0" marL="0">
              <a:buNone/>
            </a:pPr>
            <a:r>
              <a:rPr lang="en-US" sz="1000" b="1" spc="140" kern="0" dirty="0">
                <a:solidFill>
                  <a:srgbClr val="5FD4BE"/>
                </a:solidFill>
                <a:latin typeface="Calibri" pitchFamily="34" charset="0"/>
                <a:ea typeface="Calibri" pitchFamily="34" charset="-122"/>
                <a:cs typeface="Calibri" pitchFamily="34" charset="-120"/>
              </a:rPr>
              <a:t>THE ARCHITECTURAL POINT</a:t>
            </a:r>
            <a:endParaRPr lang="en-US" sz="1000" dirty="0"/>
          </a:p>
        </p:txBody>
      </p:sp>
      <p:sp>
        <p:nvSpPr>
          <p:cNvPr id="47" name="Text 45"/>
          <p:cNvSpPr txBox="1"/>
          <p:nvPr/>
        </p:nvSpPr>
        <p:spPr>
          <a:xfrm>
            <a:off x="841248" y="5650992"/>
            <a:ext cx="10509199"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Different booking model. Identical money, loyalty, referral and analytics layer.</a:t>
            </a:r>
            <a:endParaRPr lang="en-US" sz="1250" dirty="0"/>
          </a:p>
        </p:txBody>
      </p:sp>
      <p:sp>
        <p:nvSpPr>
          <p:cNvPr id="48" name="Text 46"/>
          <p:cNvSpPr txBox="1"/>
          <p:nvPr/>
        </p:nvSpPr>
        <p:spPr>
          <a:xfrm>
            <a:off x="566928" y="6254496"/>
            <a:ext cx="11057839" cy="365760"/>
          </a:xfrm>
          <a:prstGeom prst="rect">
            <a:avLst/>
          </a:prstGeom>
          <a:noFill/>
          <a:ln/>
        </p:spPr>
        <p:txBody>
          <a:bodyPr wrap="square" lIns="0" tIns="0" rIns="0" bIns="0" rtlCol="0" anchor="ctr"/>
          <a:lstStyle/>
          <a:p>
            <a:pPr indent="0" marL="0">
              <a:buNone/>
            </a:pPr>
            <a:r>
              <a:rPr lang="en-US" sz="1000" dirty="0">
                <a:solidFill>
                  <a:srgbClr val="6D7F9C"/>
                </a:solidFill>
                <a:latin typeface="Courier New" pitchFamily="34" charset="0"/>
                <a:ea typeface="Courier New" pitchFamily="34" charset="-122"/>
                <a:cs typeface="Courier New" pitchFamily="34" charset="-120"/>
              </a:rPr>
              <a:t>appointment_before_insert deliberately does NOT check is_open — and the code comment says why.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11C"/>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00" kern="0" dirty="0">
                <a:solidFill>
                  <a:srgbClr val="5FD4BE"/>
                </a:solidFill>
                <a:latin typeface="Calibri" pitchFamily="34" charset="0"/>
                <a:ea typeface="Calibri" pitchFamily="34" charset="-122"/>
                <a:cs typeface="Calibri" pitchFamily="34" charset="-120"/>
              </a:rPr>
              <a:t>BEAUTY PARLOUR — CUSTOMER EXPERIENCE</a:t>
            </a:r>
            <a:endParaRPr lang="en-US" sz="1200" dirty="0"/>
          </a:p>
        </p:txBody>
      </p:sp>
      <p:sp>
        <p:nvSpPr>
          <p:cNvPr id="3" name="Text 1"/>
          <p:cNvSpPr txBox="1"/>
          <p:nvPr/>
        </p:nvSpPr>
        <p:spPr>
          <a:xfrm>
            <a:off x="566928" y="621792"/>
            <a:ext cx="11057839" cy="585216"/>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Service → Date → Time slot → Confirmed</a:t>
            </a:r>
            <a:endParaRPr lang="en-US" sz="3000" dirty="0"/>
          </a:p>
        </p:txBody>
      </p:sp>
      <p:sp>
        <p:nvSpPr>
          <p:cNvPr id="4" name="Shape 2"/>
          <p:cNvSpPr/>
          <p:nvPr/>
        </p:nvSpPr>
        <p:spPr>
          <a:xfrm>
            <a:off x="566928" y="1536192"/>
            <a:ext cx="2395728" cy="3749040"/>
          </a:xfrm>
          <a:prstGeom prst="roundRect">
            <a:avLst>
              <a:gd name="adj" fmla="val 6107"/>
            </a:avLst>
          </a:prstGeom>
          <a:solidFill>
            <a:srgbClr val="161F30"/>
          </a:solidFill>
          <a:ln w="15875">
            <a:solidFill>
              <a:srgbClr val="2C3A54"/>
            </a:solidFill>
            <a:prstDash val="solid"/>
          </a:ln>
        </p:spPr>
      </p:sp>
      <p:sp>
        <p:nvSpPr>
          <p:cNvPr id="5" name="Shape 3"/>
          <p:cNvSpPr/>
          <p:nvPr/>
        </p:nvSpPr>
        <p:spPr>
          <a:xfrm>
            <a:off x="1563624" y="1618488"/>
            <a:ext cx="402336" cy="64008"/>
          </a:xfrm>
          <a:prstGeom prst="roundRect">
            <a:avLst>
              <a:gd name="adj" fmla="val 50000"/>
            </a:avLst>
          </a:prstGeom>
          <a:solidFill>
            <a:srgbClr val="2C3A54"/>
          </a:solidFill>
          <a:ln w="12700">
            <a:solidFill>
              <a:srgbClr val="2C3A54"/>
            </a:solidFill>
            <a:prstDash val="solid"/>
          </a:ln>
        </p:spPr>
      </p:sp>
      <p:sp>
        <p:nvSpPr>
          <p:cNvPr id="6" name="Text 4"/>
          <p:cNvSpPr txBox="1"/>
          <p:nvPr/>
        </p:nvSpPr>
        <p:spPr>
          <a:xfrm>
            <a:off x="566928" y="5340096"/>
            <a:ext cx="2395728" cy="201168"/>
          </a:xfrm>
          <a:prstGeom prst="rect">
            <a:avLst/>
          </a:prstGeom>
          <a:noFill/>
          <a:ln/>
        </p:spPr>
        <p:txBody>
          <a:bodyPr wrap="square" lIns="0" tIns="0" rIns="0" bIns="0" rtlCol="0" anchor="ctr"/>
          <a:lstStyle/>
          <a:p>
            <a:pPr algn="ctr" indent="0" marL="0">
              <a:buNone/>
            </a:pPr>
            <a:r>
              <a:rPr lang="en-US" sz="900" dirty="0">
                <a:solidFill>
                  <a:srgbClr val="5FD4BE"/>
                </a:solidFill>
                <a:latin typeface="Courier New" pitchFamily="34" charset="0"/>
                <a:ea typeface="Courier New" pitchFamily="34" charset="-122"/>
                <a:cs typeface="Courier New" pitchFamily="34" charset="-120"/>
              </a:rPr>
              <a:t>/explore</a:t>
            </a:r>
            <a:endParaRPr lang="en-US" sz="900" dirty="0"/>
          </a:p>
        </p:txBody>
      </p:sp>
      <p:sp>
        <p:nvSpPr>
          <p:cNvPr id="7" name="Text 5"/>
          <p:cNvSpPr txBox="1"/>
          <p:nvPr/>
        </p:nvSpPr>
        <p:spPr>
          <a:xfrm>
            <a:off x="566928" y="5559552"/>
            <a:ext cx="2395728" cy="219456"/>
          </a:xfrm>
          <a:prstGeom prst="rect">
            <a:avLst/>
          </a:prstGeom>
          <a:noFill/>
          <a:ln/>
        </p:spPr>
        <p:txBody>
          <a:bodyPr wrap="square" lIns="0" tIns="0" rIns="0" bIns="0" rtlCol="0" anchor="ctr"/>
          <a:lstStyle/>
          <a:p>
            <a:pPr indent="0" marL="0">
              <a:buNone/>
            </a:pPr>
            <a:r>
              <a:rPr lang="en-US" sz="1000" b="1" spc="140" kern="0" dirty="0">
                <a:solidFill>
                  <a:srgbClr val="5FD4BE"/>
                </a:solidFill>
                <a:latin typeface="Calibri" pitchFamily="34" charset="0"/>
                <a:ea typeface="Calibri" pitchFamily="34" charset="-122"/>
                <a:cs typeface="Calibri" pitchFamily="34" charset="-120"/>
              </a:rPr>
              <a:t>DISCOVER</a:t>
            </a:r>
            <a:endParaRPr lang="en-US" sz="1000" dirty="0"/>
          </a:p>
        </p:txBody>
      </p:sp>
      <p:sp>
        <p:nvSpPr>
          <p:cNvPr id="8" name="Shape 6"/>
          <p:cNvSpPr/>
          <p:nvPr/>
        </p:nvSpPr>
        <p:spPr>
          <a:xfrm>
            <a:off x="685800" y="1773936"/>
            <a:ext cx="2157984" cy="914400"/>
          </a:xfrm>
          <a:prstGeom prst="roundRect">
            <a:avLst>
              <a:gd name="adj" fmla="val 6000"/>
            </a:avLst>
          </a:prstGeom>
          <a:solidFill>
            <a:srgbClr val="1D2740"/>
          </a:solidFill>
          <a:ln w="6350">
            <a:solidFill>
              <a:srgbClr val="2C3A54"/>
            </a:solidFill>
            <a:prstDash val="solid"/>
          </a:ln>
        </p:spPr>
      </p:sp>
      <p:sp>
        <p:nvSpPr>
          <p:cNvPr id="9" name="Text 7"/>
          <p:cNvSpPr txBox="1"/>
          <p:nvPr/>
        </p:nvSpPr>
        <p:spPr>
          <a:xfrm>
            <a:off x="777240" y="1865376"/>
            <a:ext cx="1975104" cy="201168"/>
          </a:xfrm>
          <a:prstGeom prst="rect">
            <a:avLst/>
          </a:prstGeom>
          <a:noFill/>
          <a:ln/>
        </p:spPr>
        <p:txBody>
          <a:bodyPr wrap="square" lIns="0" tIns="0" rIns="0" bIns="0" rtlCol="0" anchor="ctr"/>
          <a:lstStyle/>
          <a:p>
            <a:pPr algn="l" indent="0" marL="0">
              <a:lnSpc>
                <a:spcPct val="112000"/>
              </a:lnSpc>
              <a:buNone/>
            </a:pPr>
            <a:r>
              <a:rPr lang="en-US" sz="950" b="1" dirty="0">
                <a:solidFill>
                  <a:srgbClr val="FFFFFF"/>
                </a:solidFill>
                <a:latin typeface="Calibri" pitchFamily="34" charset="0"/>
                <a:ea typeface="Calibri" pitchFamily="34" charset="-122"/>
                <a:cs typeface="Calibri" pitchFamily="34" charset="-120"/>
              </a:rPr>
              <a:t>Parlour name</a:t>
            </a:r>
            <a:endParaRPr lang="en-US" sz="950" dirty="0"/>
          </a:p>
        </p:txBody>
      </p:sp>
      <p:sp>
        <p:nvSpPr>
          <p:cNvPr id="10" name="Shape 8"/>
          <p:cNvSpPr/>
          <p:nvPr/>
        </p:nvSpPr>
        <p:spPr>
          <a:xfrm>
            <a:off x="777240" y="2103120"/>
            <a:ext cx="1188720" cy="237744"/>
          </a:xfrm>
          <a:prstGeom prst="roundRect">
            <a:avLst>
              <a:gd name="adj" fmla="val 50000"/>
            </a:avLst>
          </a:prstGeom>
          <a:solidFill>
            <a:srgbClr val="0F2620"/>
          </a:solidFill>
          <a:ln w="9525">
            <a:solidFill>
              <a:srgbClr val="5FD4BE"/>
            </a:solidFill>
            <a:prstDash val="solid"/>
          </a:ln>
        </p:spPr>
      </p:sp>
      <p:sp>
        <p:nvSpPr>
          <p:cNvPr id="11" name="Text 9"/>
          <p:cNvSpPr txBox="1"/>
          <p:nvPr/>
        </p:nvSpPr>
        <p:spPr>
          <a:xfrm>
            <a:off x="777240" y="2103120"/>
            <a:ext cx="1188720" cy="237744"/>
          </a:xfrm>
          <a:prstGeom prst="rect">
            <a:avLst/>
          </a:prstGeom>
          <a:noFill/>
          <a:ln/>
        </p:spPr>
        <p:txBody>
          <a:bodyPr wrap="square" lIns="0" tIns="0" rIns="0" bIns="0" rtlCol="0" anchor="ctr"/>
          <a:lstStyle/>
          <a:p>
            <a:pPr algn="ctr" indent="0" marL="0">
              <a:buNone/>
            </a:pPr>
            <a:r>
              <a:rPr lang="en-US" sz="900" b="1" dirty="0">
                <a:solidFill>
                  <a:srgbClr val="5FD4BE"/>
                </a:solidFill>
                <a:latin typeface="Calibri" pitchFamily="34" charset="0"/>
                <a:ea typeface="Calibri" pitchFamily="34" charset="-122"/>
                <a:cs typeface="Calibri" pitchFamily="34" charset="-120"/>
              </a:rPr>
              <a:t>By appointment</a:t>
            </a:r>
            <a:endParaRPr lang="en-US" sz="900" dirty="0"/>
          </a:p>
        </p:txBody>
      </p:sp>
      <p:sp>
        <p:nvSpPr>
          <p:cNvPr id="12" name="Text 10"/>
          <p:cNvSpPr txBox="1"/>
          <p:nvPr/>
        </p:nvSpPr>
        <p:spPr>
          <a:xfrm>
            <a:off x="777240" y="2414016"/>
            <a:ext cx="1975104" cy="182880"/>
          </a:xfrm>
          <a:prstGeom prst="rect">
            <a:avLst/>
          </a:prstGeom>
          <a:noFill/>
          <a:ln/>
        </p:spPr>
        <p:txBody>
          <a:bodyPr wrap="square" lIns="0" tIns="0" rIns="0" bIns="0" rtlCol="0" anchor="ctr"/>
          <a:lstStyle/>
          <a:p>
            <a:pPr algn="l" indent="0" marL="0">
              <a:lnSpc>
                <a:spcPct val="112000"/>
              </a:lnSpc>
              <a:buNone/>
            </a:pPr>
            <a:r>
              <a:rPr lang="en-US" sz="950" dirty="0">
                <a:solidFill>
                  <a:srgbClr val="94A6C4"/>
                </a:solidFill>
                <a:latin typeface="Calibri" pitchFamily="34" charset="0"/>
                <a:ea typeface="Calibri" pitchFamily="34" charset="-122"/>
                <a:cs typeface="Calibri" pitchFamily="34" charset="-120"/>
              </a:rPr>
              <a:t>2.1 km  ·  ★ 4.6</a:t>
            </a:r>
            <a:endParaRPr lang="en-US" sz="950" dirty="0"/>
          </a:p>
        </p:txBody>
      </p:sp>
      <p:sp>
        <p:nvSpPr>
          <p:cNvPr id="13" name="Shape 11"/>
          <p:cNvSpPr/>
          <p:nvPr/>
        </p:nvSpPr>
        <p:spPr>
          <a:xfrm>
            <a:off x="685800" y="2871216"/>
            <a:ext cx="2157984" cy="786384"/>
          </a:xfrm>
          <a:prstGeom prst="roundRect">
            <a:avLst>
              <a:gd name="adj" fmla="val 11628"/>
            </a:avLst>
          </a:prstGeom>
          <a:solidFill>
            <a:srgbClr val="1D2740"/>
          </a:solidFill>
          <a:ln w="12700">
            <a:solidFill>
              <a:srgbClr val="2C3A54"/>
            </a:solidFill>
            <a:prstDash val="solid"/>
          </a:ln>
        </p:spPr>
      </p:sp>
      <p:sp>
        <p:nvSpPr>
          <p:cNvPr id="14" name="Text 12"/>
          <p:cNvSpPr txBox="1"/>
          <p:nvPr/>
        </p:nvSpPr>
        <p:spPr>
          <a:xfrm>
            <a:off x="795528" y="2999232"/>
            <a:ext cx="1938528" cy="457200"/>
          </a:xfrm>
          <a:prstGeom prst="rect">
            <a:avLst/>
          </a:prstGeom>
          <a:noFill/>
          <a:ln/>
        </p:spPr>
        <p:txBody>
          <a:bodyPr wrap="square" lIns="0" tIns="0" rIns="0" bIns="0" rtlCol="0" anchor="ctr"/>
          <a:lstStyle/>
          <a:p>
            <a:pPr algn="l" indent="0" marL="0">
              <a:lnSpc>
                <a:spcPct val="110000"/>
              </a:lnSpc>
              <a:buNone/>
            </a:pPr>
            <a:r>
              <a:rPr lang="en-US" sz="850" b="1" dirty="0">
                <a:solidFill>
                  <a:srgbClr val="5FD4BE"/>
                </a:solidFill>
                <a:latin typeface="Calibri" pitchFamily="34" charset="0"/>
                <a:ea typeface="Calibri" pitchFamily="34" charset="-122"/>
                <a:cs typeface="Calibri" pitchFamily="34" charset="-120"/>
              </a:rPr>
              <a:t>No queue count here.</a:t>
            </a:r>
            <a:endParaRPr lang="en-US" sz="850" dirty="0"/>
          </a:p>
          <a:p>
            <a:pPr algn="l" indent="0" marL="0">
              <a:lnSpc>
                <a:spcPct val="110000"/>
              </a:lnSpc>
              <a:buNone/>
            </a:pPr>
            <a:r>
              <a:rPr lang="en-US" sz="850" b="1" dirty="0">
                <a:solidFill>
                  <a:srgbClr val="5FD4BE"/>
                </a:solidFill>
                <a:latin typeface="Calibri" pitchFamily="34" charset="0"/>
                <a:ea typeface="Calibri" pitchFamily="34" charset="-122"/>
                <a:cs typeface="Calibri" pitchFamily="34" charset="-120"/>
              </a:rPr>
              <a:t>A parlour has no queue.</a:t>
            </a:r>
            <a:endParaRPr lang="en-US" sz="850" dirty="0"/>
          </a:p>
        </p:txBody>
      </p:sp>
      <p:sp>
        <p:nvSpPr>
          <p:cNvPr id="15" name="Text 13"/>
          <p:cNvSpPr txBox="1"/>
          <p:nvPr/>
        </p:nvSpPr>
        <p:spPr>
          <a:xfrm>
            <a:off x="685800" y="3822192"/>
            <a:ext cx="2157984" cy="402336"/>
          </a:xfrm>
          <a:prstGeom prst="rect">
            <a:avLst/>
          </a:prstGeom>
          <a:noFill/>
          <a:ln/>
        </p:spPr>
        <p:txBody>
          <a:bodyPr wrap="square" lIns="0" tIns="0" rIns="0" bIns="0" rtlCol="0" anchor="ctr"/>
          <a:lstStyle/>
          <a:p>
            <a:pPr algn="l" indent="0" marL="0">
              <a:lnSpc>
                <a:spcPct val="110000"/>
              </a:lnSpc>
              <a:buNone/>
            </a:pPr>
            <a:r>
              <a:rPr lang="en-US" sz="900" dirty="0">
                <a:solidFill>
                  <a:srgbClr val="6D7F9C"/>
                </a:solidFill>
                <a:latin typeface="Calibri" pitchFamily="34" charset="0"/>
                <a:ea typeface="Calibri" pitchFamily="34" charset="-122"/>
                <a:cs typeface="Calibri" pitchFamily="34" charset="-120"/>
              </a:rPr>
              <a:t>Only parlours shown — the</a:t>
            </a:r>
            <a:endParaRPr lang="en-US" sz="900" dirty="0"/>
          </a:p>
          <a:p>
            <a:pPr algn="l" indent="0" marL="0">
              <a:lnSpc>
                <a:spcPct val="110000"/>
              </a:lnSpc>
              <a:buNone/>
            </a:pPr>
            <a:r>
              <a:rPr lang="en-US" sz="900" dirty="0">
                <a:solidFill>
                  <a:srgbClr val="6D7F9C"/>
                </a:solidFill>
                <a:latin typeface="Calibri" pitchFamily="34" charset="0"/>
                <a:ea typeface="Calibri" pitchFamily="34" charset="-122"/>
                <a:cs typeface="Calibri" pitchFamily="34" charset="-120"/>
              </a:rPr>
              <a:t>customer registered for this.</a:t>
            </a:r>
            <a:endParaRPr lang="en-US" sz="900" dirty="0"/>
          </a:p>
        </p:txBody>
      </p:sp>
      <p:sp>
        <p:nvSpPr>
          <p:cNvPr id="16" name="Text 14"/>
          <p:cNvSpPr txBox="1"/>
          <p:nvPr/>
        </p:nvSpPr>
        <p:spPr>
          <a:xfrm>
            <a:off x="3031236" y="3300984"/>
            <a:ext cx="256032" cy="219456"/>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17" name="Shape 15"/>
          <p:cNvSpPr/>
          <p:nvPr/>
        </p:nvSpPr>
        <p:spPr>
          <a:xfrm>
            <a:off x="3364992" y="1536192"/>
            <a:ext cx="2395728" cy="3749040"/>
          </a:xfrm>
          <a:prstGeom prst="roundRect">
            <a:avLst>
              <a:gd name="adj" fmla="val 6107"/>
            </a:avLst>
          </a:prstGeom>
          <a:solidFill>
            <a:srgbClr val="161F30"/>
          </a:solidFill>
          <a:ln w="15875">
            <a:solidFill>
              <a:srgbClr val="2C3A54"/>
            </a:solidFill>
            <a:prstDash val="solid"/>
          </a:ln>
        </p:spPr>
      </p:sp>
      <p:sp>
        <p:nvSpPr>
          <p:cNvPr id="18" name="Shape 16"/>
          <p:cNvSpPr/>
          <p:nvPr/>
        </p:nvSpPr>
        <p:spPr>
          <a:xfrm>
            <a:off x="4361688" y="1618488"/>
            <a:ext cx="402336" cy="64008"/>
          </a:xfrm>
          <a:prstGeom prst="roundRect">
            <a:avLst>
              <a:gd name="adj" fmla="val 50000"/>
            </a:avLst>
          </a:prstGeom>
          <a:solidFill>
            <a:srgbClr val="2C3A54"/>
          </a:solidFill>
          <a:ln w="12700">
            <a:solidFill>
              <a:srgbClr val="2C3A54"/>
            </a:solidFill>
            <a:prstDash val="solid"/>
          </a:ln>
        </p:spPr>
      </p:sp>
      <p:sp>
        <p:nvSpPr>
          <p:cNvPr id="19" name="Text 17"/>
          <p:cNvSpPr txBox="1"/>
          <p:nvPr/>
        </p:nvSpPr>
        <p:spPr>
          <a:xfrm>
            <a:off x="3364992" y="5340096"/>
            <a:ext cx="2395728" cy="201168"/>
          </a:xfrm>
          <a:prstGeom prst="rect">
            <a:avLst/>
          </a:prstGeom>
          <a:noFill/>
          <a:ln/>
        </p:spPr>
        <p:txBody>
          <a:bodyPr wrap="square" lIns="0" tIns="0" rIns="0" bIns="0" rtlCol="0" anchor="ctr"/>
          <a:lstStyle/>
          <a:p>
            <a:pPr algn="ctr" indent="0" marL="0">
              <a:buNone/>
            </a:pPr>
            <a:r>
              <a:rPr lang="en-US" sz="900" dirty="0">
                <a:solidFill>
                  <a:srgbClr val="5FD4BE"/>
                </a:solidFill>
                <a:latin typeface="Courier New" pitchFamily="34" charset="0"/>
                <a:ea typeface="Courier New" pitchFamily="34" charset="-122"/>
                <a:cs typeface="Courier New" pitchFamily="34" charset="-120"/>
              </a:rPr>
              <a:t>/explore/[shopId]</a:t>
            </a:r>
            <a:endParaRPr lang="en-US" sz="900" dirty="0"/>
          </a:p>
        </p:txBody>
      </p:sp>
      <p:sp>
        <p:nvSpPr>
          <p:cNvPr id="20" name="Text 18"/>
          <p:cNvSpPr txBox="1"/>
          <p:nvPr/>
        </p:nvSpPr>
        <p:spPr>
          <a:xfrm>
            <a:off x="3364992" y="5559552"/>
            <a:ext cx="2395728" cy="219456"/>
          </a:xfrm>
          <a:prstGeom prst="rect">
            <a:avLst/>
          </a:prstGeom>
          <a:noFill/>
          <a:ln/>
        </p:spPr>
        <p:txBody>
          <a:bodyPr wrap="square" lIns="0" tIns="0" rIns="0" bIns="0" rtlCol="0" anchor="ctr"/>
          <a:lstStyle/>
          <a:p>
            <a:pPr indent="0" marL="0">
              <a:buNone/>
            </a:pPr>
            <a:r>
              <a:rPr lang="en-US" sz="1000" b="1" spc="140" kern="0" dirty="0">
                <a:solidFill>
                  <a:srgbClr val="5FD4BE"/>
                </a:solidFill>
                <a:latin typeface="Calibri" pitchFamily="34" charset="0"/>
                <a:ea typeface="Calibri" pitchFamily="34" charset="-122"/>
                <a:cs typeface="Calibri" pitchFamily="34" charset="-120"/>
              </a:rPr>
              <a:t>SERVICE</a:t>
            </a:r>
            <a:endParaRPr lang="en-US" sz="1000" dirty="0"/>
          </a:p>
        </p:txBody>
      </p:sp>
      <p:sp>
        <p:nvSpPr>
          <p:cNvPr id="21" name="Text 19"/>
          <p:cNvSpPr txBox="1"/>
          <p:nvPr/>
        </p:nvSpPr>
        <p:spPr>
          <a:xfrm>
            <a:off x="3483864" y="1810512"/>
            <a:ext cx="2157984" cy="201168"/>
          </a:xfrm>
          <a:prstGeom prst="rect">
            <a:avLst/>
          </a:prstGeom>
          <a:noFill/>
          <a:ln/>
        </p:spPr>
        <p:txBody>
          <a:bodyPr wrap="square" lIns="0" tIns="0" rIns="0" bIns="0" rtlCol="0" anchor="ctr"/>
          <a:lstStyle/>
          <a:p>
            <a:pPr algn="l" indent="0" marL="0">
              <a:lnSpc>
                <a:spcPct val="112000"/>
              </a:lnSpc>
              <a:buNone/>
            </a:pPr>
            <a:r>
              <a:rPr lang="en-US" sz="950" b="1" dirty="0">
                <a:solidFill>
                  <a:srgbClr val="FFFFFF"/>
                </a:solidFill>
                <a:latin typeface="Calibri" pitchFamily="34" charset="0"/>
                <a:ea typeface="Calibri" pitchFamily="34" charset="-122"/>
                <a:cs typeface="Calibri" pitchFamily="34" charset="-120"/>
              </a:rPr>
              <a:t>Services</a:t>
            </a:r>
            <a:endParaRPr lang="en-US" sz="950" dirty="0"/>
          </a:p>
        </p:txBody>
      </p:sp>
      <p:sp>
        <p:nvSpPr>
          <p:cNvPr id="22" name="Shape 20"/>
          <p:cNvSpPr/>
          <p:nvPr/>
        </p:nvSpPr>
        <p:spPr>
          <a:xfrm>
            <a:off x="3483864" y="2084832"/>
            <a:ext cx="2157984" cy="310896"/>
          </a:xfrm>
          <a:prstGeom prst="roundRect">
            <a:avLst>
              <a:gd name="adj" fmla="val 14706"/>
            </a:avLst>
          </a:prstGeom>
          <a:solidFill>
            <a:srgbClr val="1D2740"/>
          </a:solidFill>
          <a:ln w="6350">
            <a:solidFill>
              <a:srgbClr val="2C3A54"/>
            </a:solidFill>
            <a:prstDash val="solid"/>
          </a:ln>
        </p:spPr>
      </p:sp>
      <p:sp>
        <p:nvSpPr>
          <p:cNvPr id="23" name="Text 21"/>
          <p:cNvSpPr txBox="1"/>
          <p:nvPr/>
        </p:nvSpPr>
        <p:spPr>
          <a:xfrm>
            <a:off x="3547872" y="2084832"/>
            <a:ext cx="1144463" cy="310896"/>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Bridal package</a:t>
            </a:r>
            <a:endParaRPr lang="en-US" sz="850" dirty="0"/>
          </a:p>
        </p:txBody>
      </p:sp>
      <p:sp>
        <p:nvSpPr>
          <p:cNvPr id="24" name="Text 22"/>
          <p:cNvSpPr txBox="1"/>
          <p:nvPr/>
        </p:nvSpPr>
        <p:spPr>
          <a:xfrm>
            <a:off x="4735495" y="2084832"/>
            <a:ext cx="756026" cy="310896"/>
          </a:xfrm>
          <a:prstGeom prst="rect">
            <a:avLst/>
          </a:prstGeom>
          <a:noFill/>
          <a:ln/>
        </p:spPr>
        <p:txBody>
          <a:bodyPr wrap="square" lIns="0" tIns="0" rIns="0" bIns="0" rtlCol="0" anchor="ctr"/>
          <a:lstStyle/>
          <a:p>
            <a:pPr algn="r" indent="0" marL="0">
              <a:buNone/>
            </a:pPr>
            <a:r>
              <a:rPr lang="en-US" sz="850" b="1" dirty="0">
                <a:solidFill>
                  <a:srgbClr val="5FD4BE"/>
                </a:solidFill>
                <a:latin typeface="Calibri" pitchFamily="34" charset="0"/>
                <a:ea typeface="Calibri" pitchFamily="34" charset="-122"/>
                <a:cs typeface="Calibri" pitchFamily="34" charset="-120"/>
              </a:rPr>
              <a:t>3 hr</a:t>
            </a:r>
            <a:endParaRPr lang="en-US" sz="850" dirty="0"/>
          </a:p>
        </p:txBody>
      </p:sp>
      <p:sp>
        <p:nvSpPr>
          <p:cNvPr id="25" name="Shape 23"/>
          <p:cNvSpPr/>
          <p:nvPr/>
        </p:nvSpPr>
        <p:spPr>
          <a:xfrm>
            <a:off x="3483864" y="2468880"/>
            <a:ext cx="2157984" cy="310896"/>
          </a:xfrm>
          <a:prstGeom prst="roundRect">
            <a:avLst>
              <a:gd name="adj" fmla="val 14706"/>
            </a:avLst>
          </a:prstGeom>
          <a:solidFill>
            <a:srgbClr val="1D2740"/>
          </a:solidFill>
          <a:ln w="6350">
            <a:solidFill>
              <a:srgbClr val="2C3A54"/>
            </a:solidFill>
            <a:prstDash val="solid"/>
          </a:ln>
        </p:spPr>
      </p:sp>
      <p:sp>
        <p:nvSpPr>
          <p:cNvPr id="26" name="Text 24"/>
          <p:cNvSpPr txBox="1"/>
          <p:nvPr/>
        </p:nvSpPr>
        <p:spPr>
          <a:xfrm>
            <a:off x="3547872" y="2468880"/>
            <a:ext cx="1144463" cy="310896"/>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Facial</a:t>
            </a:r>
            <a:endParaRPr lang="en-US" sz="850" dirty="0"/>
          </a:p>
        </p:txBody>
      </p:sp>
      <p:sp>
        <p:nvSpPr>
          <p:cNvPr id="27" name="Text 25"/>
          <p:cNvSpPr txBox="1"/>
          <p:nvPr/>
        </p:nvSpPr>
        <p:spPr>
          <a:xfrm>
            <a:off x="4735495" y="2468880"/>
            <a:ext cx="756026" cy="310896"/>
          </a:xfrm>
          <a:prstGeom prst="rect">
            <a:avLst/>
          </a:prstGeom>
          <a:noFill/>
          <a:ln/>
        </p:spPr>
        <p:txBody>
          <a:bodyPr wrap="square" lIns="0" tIns="0" rIns="0" bIns="0" rtlCol="0" anchor="ctr"/>
          <a:lstStyle/>
          <a:p>
            <a:pPr algn="r" indent="0" marL="0">
              <a:buNone/>
            </a:pPr>
            <a:r>
              <a:rPr lang="en-US" sz="850" b="1" dirty="0">
                <a:solidFill>
                  <a:srgbClr val="94A6C4"/>
                </a:solidFill>
                <a:latin typeface="Calibri" pitchFamily="34" charset="0"/>
                <a:ea typeface="Calibri" pitchFamily="34" charset="-122"/>
                <a:cs typeface="Calibri" pitchFamily="34" charset="-120"/>
              </a:rPr>
              <a:t>1 hr</a:t>
            </a:r>
            <a:endParaRPr lang="en-US" sz="850" dirty="0"/>
          </a:p>
        </p:txBody>
      </p:sp>
      <p:sp>
        <p:nvSpPr>
          <p:cNvPr id="28" name="Shape 26"/>
          <p:cNvSpPr/>
          <p:nvPr/>
        </p:nvSpPr>
        <p:spPr>
          <a:xfrm>
            <a:off x="3483864" y="2852928"/>
            <a:ext cx="2157984" cy="310896"/>
          </a:xfrm>
          <a:prstGeom prst="roundRect">
            <a:avLst>
              <a:gd name="adj" fmla="val 14706"/>
            </a:avLst>
          </a:prstGeom>
          <a:solidFill>
            <a:srgbClr val="1D2740"/>
          </a:solidFill>
          <a:ln w="6350">
            <a:solidFill>
              <a:srgbClr val="2C3A54"/>
            </a:solidFill>
            <a:prstDash val="solid"/>
          </a:ln>
        </p:spPr>
      </p:sp>
      <p:sp>
        <p:nvSpPr>
          <p:cNvPr id="29" name="Text 27"/>
          <p:cNvSpPr txBox="1"/>
          <p:nvPr/>
        </p:nvSpPr>
        <p:spPr>
          <a:xfrm>
            <a:off x="3547872" y="2852928"/>
            <a:ext cx="1144463" cy="310896"/>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Hair treatment</a:t>
            </a:r>
            <a:endParaRPr lang="en-US" sz="850" dirty="0"/>
          </a:p>
        </p:txBody>
      </p:sp>
      <p:sp>
        <p:nvSpPr>
          <p:cNvPr id="30" name="Text 28"/>
          <p:cNvSpPr txBox="1"/>
          <p:nvPr/>
        </p:nvSpPr>
        <p:spPr>
          <a:xfrm>
            <a:off x="4735495" y="2852928"/>
            <a:ext cx="756026" cy="310896"/>
          </a:xfrm>
          <a:prstGeom prst="rect">
            <a:avLst/>
          </a:prstGeom>
          <a:noFill/>
          <a:ln/>
        </p:spPr>
        <p:txBody>
          <a:bodyPr wrap="square" lIns="0" tIns="0" rIns="0" bIns="0" rtlCol="0" anchor="ctr"/>
          <a:lstStyle/>
          <a:p>
            <a:pPr algn="r" indent="0" marL="0">
              <a:buNone/>
            </a:pPr>
            <a:r>
              <a:rPr lang="en-US" sz="850" b="1" dirty="0">
                <a:solidFill>
                  <a:srgbClr val="94A6C4"/>
                </a:solidFill>
                <a:latin typeface="Calibri" pitchFamily="34" charset="0"/>
                <a:ea typeface="Calibri" pitchFamily="34" charset="-122"/>
                <a:cs typeface="Calibri" pitchFamily="34" charset="-120"/>
              </a:rPr>
              <a:t>90 min</a:t>
            </a:r>
            <a:endParaRPr lang="en-US" sz="850" dirty="0"/>
          </a:p>
        </p:txBody>
      </p:sp>
      <p:sp>
        <p:nvSpPr>
          <p:cNvPr id="31" name="Shape 29"/>
          <p:cNvSpPr/>
          <p:nvPr/>
        </p:nvSpPr>
        <p:spPr>
          <a:xfrm>
            <a:off x="3483864" y="3346704"/>
            <a:ext cx="2157984" cy="658368"/>
          </a:xfrm>
          <a:prstGeom prst="roundRect">
            <a:avLst>
              <a:gd name="adj" fmla="val 13889"/>
            </a:avLst>
          </a:prstGeom>
          <a:solidFill>
            <a:srgbClr val="1D2740"/>
          </a:solidFill>
          <a:ln w="12700">
            <a:solidFill>
              <a:srgbClr val="2C3A54"/>
            </a:solidFill>
            <a:prstDash val="solid"/>
          </a:ln>
        </p:spPr>
      </p:sp>
      <p:sp>
        <p:nvSpPr>
          <p:cNvPr id="32" name="Text 30"/>
          <p:cNvSpPr txBox="1"/>
          <p:nvPr/>
        </p:nvSpPr>
        <p:spPr>
          <a:xfrm>
            <a:off x="3593592" y="3456432"/>
            <a:ext cx="1938528" cy="457200"/>
          </a:xfrm>
          <a:prstGeom prst="rect">
            <a:avLst/>
          </a:prstGeom>
          <a:noFill/>
          <a:ln/>
        </p:spPr>
        <p:txBody>
          <a:bodyPr wrap="square" lIns="0" tIns="0" rIns="0" bIns="0" rtlCol="0" anchor="ctr"/>
          <a:lstStyle/>
          <a:p>
            <a:pPr algn="l" indent="0" marL="0">
              <a:lnSpc>
                <a:spcPct val="110000"/>
              </a:lnSpc>
              <a:buNone/>
            </a:pPr>
            <a:r>
              <a:rPr lang="en-US" sz="850" dirty="0">
                <a:solidFill>
                  <a:srgbClr val="5FD4BE"/>
                </a:solidFill>
                <a:latin typeface="Calibri" pitchFamily="34" charset="0"/>
                <a:ea typeface="Calibri" pitchFamily="34" charset="-122"/>
                <a:cs typeface="Calibri" pitchFamily="34" charset="-120"/>
              </a:rPr>
              <a:t>Duration is not cosmetic —</a:t>
            </a:r>
            <a:endParaRPr lang="en-US" sz="850" dirty="0"/>
          </a:p>
          <a:p>
            <a:pPr algn="l" indent="0" marL="0">
              <a:lnSpc>
                <a:spcPct val="110000"/>
              </a:lnSpc>
              <a:buNone/>
            </a:pPr>
            <a:r>
              <a:rPr lang="en-US" sz="850" dirty="0">
                <a:solidFill>
                  <a:srgbClr val="5FD4BE"/>
                </a:solidFill>
                <a:latin typeface="Calibri" pitchFamily="34" charset="0"/>
                <a:ea typeface="Calibri" pitchFamily="34" charset="-122"/>
                <a:cs typeface="Calibri" pitchFamily="34" charset="-120"/>
              </a:rPr>
              <a:t>it decides which slots exist.</a:t>
            </a:r>
            <a:endParaRPr lang="en-US" sz="850" dirty="0"/>
          </a:p>
        </p:txBody>
      </p:sp>
      <p:sp>
        <p:nvSpPr>
          <p:cNvPr id="33" name="Text 31"/>
          <p:cNvSpPr txBox="1"/>
          <p:nvPr/>
        </p:nvSpPr>
        <p:spPr>
          <a:xfrm>
            <a:off x="5829300" y="3300984"/>
            <a:ext cx="256032" cy="219456"/>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34" name="Shape 32"/>
          <p:cNvSpPr/>
          <p:nvPr/>
        </p:nvSpPr>
        <p:spPr>
          <a:xfrm>
            <a:off x="6163056" y="1536192"/>
            <a:ext cx="2395728" cy="3749040"/>
          </a:xfrm>
          <a:prstGeom prst="roundRect">
            <a:avLst>
              <a:gd name="adj" fmla="val 6107"/>
            </a:avLst>
          </a:prstGeom>
          <a:solidFill>
            <a:srgbClr val="161F30"/>
          </a:solidFill>
          <a:ln w="15875">
            <a:solidFill>
              <a:srgbClr val="2C3A54"/>
            </a:solidFill>
            <a:prstDash val="solid"/>
          </a:ln>
        </p:spPr>
      </p:sp>
      <p:sp>
        <p:nvSpPr>
          <p:cNvPr id="35" name="Shape 33"/>
          <p:cNvSpPr/>
          <p:nvPr/>
        </p:nvSpPr>
        <p:spPr>
          <a:xfrm>
            <a:off x="7159752" y="1618488"/>
            <a:ext cx="402336" cy="64008"/>
          </a:xfrm>
          <a:prstGeom prst="roundRect">
            <a:avLst>
              <a:gd name="adj" fmla="val 50000"/>
            </a:avLst>
          </a:prstGeom>
          <a:solidFill>
            <a:srgbClr val="2C3A54"/>
          </a:solidFill>
          <a:ln w="12700">
            <a:solidFill>
              <a:srgbClr val="2C3A54"/>
            </a:solidFill>
            <a:prstDash val="solid"/>
          </a:ln>
        </p:spPr>
      </p:sp>
      <p:sp>
        <p:nvSpPr>
          <p:cNvPr id="36" name="Text 34"/>
          <p:cNvSpPr txBox="1"/>
          <p:nvPr/>
        </p:nvSpPr>
        <p:spPr>
          <a:xfrm>
            <a:off x="6163056" y="5340096"/>
            <a:ext cx="2395728" cy="201168"/>
          </a:xfrm>
          <a:prstGeom prst="rect">
            <a:avLst/>
          </a:prstGeom>
          <a:noFill/>
          <a:ln/>
        </p:spPr>
        <p:txBody>
          <a:bodyPr wrap="square" lIns="0" tIns="0" rIns="0" bIns="0" rtlCol="0" anchor="ctr"/>
          <a:lstStyle/>
          <a:p>
            <a:pPr algn="ctr" indent="0" marL="0">
              <a:buNone/>
            </a:pPr>
            <a:r>
              <a:rPr lang="en-US" sz="900" dirty="0">
                <a:solidFill>
                  <a:srgbClr val="5FD4BE"/>
                </a:solidFill>
                <a:latin typeface="Courier New" pitchFamily="34" charset="0"/>
                <a:ea typeface="Courier New" pitchFamily="34" charset="-122"/>
                <a:cs typeface="Courier New" pitchFamily="34" charset="-120"/>
              </a:rPr>
              <a:t>pick date + slot</a:t>
            </a:r>
            <a:endParaRPr lang="en-US" sz="900" dirty="0"/>
          </a:p>
        </p:txBody>
      </p:sp>
      <p:sp>
        <p:nvSpPr>
          <p:cNvPr id="37" name="Text 35"/>
          <p:cNvSpPr txBox="1"/>
          <p:nvPr/>
        </p:nvSpPr>
        <p:spPr>
          <a:xfrm>
            <a:off x="6163056" y="5559552"/>
            <a:ext cx="2395728" cy="219456"/>
          </a:xfrm>
          <a:prstGeom prst="rect">
            <a:avLst/>
          </a:prstGeom>
          <a:noFill/>
          <a:ln/>
        </p:spPr>
        <p:txBody>
          <a:bodyPr wrap="square" lIns="0" tIns="0" rIns="0" bIns="0" rtlCol="0" anchor="ctr"/>
          <a:lstStyle/>
          <a:p>
            <a:pPr indent="0" marL="0">
              <a:buNone/>
            </a:pPr>
            <a:r>
              <a:rPr lang="en-US" sz="1000" b="1" spc="140" kern="0" dirty="0">
                <a:solidFill>
                  <a:srgbClr val="5FD4BE"/>
                </a:solidFill>
                <a:latin typeface="Calibri" pitchFamily="34" charset="0"/>
                <a:ea typeface="Calibri" pitchFamily="34" charset="-122"/>
                <a:cs typeface="Calibri" pitchFamily="34" charset="-120"/>
              </a:rPr>
              <a:t>DATE &amp; SLOT</a:t>
            </a:r>
            <a:endParaRPr lang="en-US" sz="1000" dirty="0"/>
          </a:p>
        </p:txBody>
      </p:sp>
      <p:sp>
        <p:nvSpPr>
          <p:cNvPr id="38" name="Text 36"/>
          <p:cNvSpPr txBox="1"/>
          <p:nvPr/>
        </p:nvSpPr>
        <p:spPr>
          <a:xfrm>
            <a:off x="6281928" y="1810512"/>
            <a:ext cx="2157984" cy="201168"/>
          </a:xfrm>
          <a:prstGeom prst="rect">
            <a:avLst/>
          </a:prstGeom>
          <a:noFill/>
          <a:ln/>
        </p:spPr>
        <p:txBody>
          <a:bodyPr wrap="square" lIns="0" tIns="0" rIns="0" bIns="0" rtlCol="0" anchor="ctr"/>
          <a:lstStyle/>
          <a:p>
            <a:pPr algn="l" indent="0" marL="0">
              <a:lnSpc>
                <a:spcPct val="112000"/>
              </a:lnSpc>
              <a:buNone/>
            </a:pPr>
            <a:r>
              <a:rPr lang="en-US" sz="950" b="1" dirty="0">
                <a:solidFill>
                  <a:srgbClr val="FFFFFF"/>
                </a:solidFill>
                <a:latin typeface="Calibri" pitchFamily="34" charset="0"/>
                <a:ea typeface="Calibri" pitchFamily="34" charset="-122"/>
                <a:cs typeface="Calibri" pitchFamily="34" charset="-120"/>
              </a:rPr>
              <a:t>Choose a date</a:t>
            </a:r>
            <a:endParaRPr lang="en-US" sz="950" dirty="0"/>
          </a:p>
        </p:txBody>
      </p:sp>
      <p:sp>
        <p:nvSpPr>
          <p:cNvPr id="39" name="Shape 37"/>
          <p:cNvSpPr/>
          <p:nvPr/>
        </p:nvSpPr>
        <p:spPr>
          <a:xfrm>
            <a:off x="6281928" y="2066544"/>
            <a:ext cx="484632" cy="237744"/>
          </a:xfrm>
          <a:prstGeom prst="roundRect">
            <a:avLst>
              <a:gd name="adj" fmla="val 50000"/>
            </a:avLst>
          </a:prstGeom>
          <a:solidFill>
            <a:srgbClr val="1D2740"/>
          </a:solidFill>
          <a:ln w="9525">
            <a:solidFill>
              <a:srgbClr val="94A6C4"/>
            </a:solidFill>
            <a:prstDash val="solid"/>
          </a:ln>
        </p:spPr>
      </p:sp>
      <p:sp>
        <p:nvSpPr>
          <p:cNvPr id="40" name="Text 38"/>
          <p:cNvSpPr txBox="1"/>
          <p:nvPr/>
        </p:nvSpPr>
        <p:spPr>
          <a:xfrm>
            <a:off x="6281928" y="2066544"/>
            <a:ext cx="484632" cy="237744"/>
          </a:xfrm>
          <a:prstGeom prst="rect">
            <a:avLst/>
          </a:prstGeom>
          <a:noFill/>
          <a:ln/>
        </p:spPr>
        <p:txBody>
          <a:bodyPr wrap="square" lIns="0" tIns="0" rIns="0" bIns="0" rtlCol="0" anchor="ctr"/>
          <a:lstStyle/>
          <a:p>
            <a:pPr algn="ctr" indent="0" marL="0">
              <a:buNone/>
            </a:pPr>
            <a:r>
              <a:rPr lang="en-US" sz="900" b="1" dirty="0">
                <a:solidFill>
                  <a:srgbClr val="94A6C4"/>
                </a:solidFill>
                <a:latin typeface="Calibri" pitchFamily="34" charset="0"/>
                <a:ea typeface="Calibri" pitchFamily="34" charset="-122"/>
                <a:cs typeface="Calibri" pitchFamily="34" charset="-120"/>
              </a:rPr>
              <a:t>Mon</a:t>
            </a:r>
            <a:endParaRPr lang="en-US" sz="900" dirty="0"/>
          </a:p>
        </p:txBody>
      </p:sp>
      <p:sp>
        <p:nvSpPr>
          <p:cNvPr id="41" name="Shape 39"/>
          <p:cNvSpPr/>
          <p:nvPr/>
        </p:nvSpPr>
        <p:spPr>
          <a:xfrm>
            <a:off x="6821424" y="2066544"/>
            <a:ext cx="484632" cy="237744"/>
          </a:xfrm>
          <a:prstGeom prst="roundRect">
            <a:avLst>
              <a:gd name="adj" fmla="val 50000"/>
            </a:avLst>
          </a:prstGeom>
          <a:solidFill>
            <a:srgbClr val="1D2740"/>
          </a:solidFill>
          <a:ln w="9525">
            <a:solidFill>
              <a:srgbClr val="94A6C4"/>
            </a:solidFill>
            <a:prstDash val="solid"/>
          </a:ln>
        </p:spPr>
      </p:sp>
      <p:sp>
        <p:nvSpPr>
          <p:cNvPr id="42" name="Text 40"/>
          <p:cNvSpPr txBox="1"/>
          <p:nvPr/>
        </p:nvSpPr>
        <p:spPr>
          <a:xfrm>
            <a:off x="6821424" y="2066544"/>
            <a:ext cx="484632" cy="237744"/>
          </a:xfrm>
          <a:prstGeom prst="rect">
            <a:avLst/>
          </a:prstGeom>
          <a:noFill/>
          <a:ln/>
        </p:spPr>
        <p:txBody>
          <a:bodyPr wrap="square" lIns="0" tIns="0" rIns="0" bIns="0" rtlCol="0" anchor="ctr"/>
          <a:lstStyle/>
          <a:p>
            <a:pPr algn="ctr" indent="0" marL="0">
              <a:buNone/>
            </a:pPr>
            <a:r>
              <a:rPr lang="en-US" sz="900" b="1" dirty="0">
                <a:solidFill>
                  <a:srgbClr val="94A6C4"/>
                </a:solidFill>
                <a:latin typeface="Calibri" pitchFamily="34" charset="0"/>
                <a:ea typeface="Calibri" pitchFamily="34" charset="-122"/>
                <a:cs typeface="Calibri" pitchFamily="34" charset="-120"/>
              </a:rPr>
              <a:t>Tue</a:t>
            </a:r>
            <a:endParaRPr lang="en-US" sz="900" dirty="0"/>
          </a:p>
        </p:txBody>
      </p:sp>
      <p:sp>
        <p:nvSpPr>
          <p:cNvPr id="43" name="Shape 41"/>
          <p:cNvSpPr/>
          <p:nvPr/>
        </p:nvSpPr>
        <p:spPr>
          <a:xfrm>
            <a:off x="7360920" y="2066544"/>
            <a:ext cx="484632" cy="237744"/>
          </a:xfrm>
          <a:prstGeom prst="roundRect">
            <a:avLst>
              <a:gd name="adj" fmla="val 50000"/>
            </a:avLst>
          </a:prstGeom>
          <a:solidFill>
            <a:srgbClr val="0F2620"/>
          </a:solidFill>
          <a:ln w="9525">
            <a:solidFill>
              <a:srgbClr val="5FD4BE"/>
            </a:solidFill>
            <a:prstDash val="solid"/>
          </a:ln>
        </p:spPr>
      </p:sp>
      <p:sp>
        <p:nvSpPr>
          <p:cNvPr id="44" name="Text 42"/>
          <p:cNvSpPr txBox="1"/>
          <p:nvPr/>
        </p:nvSpPr>
        <p:spPr>
          <a:xfrm>
            <a:off x="7360920" y="2066544"/>
            <a:ext cx="484632" cy="237744"/>
          </a:xfrm>
          <a:prstGeom prst="rect">
            <a:avLst/>
          </a:prstGeom>
          <a:noFill/>
          <a:ln/>
        </p:spPr>
        <p:txBody>
          <a:bodyPr wrap="square" lIns="0" tIns="0" rIns="0" bIns="0" rtlCol="0" anchor="ctr"/>
          <a:lstStyle/>
          <a:p>
            <a:pPr algn="ctr" indent="0" marL="0">
              <a:buNone/>
            </a:pPr>
            <a:r>
              <a:rPr lang="en-US" sz="900" b="1" dirty="0">
                <a:solidFill>
                  <a:srgbClr val="5FD4BE"/>
                </a:solidFill>
                <a:latin typeface="Calibri" pitchFamily="34" charset="0"/>
                <a:ea typeface="Calibri" pitchFamily="34" charset="-122"/>
                <a:cs typeface="Calibri" pitchFamily="34" charset="-120"/>
              </a:rPr>
              <a:t>Wed</a:t>
            </a:r>
            <a:endParaRPr lang="en-US" sz="900" dirty="0"/>
          </a:p>
        </p:txBody>
      </p:sp>
      <p:sp>
        <p:nvSpPr>
          <p:cNvPr id="45" name="Shape 43"/>
          <p:cNvSpPr/>
          <p:nvPr/>
        </p:nvSpPr>
        <p:spPr>
          <a:xfrm>
            <a:off x="7900416" y="2066544"/>
            <a:ext cx="484632" cy="237744"/>
          </a:xfrm>
          <a:prstGeom prst="roundRect">
            <a:avLst>
              <a:gd name="adj" fmla="val 50000"/>
            </a:avLst>
          </a:prstGeom>
          <a:solidFill>
            <a:srgbClr val="1D2740"/>
          </a:solidFill>
          <a:ln w="9525">
            <a:solidFill>
              <a:srgbClr val="94A6C4"/>
            </a:solidFill>
            <a:prstDash val="solid"/>
          </a:ln>
        </p:spPr>
      </p:sp>
      <p:sp>
        <p:nvSpPr>
          <p:cNvPr id="46" name="Text 44"/>
          <p:cNvSpPr txBox="1"/>
          <p:nvPr/>
        </p:nvSpPr>
        <p:spPr>
          <a:xfrm>
            <a:off x="7900416" y="2066544"/>
            <a:ext cx="484632" cy="237744"/>
          </a:xfrm>
          <a:prstGeom prst="rect">
            <a:avLst/>
          </a:prstGeom>
          <a:noFill/>
          <a:ln/>
        </p:spPr>
        <p:txBody>
          <a:bodyPr wrap="square" lIns="0" tIns="0" rIns="0" bIns="0" rtlCol="0" anchor="ctr"/>
          <a:lstStyle/>
          <a:p>
            <a:pPr algn="ctr" indent="0" marL="0">
              <a:buNone/>
            </a:pPr>
            <a:r>
              <a:rPr lang="en-US" sz="900" b="1" dirty="0">
                <a:solidFill>
                  <a:srgbClr val="94A6C4"/>
                </a:solidFill>
                <a:latin typeface="Calibri" pitchFamily="34" charset="0"/>
                <a:ea typeface="Calibri" pitchFamily="34" charset="-122"/>
                <a:cs typeface="Calibri" pitchFamily="34" charset="-120"/>
              </a:rPr>
              <a:t>Thu</a:t>
            </a:r>
            <a:endParaRPr lang="en-US" sz="900" dirty="0"/>
          </a:p>
        </p:txBody>
      </p:sp>
      <p:sp>
        <p:nvSpPr>
          <p:cNvPr id="47" name="Text 45"/>
          <p:cNvSpPr txBox="1"/>
          <p:nvPr/>
        </p:nvSpPr>
        <p:spPr>
          <a:xfrm>
            <a:off x="6281928" y="2450592"/>
            <a:ext cx="2157984" cy="201168"/>
          </a:xfrm>
          <a:prstGeom prst="rect">
            <a:avLst/>
          </a:prstGeom>
          <a:noFill/>
          <a:ln/>
        </p:spPr>
        <p:txBody>
          <a:bodyPr wrap="square" lIns="0" tIns="0" rIns="0" bIns="0" rtlCol="0" anchor="ctr"/>
          <a:lstStyle/>
          <a:p>
            <a:pPr algn="l" indent="0" marL="0">
              <a:lnSpc>
                <a:spcPct val="112000"/>
              </a:lnSpc>
              <a:buNone/>
            </a:pPr>
            <a:r>
              <a:rPr lang="en-US" sz="950" b="1" dirty="0">
                <a:solidFill>
                  <a:srgbClr val="FFFFFF"/>
                </a:solidFill>
                <a:latin typeface="Calibri" pitchFamily="34" charset="0"/>
                <a:ea typeface="Calibri" pitchFamily="34" charset="-122"/>
                <a:cs typeface="Calibri" pitchFamily="34" charset="-120"/>
              </a:rPr>
              <a:t>Available times</a:t>
            </a:r>
            <a:endParaRPr lang="en-US" sz="950" dirty="0"/>
          </a:p>
        </p:txBody>
      </p:sp>
      <p:sp>
        <p:nvSpPr>
          <p:cNvPr id="48" name="Shape 46"/>
          <p:cNvSpPr/>
          <p:nvPr/>
        </p:nvSpPr>
        <p:spPr>
          <a:xfrm>
            <a:off x="6281928" y="2724912"/>
            <a:ext cx="1005840" cy="237744"/>
          </a:xfrm>
          <a:prstGeom prst="roundRect">
            <a:avLst>
              <a:gd name="adj" fmla="val 50000"/>
            </a:avLst>
          </a:prstGeom>
          <a:solidFill>
            <a:srgbClr val="1D2740"/>
          </a:solidFill>
          <a:ln w="9525">
            <a:solidFill>
              <a:srgbClr val="FFFFFF"/>
            </a:solidFill>
            <a:prstDash val="solid"/>
          </a:ln>
        </p:spPr>
      </p:sp>
      <p:sp>
        <p:nvSpPr>
          <p:cNvPr id="49" name="Text 47"/>
          <p:cNvSpPr txBox="1"/>
          <p:nvPr/>
        </p:nvSpPr>
        <p:spPr>
          <a:xfrm>
            <a:off x="6281928" y="2724912"/>
            <a:ext cx="100584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10:00</a:t>
            </a:r>
            <a:endParaRPr lang="en-US" sz="900" dirty="0"/>
          </a:p>
        </p:txBody>
      </p:sp>
      <p:sp>
        <p:nvSpPr>
          <p:cNvPr id="50" name="Shape 48"/>
          <p:cNvSpPr/>
          <p:nvPr/>
        </p:nvSpPr>
        <p:spPr>
          <a:xfrm>
            <a:off x="7360920" y="2724912"/>
            <a:ext cx="1005840" cy="237744"/>
          </a:xfrm>
          <a:prstGeom prst="roundRect">
            <a:avLst>
              <a:gd name="adj" fmla="val 50000"/>
            </a:avLst>
          </a:prstGeom>
          <a:solidFill>
            <a:srgbClr val="1D2740"/>
          </a:solidFill>
          <a:ln w="9525">
            <a:solidFill>
              <a:srgbClr val="FFFFFF"/>
            </a:solidFill>
            <a:prstDash val="solid"/>
          </a:ln>
        </p:spPr>
      </p:sp>
      <p:sp>
        <p:nvSpPr>
          <p:cNvPr id="51" name="Text 49"/>
          <p:cNvSpPr txBox="1"/>
          <p:nvPr/>
        </p:nvSpPr>
        <p:spPr>
          <a:xfrm>
            <a:off x="7360920" y="2724912"/>
            <a:ext cx="100584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13:00</a:t>
            </a:r>
            <a:endParaRPr lang="en-US" sz="900" dirty="0"/>
          </a:p>
        </p:txBody>
      </p:sp>
      <p:sp>
        <p:nvSpPr>
          <p:cNvPr id="52" name="Shape 50"/>
          <p:cNvSpPr/>
          <p:nvPr/>
        </p:nvSpPr>
        <p:spPr>
          <a:xfrm>
            <a:off x="6281928" y="3090672"/>
            <a:ext cx="1005840" cy="237744"/>
          </a:xfrm>
          <a:prstGeom prst="roundRect">
            <a:avLst>
              <a:gd name="adj" fmla="val 50000"/>
            </a:avLst>
          </a:prstGeom>
          <a:solidFill>
            <a:srgbClr val="141A26"/>
          </a:solidFill>
          <a:ln w="9525">
            <a:solidFill>
              <a:srgbClr val="6D7F9C"/>
            </a:solidFill>
            <a:prstDash val="solid"/>
          </a:ln>
        </p:spPr>
      </p:sp>
      <p:sp>
        <p:nvSpPr>
          <p:cNvPr id="53" name="Text 51"/>
          <p:cNvSpPr txBox="1"/>
          <p:nvPr/>
        </p:nvSpPr>
        <p:spPr>
          <a:xfrm>
            <a:off x="6281928" y="3090672"/>
            <a:ext cx="1005840" cy="237744"/>
          </a:xfrm>
          <a:prstGeom prst="rect">
            <a:avLst/>
          </a:prstGeom>
          <a:noFill/>
          <a:ln/>
        </p:spPr>
        <p:txBody>
          <a:bodyPr wrap="square" lIns="0" tIns="0" rIns="0" bIns="0" rtlCol="0" anchor="ctr"/>
          <a:lstStyle/>
          <a:p>
            <a:pPr algn="ctr" indent="0" marL="0">
              <a:buNone/>
            </a:pPr>
            <a:r>
              <a:rPr lang="en-US" sz="900" b="1" dirty="0">
                <a:solidFill>
                  <a:srgbClr val="6D7F9C"/>
                </a:solidFill>
                <a:latin typeface="Calibri" pitchFamily="34" charset="0"/>
                <a:ea typeface="Calibri" pitchFamily="34" charset="-122"/>
                <a:cs typeface="Calibri" pitchFamily="34" charset="-120"/>
              </a:rPr>
              <a:t>booked</a:t>
            </a:r>
            <a:endParaRPr lang="en-US" sz="900" dirty="0"/>
          </a:p>
        </p:txBody>
      </p:sp>
      <p:sp>
        <p:nvSpPr>
          <p:cNvPr id="54" name="Shape 52"/>
          <p:cNvSpPr/>
          <p:nvPr/>
        </p:nvSpPr>
        <p:spPr>
          <a:xfrm>
            <a:off x="7360920" y="3090672"/>
            <a:ext cx="1005840" cy="237744"/>
          </a:xfrm>
          <a:prstGeom prst="roundRect">
            <a:avLst>
              <a:gd name="adj" fmla="val 50000"/>
            </a:avLst>
          </a:prstGeom>
          <a:solidFill>
            <a:srgbClr val="0F2620"/>
          </a:solidFill>
          <a:ln w="9525">
            <a:solidFill>
              <a:srgbClr val="5FD4BE"/>
            </a:solidFill>
            <a:prstDash val="solid"/>
          </a:ln>
        </p:spPr>
      </p:sp>
      <p:sp>
        <p:nvSpPr>
          <p:cNvPr id="55" name="Text 53"/>
          <p:cNvSpPr txBox="1"/>
          <p:nvPr/>
        </p:nvSpPr>
        <p:spPr>
          <a:xfrm>
            <a:off x="7360920" y="3090672"/>
            <a:ext cx="1005840" cy="237744"/>
          </a:xfrm>
          <a:prstGeom prst="rect">
            <a:avLst/>
          </a:prstGeom>
          <a:noFill/>
          <a:ln/>
        </p:spPr>
        <p:txBody>
          <a:bodyPr wrap="square" lIns="0" tIns="0" rIns="0" bIns="0" rtlCol="0" anchor="ctr"/>
          <a:lstStyle/>
          <a:p>
            <a:pPr algn="ctr" indent="0" marL="0">
              <a:buNone/>
            </a:pPr>
            <a:r>
              <a:rPr lang="en-US" sz="900" b="1" dirty="0">
                <a:solidFill>
                  <a:srgbClr val="5FD4BE"/>
                </a:solidFill>
                <a:latin typeface="Calibri" pitchFamily="34" charset="0"/>
                <a:ea typeface="Calibri" pitchFamily="34" charset="-122"/>
                <a:cs typeface="Calibri" pitchFamily="34" charset="-120"/>
              </a:rPr>
              <a:t>16:00</a:t>
            </a:r>
            <a:endParaRPr lang="en-US" sz="900" dirty="0"/>
          </a:p>
        </p:txBody>
      </p:sp>
      <p:sp>
        <p:nvSpPr>
          <p:cNvPr id="56" name="Shape 54"/>
          <p:cNvSpPr/>
          <p:nvPr/>
        </p:nvSpPr>
        <p:spPr>
          <a:xfrm>
            <a:off x="6281928" y="3456432"/>
            <a:ext cx="1005840" cy="237744"/>
          </a:xfrm>
          <a:prstGeom prst="roundRect">
            <a:avLst>
              <a:gd name="adj" fmla="val 50000"/>
            </a:avLst>
          </a:prstGeom>
          <a:solidFill>
            <a:srgbClr val="141A26"/>
          </a:solidFill>
          <a:ln w="9525">
            <a:solidFill>
              <a:srgbClr val="6D7F9C"/>
            </a:solidFill>
            <a:prstDash val="solid"/>
          </a:ln>
        </p:spPr>
      </p:sp>
      <p:sp>
        <p:nvSpPr>
          <p:cNvPr id="57" name="Text 55"/>
          <p:cNvSpPr txBox="1"/>
          <p:nvPr/>
        </p:nvSpPr>
        <p:spPr>
          <a:xfrm>
            <a:off x="6281928" y="3456432"/>
            <a:ext cx="1005840" cy="237744"/>
          </a:xfrm>
          <a:prstGeom prst="rect">
            <a:avLst/>
          </a:prstGeom>
          <a:noFill/>
          <a:ln/>
        </p:spPr>
        <p:txBody>
          <a:bodyPr wrap="square" lIns="0" tIns="0" rIns="0" bIns="0" rtlCol="0" anchor="ctr"/>
          <a:lstStyle/>
          <a:p>
            <a:pPr algn="ctr" indent="0" marL="0">
              <a:buNone/>
            </a:pPr>
            <a:r>
              <a:rPr lang="en-US" sz="900" b="1" dirty="0">
                <a:solidFill>
                  <a:srgbClr val="6D7F9C"/>
                </a:solidFill>
                <a:latin typeface="Calibri" pitchFamily="34" charset="0"/>
                <a:ea typeface="Calibri" pitchFamily="34" charset="-122"/>
                <a:cs typeface="Calibri" pitchFamily="34" charset="-120"/>
              </a:rPr>
              <a:t>booked</a:t>
            </a:r>
            <a:endParaRPr lang="en-US" sz="900" dirty="0"/>
          </a:p>
        </p:txBody>
      </p:sp>
      <p:sp>
        <p:nvSpPr>
          <p:cNvPr id="58" name="Shape 56"/>
          <p:cNvSpPr/>
          <p:nvPr/>
        </p:nvSpPr>
        <p:spPr>
          <a:xfrm>
            <a:off x="7360920" y="3456432"/>
            <a:ext cx="1005840" cy="237744"/>
          </a:xfrm>
          <a:prstGeom prst="roundRect">
            <a:avLst>
              <a:gd name="adj" fmla="val 50000"/>
            </a:avLst>
          </a:prstGeom>
          <a:solidFill>
            <a:srgbClr val="1D2740"/>
          </a:solidFill>
          <a:ln w="9525">
            <a:solidFill>
              <a:srgbClr val="FFFFFF"/>
            </a:solidFill>
            <a:prstDash val="solid"/>
          </a:ln>
        </p:spPr>
      </p:sp>
      <p:sp>
        <p:nvSpPr>
          <p:cNvPr id="59" name="Text 57"/>
          <p:cNvSpPr txBox="1"/>
          <p:nvPr/>
        </p:nvSpPr>
        <p:spPr>
          <a:xfrm>
            <a:off x="7360920" y="3456432"/>
            <a:ext cx="100584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18:30</a:t>
            </a:r>
            <a:endParaRPr lang="en-US" sz="900" dirty="0"/>
          </a:p>
        </p:txBody>
      </p:sp>
      <p:sp>
        <p:nvSpPr>
          <p:cNvPr id="60" name="Text 58"/>
          <p:cNvSpPr txBox="1"/>
          <p:nvPr/>
        </p:nvSpPr>
        <p:spPr>
          <a:xfrm>
            <a:off x="6281928" y="3913632"/>
            <a:ext cx="2157984" cy="402336"/>
          </a:xfrm>
          <a:prstGeom prst="rect">
            <a:avLst/>
          </a:prstGeom>
          <a:noFill/>
          <a:ln/>
        </p:spPr>
        <p:txBody>
          <a:bodyPr wrap="square" lIns="0" tIns="0" rIns="0" bIns="0" rtlCol="0" anchor="ctr"/>
          <a:lstStyle/>
          <a:p>
            <a:pPr algn="l" indent="0" marL="0">
              <a:lnSpc>
                <a:spcPct val="110000"/>
              </a:lnSpc>
              <a:buNone/>
            </a:pPr>
            <a:r>
              <a:rPr lang="en-US" sz="950" dirty="0">
                <a:solidFill>
                  <a:srgbClr val="F5C451"/>
                </a:solidFill>
                <a:latin typeface="Calibri" pitchFamily="34" charset="0"/>
                <a:ea typeface="Calibri" pitchFamily="34" charset="-122"/>
                <a:cs typeface="Calibri" pitchFamily="34" charset="-120"/>
              </a:rPr>
              <a:t>Gaps are real bookings,</a:t>
            </a:r>
            <a:endParaRPr lang="en-US" sz="950" dirty="0"/>
          </a:p>
          <a:p>
            <a:pPr algn="l" indent="0" marL="0">
              <a:lnSpc>
                <a:spcPct val="110000"/>
              </a:lnSpc>
              <a:buNone/>
            </a:pPr>
            <a:r>
              <a:rPr lang="en-US" sz="950" dirty="0">
                <a:solidFill>
                  <a:srgbClr val="F5C451"/>
                </a:solidFill>
                <a:latin typeface="Calibri" pitchFamily="34" charset="0"/>
                <a:ea typeface="Calibri" pitchFamily="34" charset="-122"/>
                <a:cs typeface="Calibri" pitchFamily="34" charset="-120"/>
              </a:rPr>
              <a:t>not decoration.</a:t>
            </a:r>
            <a:endParaRPr lang="en-US" sz="950" dirty="0"/>
          </a:p>
        </p:txBody>
      </p:sp>
      <p:sp>
        <p:nvSpPr>
          <p:cNvPr id="61" name="Text 59"/>
          <p:cNvSpPr txBox="1"/>
          <p:nvPr/>
        </p:nvSpPr>
        <p:spPr>
          <a:xfrm>
            <a:off x="8627364" y="3300984"/>
            <a:ext cx="256032" cy="219456"/>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62" name="Shape 60"/>
          <p:cNvSpPr/>
          <p:nvPr/>
        </p:nvSpPr>
        <p:spPr>
          <a:xfrm>
            <a:off x="8961120" y="1536192"/>
            <a:ext cx="2395728" cy="3749040"/>
          </a:xfrm>
          <a:prstGeom prst="roundRect">
            <a:avLst>
              <a:gd name="adj" fmla="val 6107"/>
            </a:avLst>
          </a:prstGeom>
          <a:solidFill>
            <a:srgbClr val="161F30"/>
          </a:solidFill>
          <a:ln w="15875">
            <a:solidFill>
              <a:srgbClr val="2C3A54"/>
            </a:solidFill>
            <a:prstDash val="solid"/>
          </a:ln>
        </p:spPr>
      </p:sp>
      <p:sp>
        <p:nvSpPr>
          <p:cNvPr id="63" name="Shape 61"/>
          <p:cNvSpPr/>
          <p:nvPr/>
        </p:nvSpPr>
        <p:spPr>
          <a:xfrm>
            <a:off x="9957816" y="1618488"/>
            <a:ext cx="402336" cy="64008"/>
          </a:xfrm>
          <a:prstGeom prst="roundRect">
            <a:avLst>
              <a:gd name="adj" fmla="val 50000"/>
            </a:avLst>
          </a:prstGeom>
          <a:solidFill>
            <a:srgbClr val="2C3A54"/>
          </a:solidFill>
          <a:ln w="12700">
            <a:solidFill>
              <a:srgbClr val="2C3A54"/>
            </a:solidFill>
            <a:prstDash val="solid"/>
          </a:ln>
        </p:spPr>
      </p:sp>
      <p:sp>
        <p:nvSpPr>
          <p:cNvPr id="64" name="Text 62"/>
          <p:cNvSpPr txBox="1"/>
          <p:nvPr/>
        </p:nvSpPr>
        <p:spPr>
          <a:xfrm>
            <a:off x="8961120" y="5340096"/>
            <a:ext cx="2395728" cy="201168"/>
          </a:xfrm>
          <a:prstGeom prst="rect">
            <a:avLst/>
          </a:prstGeom>
          <a:noFill/>
          <a:ln/>
        </p:spPr>
        <p:txBody>
          <a:bodyPr wrap="square" lIns="0" tIns="0" rIns="0" bIns="0" rtlCol="0" anchor="ctr"/>
          <a:lstStyle/>
          <a:p>
            <a:pPr algn="ctr" indent="0" marL="0">
              <a:buNone/>
            </a:pPr>
            <a:r>
              <a:rPr lang="en-US" sz="900" dirty="0">
                <a:solidFill>
                  <a:srgbClr val="5FD4BE"/>
                </a:solidFill>
                <a:latin typeface="Courier New" pitchFamily="34" charset="0"/>
                <a:ea typeface="Courier New" pitchFamily="34" charset="-122"/>
                <a:cs typeface="Courier New" pitchFamily="34" charset="-120"/>
              </a:rPr>
              <a:t>/my-serial</a:t>
            </a:r>
            <a:endParaRPr lang="en-US" sz="900" dirty="0"/>
          </a:p>
        </p:txBody>
      </p:sp>
      <p:sp>
        <p:nvSpPr>
          <p:cNvPr id="65" name="Text 63"/>
          <p:cNvSpPr txBox="1"/>
          <p:nvPr/>
        </p:nvSpPr>
        <p:spPr>
          <a:xfrm>
            <a:off x="8961120" y="5559552"/>
            <a:ext cx="2395728" cy="219456"/>
          </a:xfrm>
          <a:prstGeom prst="rect">
            <a:avLst/>
          </a:prstGeom>
          <a:noFill/>
          <a:ln/>
        </p:spPr>
        <p:txBody>
          <a:bodyPr wrap="square" lIns="0" tIns="0" rIns="0" bIns="0" rtlCol="0" anchor="ctr"/>
          <a:lstStyle/>
          <a:p>
            <a:pPr indent="0" marL="0">
              <a:buNone/>
            </a:pPr>
            <a:r>
              <a:rPr lang="en-US" sz="1000" b="1" spc="140" kern="0" dirty="0">
                <a:solidFill>
                  <a:srgbClr val="5FD4BE"/>
                </a:solidFill>
                <a:latin typeface="Calibri" pitchFamily="34" charset="0"/>
                <a:ea typeface="Calibri" pitchFamily="34" charset="-122"/>
                <a:cs typeface="Calibri" pitchFamily="34" charset="-120"/>
              </a:rPr>
              <a:t>APPOINTMENT</a:t>
            </a:r>
            <a:endParaRPr lang="en-US" sz="1000" dirty="0"/>
          </a:p>
        </p:txBody>
      </p:sp>
      <p:sp>
        <p:nvSpPr>
          <p:cNvPr id="66" name="Shape 64"/>
          <p:cNvSpPr/>
          <p:nvPr/>
        </p:nvSpPr>
        <p:spPr>
          <a:xfrm>
            <a:off x="9921240" y="1901952"/>
            <a:ext cx="475488" cy="475488"/>
          </a:xfrm>
          <a:prstGeom prst="ellipse">
            <a:avLst/>
          </a:prstGeom>
          <a:solidFill>
            <a:srgbClr val="0F2620"/>
          </a:solidFill>
          <a:ln w="15875">
            <a:solidFill>
              <a:srgbClr val="5FD4BE"/>
            </a:solidFill>
            <a:prstDash val="solid"/>
          </a:ln>
        </p:spPr>
      </p:sp>
      <p:sp>
        <p:nvSpPr>
          <p:cNvPr id="67" name="Text 65"/>
          <p:cNvSpPr txBox="1"/>
          <p:nvPr/>
        </p:nvSpPr>
        <p:spPr>
          <a:xfrm>
            <a:off x="9921240" y="1901952"/>
            <a:ext cx="475488" cy="475488"/>
          </a:xfrm>
          <a:prstGeom prst="rect">
            <a:avLst/>
          </a:prstGeom>
          <a:noFill/>
          <a:ln/>
        </p:spPr>
        <p:txBody>
          <a:bodyPr wrap="square" lIns="0" tIns="0" rIns="0" bIns="0" rtlCol="0" anchor="ctr"/>
          <a:lstStyle/>
          <a:p>
            <a:pPr algn="ctr" indent="0" marL="0">
              <a:buNone/>
            </a:pPr>
            <a:r>
              <a:rPr lang="en-US" sz="2000" b="1" dirty="0">
                <a:solidFill>
                  <a:srgbClr val="5FD4BE"/>
                </a:solidFill>
                <a:latin typeface="Calibri" pitchFamily="34" charset="0"/>
                <a:ea typeface="Calibri" pitchFamily="34" charset="-122"/>
                <a:cs typeface="Calibri" pitchFamily="34" charset="-120"/>
              </a:rPr>
              <a:t>✓</a:t>
            </a:r>
            <a:endParaRPr lang="en-US" sz="2000" dirty="0"/>
          </a:p>
        </p:txBody>
      </p:sp>
      <p:sp>
        <p:nvSpPr>
          <p:cNvPr id="68" name="Text 66"/>
          <p:cNvSpPr txBox="1"/>
          <p:nvPr/>
        </p:nvSpPr>
        <p:spPr>
          <a:xfrm>
            <a:off x="9079992" y="2468880"/>
            <a:ext cx="2157984" cy="219456"/>
          </a:xfrm>
          <a:prstGeom prst="rect">
            <a:avLst/>
          </a:prstGeom>
          <a:noFill/>
          <a:ln/>
        </p:spPr>
        <p:txBody>
          <a:bodyPr wrap="square" lIns="0" tIns="0" rIns="0" bIns="0" rtlCol="0" anchor="ctr"/>
          <a:lstStyle/>
          <a:p>
            <a:pPr algn="ctr" indent="0" marL="0">
              <a:lnSpc>
                <a:spcPct val="112000"/>
              </a:lnSpc>
              <a:buNone/>
            </a:pPr>
            <a:r>
              <a:rPr lang="en-US" sz="950" b="1" dirty="0">
                <a:solidFill>
                  <a:srgbClr val="FFFFFF"/>
                </a:solidFill>
                <a:latin typeface="Calibri" pitchFamily="34" charset="0"/>
                <a:ea typeface="Calibri" pitchFamily="34" charset="-122"/>
                <a:cs typeface="Calibri" pitchFamily="34" charset="-120"/>
              </a:rPr>
              <a:t>Appointment confirmed</a:t>
            </a:r>
            <a:endParaRPr lang="en-US" sz="950" dirty="0"/>
          </a:p>
        </p:txBody>
      </p:sp>
      <p:sp>
        <p:nvSpPr>
          <p:cNvPr id="69" name="Shape 67"/>
          <p:cNvSpPr/>
          <p:nvPr/>
        </p:nvSpPr>
        <p:spPr>
          <a:xfrm>
            <a:off x="9079992" y="2779776"/>
            <a:ext cx="2157984" cy="274320"/>
          </a:xfrm>
          <a:prstGeom prst="roundRect">
            <a:avLst>
              <a:gd name="adj" fmla="val 16667"/>
            </a:avLst>
          </a:prstGeom>
          <a:solidFill>
            <a:srgbClr val="1D2740"/>
          </a:solidFill>
          <a:ln w="6350">
            <a:solidFill>
              <a:srgbClr val="2C3A54"/>
            </a:solidFill>
            <a:prstDash val="solid"/>
          </a:ln>
        </p:spPr>
      </p:sp>
      <p:sp>
        <p:nvSpPr>
          <p:cNvPr id="70" name="Text 68"/>
          <p:cNvSpPr txBox="1"/>
          <p:nvPr/>
        </p:nvSpPr>
        <p:spPr>
          <a:xfrm>
            <a:off x="9144000" y="2779776"/>
            <a:ext cx="1144463" cy="27432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Date</a:t>
            </a:r>
            <a:endParaRPr lang="en-US" sz="850" dirty="0"/>
          </a:p>
        </p:txBody>
      </p:sp>
      <p:sp>
        <p:nvSpPr>
          <p:cNvPr id="71" name="Text 69"/>
          <p:cNvSpPr txBox="1"/>
          <p:nvPr/>
        </p:nvSpPr>
        <p:spPr>
          <a:xfrm>
            <a:off x="10331623" y="2779776"/>
            <a:ext cx="756026" cy="274320"/>
          </a:xfrm>
          <a:prstGeom prst="rect">
            <a:avLst/>
          </a:prstGeom>
          <a:noFill/>
          <a:ln/>
        </p:spPr>
        <p:txBody>
          <a:bodyPr wrap="square" lIns="0" tIns="0" rIns="0" bIns="0" rtlCol="0" anchor="ctr"/>
          <a:lstStyle/>
          <a:p>
            <a:pPr algn="r" indent="0" marL="0">
              <a:buNone/>
            </a:pPr>
            <a:r>
              <a:rPr lang="en-US" sz="850" b="1" dirty="0">
                <a:solidFill>
                  <a:srgbClr val="FFFFFF"/>
                </a:solidFill>
                <a:latin typeface="Calibri" pitchFamily="34" charset="0"/>
                <a:ea typeface="Calibri" pitchFamily="34" charset="-122"/>
                <a:cs typeface="Calibri" pitchFamily="34" charset="-120"/>
              </a:rPr>
              <a:t>Wed</a:t>
            </a:r>
            <a:endParaRPr lang="en-US" sz="850" dirty="0"/>
          </a:p>
        </p:txBody>
      </p:sp>
      <p:sp>
        <p:nvSpPr>
          <p:cNvPr id="72" name="Shape 70"/>
          <p:cNvSpPr/>
          <p:nvPr/>
        </p:nvSpPr>
        <p:spPr>
          <a:xfrm>
            <a:off x="9079992" y="3145536"/>
            <a:ext cx="2157984" cy="274320"/>
          </a:xfrm>
          <a:prstGeom prst="roundRect">
            <a:avLst>
              <a:gd name="adj" fmla="val 16667"/>
            </a:avLst>
          </a:prstGeom>
          <a:solidFill>
            <a:srgbClr val="1D2740"/>
          </a:solidFill>
          <a:ln w="6350">
            <a:solidFill>
              <a:srgbClr val="2C3A54"/>
            </a:solidFill>
            <a:prstDash val="solid"/>
          </a:ln>
        </p:spPr>
      </p:sp>
      <p:sp>
        <p:nvSpPr>
          <p:cNvPr id="73" name="Text 71"/>
          <p:cNvSpPr txBox="1"/>
          <p:nvPr/>
        </p:nvSpPr>
        <p:spPr>
          <a:xfrm>
            <a:off x="9144000" y="3145536"/>
            <a:ext cx="1144463" cy="27432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Time</a:t>
            </a:r>
            <a:endParaRPr lang="en-US" sz="850" dirty="0"/>
          </a:p>
        </p:txBody>
      </p:sp>
      <p:sp>
        <p:nvSpPr>
          <p:cNvPr id="74" name="Text 72"/>
          <p:cNvSpPr txBox="1"/>
          <p:nvPr/>
        </p:nvSpPr>
        <p:spPr>
          <a:xfrm>
            <a:off x="10331623" y="3145536"/>
            <a:ext cx="756026" cy="274320"/>
          </a:xfrm>
          <a:prstGeom prst="rect">
            <a:avLst/>
          </a:prstGeom>
          <a:noFill/>
          <a:ln/>
        </p:spPr>
        <p:txBody>
          <a:bodyPr wrap="square" lIns="0" tIns="0" rIns="0" bIns="0" rtlCol="0" anchor="ctr"/>
          <a:lstStyle/>
          <a:p>
            <a:pPr algn="r" indent="0" marL="0">
              <a:buNone/>
            </a:pPr>
            <a:r>
              <a:rPr lang="en-US" sz="850" b="1" dirty="0">
                <a:solidFill>
                  <a:srgbClr val="FFFFFF"/>
                </a:solidFill>
                <a:latin typeface="Calibri" pitchFamily="34" charset="0"/>
                <a:ea typeface="Calibri" pitchFamily="34" charset="-122"/>
                <a:cs typeface="Calibri" pitchFamily="34" charset="-120"/>
              </a:rPr>
              <a:t>4:00 pm</a:t>
            </a:r>
            <a:endParaRPr lang="en-US" sz="850" dirty="0"/>
          </a:p>
        </p:txBody>
      </p:sp>
      <p:sp>
        <p:nvSpPr>
          <p:cNvPr id="75" name="Shape 73"/>
          <p:cNvSpPr/>
          <p:nvPr/>
        </p:nvSpPr>
        <p:spPr>
          <a:xfrm>
            <a:off x="9079992" y="3511296"/>
            <a:ext cx="2157984" cy="274320"/>
          </a:xfrm>
          <a:prstGeom prst="roundRect">
            <a:avLst>
              <a:gd name="adj" fmla="val 16667"/>
            </a:avLst>
          </a:prstGeom>
          <a:solidFill>
            <a:srgbClr val="1D2740"/>
          </a:solidFill>
          <a:ln w="6350">
            <a:solidFill>
              <a:srgbClr val="2C3A54"/>
            </a:solidFill>
            <a:prstDash val="solid"/>
          </a:ln>
        </p:spPr>
      </p:sp>
      <p:sp>
        <p:nvSpPr>
          <p:cNvPr id="76" name="Text 74"/>
          <p:cNvSpPr txBox="1"/>
          <p:nvPr/>
        </p:nvSpPr>
        <p:spPr>
          <a:xfrm>
            <a:off x="9144000" y="3511296"/>
            <a:ext cx="1144463" cy="27432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Service</a:t>
            </a:r>
            <a:endParaRPr lang="en-US" sz="850" dirty="0"/>
          </a:p>
        </p:txBody>
      </p:sp>
      <p:sp>
        <p:nvSpPr>
          <p:cNvPr id="77" name="Text 75"/>
          <p:cNvSpPr txBox="1"/>
          <p:nvPr/>
        </p:nvSpPr>
        <p:spPr>
          <a:xfrm>
            <a:off x="10331623" y="3511296"/>
            <a:ext cx="756026" cy="274320"/>
          </a:xfrm>
          <a:prstGeom prst="rect">
            <a:avLst/>
          </a:prstGeom>
          <a:noFill/>
          <a:ln/>
        </p:spPr>
        <p:txBody>
          <a:bodyPr wrap="square" lIns="0" tIns="0" rIns="0" bIns="0" rtlCol="0" anchor="ctr"/>
          <a:lstStyle/>
          <a:p>
            <a:pPr algn="r" indent="0" marL="0">
              <a:buNone/>
            </a:pPr>
            <a:r>
              <a:rPr lang="en-US" sz="850" dirty="0">
                <a:solidFill>
                  <a:srgbClr val="94A6C4"/>
                </a:solidFill>
                <a:latin typeface="Calibri" pitchFamily="34" charset="0"/>
                <a:ea typeface="Calibri" pitchFamily="34" charset="-122"/>
                <a:cs typeface="Calibri" pitchFamily="34" charset="-120"/>
              </a:rPr>
              <a:t>Bridal</a:t>
            </a:r>
            <a:endParaRPr lang="en-US" sz="850" dirty="0"/>
          </a:p>
        </p:txBody>
      </p:sp>
      <p:sp>
        <p:nvSpPr>
          <p:cNvPr id="78" name="Shape 76"/>
          <p:cNvSpPr/>
          <p:nvPr/>
        </p:nvSpPr>
        <p:spPr>
          <a:xfrm>
            <a:off x="9079992" y="3877056"/>
            <a:ext cx="2157984" cy="274320"/>
          </a:xfrm>
          <a:prstGeom prst="roundRect">
            <a:avLst>
              <a:gd name="adj" fmla="val 16667"/>
            </a:avLst>
          </a:prstGeom>
          <a:solidFill>
            <a:srgbClr val="1D2740"/>
          </a:solidFill>
          <a:ln w="6350">
            <a:solidFill>
              <a:srgbClr val="2C3A54"/>
            </a:solidFill>
            <a:prstDash val="solid"/>
          </a:ln>
        </p:spPr>
      </p:sp>
      <p:sp>
        <p:nvSpPr>
          <p:cNvPr id="79" name="Text 77"/>
          <p:cNvSpPr txBox="1"/>
          <p:nvPr/>
        </p:nvSpPr>
        <p:spPr>
          <a:xfrm>
            <a:off x="9144000" y="3877056"/>
            <a:ext cx="1144463" cy="27432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Status</a:t>
            </a:r>
            <a:endParaRPr lang="en-US" sz="850" dirty="0"/>
          </a:p>
        </p:txBody>
      </p:sp>
      <p:sp>
        <p:nvSpPr>
          <p:cNvPr id="80" name="Text 78"/>
          <p:cNvSpPr txBox="1"/>
          <p:nvPr/>
        </p:nvSpPr>
        <p:spPr>
          <a:xfrm>
            <a:off x="10331623" y="3877056"/>
            <a:ext cx="756026" cy="274320"/>
          </a:xfrm>
          <a:prstGeom prst="rect">
            <a:avLst/>
          </a:prstGeom>
          <a:noFill/>
          <a:ln/>
        </p:spPr>
        <p:txBody>
          <a:bodyPr wrap="square" lIns="0" tIns="0" rIns="0" bIns="0" rtlCol="0" anchor="ctr"/>
          <a:lstStyle/>
          <a:p>
            <a:pPr algn="r" indent="0" marL="0">
              <a:buNone/>
            </a:pPr>
            <a:r>
              <a:rPr lang="en-US" sz="850" b="1" dirty="0">
                <a:solidFill>
                  <a:srgbClr val="5FD4BE"/>
                </a:solidFill>
                <a:latin typeface="Calibri" pitchFamily="34" charset="0"/>
                <a:ea typeface="Calibri" pitchFamily="34" charset="-122"/>
                <a:cs typeface="Calibri" pitchFamily="34" charset="-120"/>
              </a:rPr>
              <a:t>BOOKED</a:t>
            </a:r>
            <a:endParaRPr lang="en-US" sz="850" dirty="0"/>
          </a:p>
        </p:txBody>
      </p:sp>
      <p:sp>
        <p:nvSpPr>
          <p:cNvPr id="81" name="Text 79"/>
          <p:cNvSpPr txBox="1"/>
          <p:nvPr/>
        </p:nvSpPr>
        <p:spPr>
          <a:xfrm>
            <a:off x="566928" y="6254496"/>
            <a:ext cx="11057839" cy="365760"/>
          </a:xfrm>
          <a:prstGeom prst="rect">
            <a:avLst/>
          </a:prstGeom>
          <a:noFill/>
          <a:ln/>
        </p:spPr>
        <p:txBody>
          <a:bodyPr wrap="square" lIns="0" tIns="0" rIns="0" bIns="0" rtlCol="0" anchor="ctr"/>
          <a:lstStyle/>
          <a:p>
            <a:pPr indent="0" marL="0">
              <a:buNone/>
            </a:pPr>
            <a:r>
              <a:rPr lang="en-US" sz="1000" dirty="0">
                <a:solidFill>
                  <a:srgbClr val="6D7F9C"/>
                </a:solidFill>
                <a:latin typeface="Courier New" pitchFamily="34" charset="0"/>
                <a:ea typeface="Courier New" pitchFamily="34" charset="-122"/>
                <a:cs typeface="Courier New" pitchFamily="34" charset="-120"/>
              </a:rPr>
              <a:t>No position. No ETA. No “people ahead of you” — none of those words exist in this flow, because none of them mean anything to a parlour.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11C"/>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00" kern="0" dirty="0">
                <a:solidFill>
                  <a:srgbClr val="9B8CFF"/>
                </a:solidFill>
                <a:latin typeface="Calibri" pitchFamily="34" charset="0"/>
                <a:ea typeface="Calibri" pitchFamily="34" charset="-122"/>
                <a:cs typeface="Calibri" pitchFamily="34" charset="-120"/>
              </a:rPr>
              <a:t>AI</a:t>
            </a:r>
            <a:endParaRPr lang="en-US" sz="1200" dirty="0"/>
          </a:p>
        </p:txBody>
      </p:sp>
      <p:sp>
        <p:nvSpPr>
          <p:cNvPr id="3" name="Text 1"/>
          <p:cNvSpPr txBox="1"/>
          <p:nvPr/>
        </p:nvSpPr>
        <p:spPr>
          <a:xfrm>
            <a:off x="566928" y="621792"/>
            <a:ext cx="11057839" cy="585216"/>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Not a chatbot. A bounded tool layer.</a:t>
            </a:r>
            <a:endParaRPr lang="en-US" sz="3000" dirty="0"/>
          </a:p>
        </p:txBody>
      </p:sp>
      <p:sp>
        <p:nvSpPr>
          <p:cNvPr id="4" name="Text 2"/>
          <p:cNvSpPr txBox="1"/>
          <p:nvPr/>
        </p:nvSpPr>
        <p:spPr>
          <a:xfrm>
            <a:off x="566928" y="1316736"/>
            <a:ext cx="11057839" cy="274320"/>
          </a:xfrm>
          <a:prstGeom prst="rect">
            <a:avLst/>
          </a:prstGeom>
          <a:noFill/>
          <a:ln/>
        </p:spPr>
        <p:txBody>
          <a:bodyPr wrap="square" lIns="0" tIns="0" rIns="0" bIns="0" rtlCol="0" anchor="ctr"/>
          <a:lstStyle/>
          <a:p>
            <a:pPr algn="l" indent="0" marL="0">
              <a:lnSpc>
                <a:spcPct val="112000"/>
              </a:lnSpc>
              <a:buNone/>
            </a:pPr>
            <a:r>
              <a:rPr lang="en-US" sz="1350" dirty="0">
                <a:solidFill>
                  <a:srgbClr val="94A6C4"/>
                </a:solidFill>
                <a:latin typeface="Calibri" pitchFamily="34" charset="0"/>
                <a:ea typeface="Calibri" pitchFamily="34" charset="-122"/>
                <a:cs typeface="Calibri" pitchFamily="34" charset="-120"/>
              </a:rPr>
              <a:t>The model cannot see our database. It can only call functions from a closed list, and every one of them only reads.</a:t>
            </a:r>
            <a:endParaRPr lang="en-US" sz="1350" dirty="0"/>
          </a:p>
        </p:txBody>
      </p:sp>
      <p:sp>
        <p:nvSpPr>
          <p:cNvPr id="5" name="Shape 3"/>
          <p:cNvSpPr/>
          <p:nvPr/>
        </p:nvSpPr>
        <p:spPr>
          <a:xfrm>
            <a:off x="566928" y="1737360"/>
            <a:ext cx="5376672" cy="3072384"/>
          </a:xfrm>
          <a:prstGeom prst="roundRect">
            <a:avLst>
              <a:gd name="adj" fmla="val 2976"/>
            </a:avLst>
          </a:prstGeom>
          <a:solidFill>
            <a:srgbClr val="161F30"/>
          </a:solidFill>
          <a:ln w="12700">
            <a:solidFill>
              <a:srgbClr val="2C3A54"/>
            </a:solidFill>
            <a:prstDash val="solid"/>
          </a:ln>
        </p:spPr>
      </p:sp>
      <p:sp>
        <p:nvSpPr>
          <p:cNvPr id="6" name="Text 4"/>
          <p:cNvSpPr txBox="1"/>
          <p:nvPr/>
        </p:nvSpPr>
        <p:spPr>
          <a:xfrm>
            <a:off x="841248" y="1901952"/>
            <a:ext cx="4828032" cy="219456"/>
          </a:xfrm>
          <a:prstGeom prst="rect">
            <a:avLst/>
          </a:prstGeom>
          <a:noFill/>
          <a:ln/>
        </p:spPr>
        <p:txBody>
          <a:bodyPr wrap="square" lIns="0" tIns="0" rIns="0" bIns="0" rtlCol="0" anchor="ctr"/>
          <a:lstStyle/>
          <a:p>
            <a:pPr indent="0" marL="0">
              <a:buNone/>
            </a:pPr>
            <a:r>
              <a:rPr lang="en-US" sz="1000" b="1" spc="140" kern="0" dirty="0">
                <a:solidFill>
                  <a:srgbClr val="9B8CFF"/>
                </a:solidFill>
                <a:latin typeface="Calibri" pitchFamily="34" charset="0"/>
                <a:ea typeface="Calibri" pitchFamily="34" charset="-122"/>
                <a:cs typeface="Calibri" pitchFamily="34" charset="-120"/>
              </a:rPr>
              <a:t>FOR CUSTOMERS — READ ONLY</a:t>
            </a:r>
            <a:endParaRPr lang="en-US" sz="1000" dirty="0"/>
          </a:p>
        </p:txBody>
      </p:sp>
      <p:sp>
        <p:nvSpPr>
          <p:cNvPr id="7" name="Text 5"/>
          <p:cNvSpPr txBox="1"/>
          <p:nvPr/>
        </p:nvSpPr>
        <p:spPr>
          <a:xfrm>
            <a:off x="841248" y="2212848"/>
            <a:ext cx="4828032" cy="201168"/>
          </a:xfrm>
          <a:prstGeom prst="rect">
            <a:avLst/>
          </a:prstGeom>
          <a:noFill/>
          <a:ln/>
        </p:spPr>
        <p:txBody>
          <a:bodyPr wrap="square" lIns="0" tIns="0" rIns="0" bIns="0"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search_shops</a:t>
            </a:r>
            <a:endParaRPr lang="en-US" sz="1000" dirty="0"/>
          </a:p>
        </p:txBody>
      </p:sp>
      <p:sp>
        <p:nvSpPr>
          <p:cNvPr id="8" name="Text 6"/>
          <p:cNvSpPr txBox="1"/>
          <p:nvPr/>
        </p:nvSpPr>
        <p:spPr>
          <a:xfrm>
            <a:off x="841248" y="2404872"/>
            <a:ext cx="4828032" cy="182880"/>
          </a:xfrm>
          <a:prstGeom prst="rect">
            <a:avLst/>
          </a:prstGeom>
          <a:noFill/>
          <a:ln/>
        </p:spPr>
        <p:txBody>
          <a:bodyPr wrap="square" lIns="0" tIns="0" rIns="0" bIns="0" rtlCol="0" anchor="ctr"/>
          <a:lstStyle/>
          <a:p>
            <a:pPr algn="l" indent="0" marL="0">
              <a:lnSpc>
                <a:spcPct val="112000"/>
              </a:lnSpc>
              <a:buNone/>
            </a:pPr>
            <a:r>
              <a:rPr lang="en-US" sz="950" dirty="0">
                <a:solidFill>
                  <a:srgbClr val="6D7F9C"/>
                </a:solidFill>
                <a:latin typeface="Calibri" pitchFamily="34" charset="0"/>
                <a:ea typeface="Calibri" pitchFamily="34" charset="-122"/>
                <a:cs typeface="Calibri" pitchFamily="34" charset="-120"/>
              </a:rPr>
              <a:t>find shops nearby, by name or service</a:t>
            </a:r>
            <a:endParaRPr lang="en-US" sz="950" dirty="0"/>
          </a:p>
        </p:txBody>
      </p:sp>
      <p:sp>
        <p:nvSpPr>
          <p:cNvPr id="9" name="Text 7"/>
          <p:cNvSpPr txBox="1"/>
          <p:nvPr/>
        </p:nvSpPr>
        <p:spPr>
          <a:xfrm>
            <a:off x="841248" y="2642616"/>
            <a:ext cx="4828032" cy="201168"/>
          </a:xfrm>
          <a:prstGeom prst="rect">
            <a:avLst/>
          </a:prstGeom>
          <a:noFill/>
          <a:ln/>
        </p:spPr>
        <p:txBody>
          <a:bodyPr wrap="square" lIns="0" tIns="0" rIns="0" bIns="0"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search_services</a:t>
            </a:r>
            <a:endParaRPr lang="en-US" sz="1000" dirty="0"/>
          </a:p>
        </p:txBody>
      </p:sp>
      <p:sp>
        <p:nvSpPr>
          <p:cNvPr id="10" name="Text 8"/>
          <p:cNvSpPr txBox="1"/>
          <p:nvPr/>
        </p:nvSpPr>
        <p:spPr>
          <a:xfrm>
            <a:off x="841248" y="2834640"/>
            <a:ext cx="4828032" cy="182880"/>
          </a:xfrm>
          <a:prstGeom prst="rect">
            <a:avLst/>
          </a:prstGeom>
          <a:noFill/>
          <a:ln/>
        </p:spPr>
        <p:txBody>
          <a:bodyPr wrap="square" lIns="0" tIns="0" rIns="0" bIns="0" rtlCol="0" anchor="ctr"/>
          <a:lstStyle/>
          <a:p>
            <a:pPr algn="l" indent="0" marL="0">
              <a:lnSpc>
                <a:spcPct val="112000"/>
              </a:lnSpc>
              <a:buNone/>
            </a:pPr>
            <a:r>
              <a:rPr lang="en-US" sz="950" dirty="0">
                <a:solidFill>
                  <a:srgbClr val="6D7F9C"/>
                </a:solidFill>
                <a:latin typeface="Calibri" pitchFamily="34" charset="0"/>
                <a:ea typeface="Calibri" pitchFamily="34" charset="-122"/>
                <a:cs typeface="Calibri" pitchFamily="34" charset="-120"/>
              </a:rPr>
              <a:t>services and real prices across shops</a:t>
            </a:r>
            <a:endParaRPr lang="en-US" sz="950" dirty="0"/>
          </a:p>
        </p:txBody>
      </p:sp>
      <p:sp>
        <p:nvSpPr>
          <p:cNvPr id="11" name="Text 9"/>
          <p:cNvSpPr txBox="1"/>
          <p:nvPr/>
        </p:nvSpPr>
        <p:spPr>
          <a:xfrm>
            <a:off x="841248" y="3072384"/>
            <a:ext cx="4828032" cy="201168"/>
          </a:xfrm>
          <a:prstGeom prst="rect">
            <a:avLst/>
          </a:prstGeom>
          <a:noFill/>
          <a:ln/>
        </p:spPr>
        <p:txBody>
          <a:bodyPr wrap="square" lIns="0" tIns="0" rIns="0" bIns="0"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get_queue_status</a:t>
            </a:r>
            <a:endParaRPr lang="en-US" sz="1000" dirty="0"/>
          </a:p>
        </p:txBody>
      </p:sp>
      <p:sp>
        <p:nvSpPr>
          <p:cNvPr id="12" name="Text 10"/>
          <p:cNvSpPr txBox="1"/>
          <p:nvPr/>
        </p:nvSpPr>
        <p:spPr>
          <a:xfrm>
            <a:off x="841248" y="3264408"/>
            <a:ext cx="4828032" cy="182880"/>
          </a:xfrm>
          <a:prstGeom prst="rect">
            <a:avLst/>
          </a:prstGeom>
          <a:noFill/>
          <a:ln/>
        </p:spPr>
        <p:txBody>
          <a:bodyPr wrap="square" lIns="0" tIns="0" rIns="0" bIns="0" rtlCol="0" anchor="ctr"/>
          <a:lstStyle/>
          <a:p>
            <a:pPr algn="l" indent="0" marL="0">
              <a:lnSpc>
                <a:spcPct val="112000"/>
              </a:lnSpc>
              <a:buNone/>
            </a:pPr>
            <a:r>
              <a:rPr lang="en-US" sz="950" dirty="0">
                <a:solidFill>
                  <a:srgbClr val="6D7F9C"/>
                </a:solidFill>
                <a:latin typeface="Calibri" pitchFamily="34" charset="0"/>
                <a:ea typeface="Calibri" pitchFamily="34" charset="-122"/>
                <a:cs typeface="Calibri" pitchFamily="34" charset="-120"/>
              </a:rPr>
              <a:t>how long the line is right now</a:t>
            </a:r>
            <a:endParaRPr lang="en-US" sz="950" dirty="0"/>
          </a:p>
        </p:txBody>
      </p:sp>
      <p:sp>
        <p:nvSpPr>
          <p:cNvPr id="13" name="Text 11"/>
          <p:cNvSpPr txBox="1"/>
          <p:nvPr/>
        </p:nvSpPr>
        <p:spPr>
          <a:xfrm>
            <a:off x="841248" y="3502152"/>
            <a:ext cx="4828032" cy="201168"/>
          </a:xfrm>
          <a:prstGeom prst="rect">
            <a:avLst/>
          </a:prstGeom>
          <a:noFill/>
          <a:ln/>
        </p:spPr>
        <p:txBody>
          <a:bodyPr wrap="square" lIns="0" tIns="0" rIns="0" bIns="0"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get_available_slots</a:t>
            </a:r>
            <a:endParaRPr lang="en-US" sz="1000" dirty="0"/>
          </a:p>
        </p:txBody>
      </p:sp>
      <p:sp>
        <p:nvSpPr>
          <p:cNvPr id="14" name="Text 12"/>
          <p:cNvSpPr txBox="1"/>
          <p:nvPr/>
        </p:nvSpPr>
        <p:spPr>
          <a:xfrm>
            <a:off x="841248" y="3694176"/>
            <a:ext cx="4828032" cy="182880"/>
          </a:xfrm>
          <a:prstGeom prst="rect">
            <a:avLst/>
          </a:prstGeom>
          <a:noFill/>
          <a:ln/>
        </p:spPr>
        <p:txBody>
          <a:bodyPr wrap="square" lIns="0" tIns="0" rIns="0" bIns="0" rtlCol="0" anchor="ctr"/>
          <a:lstStyle/>
          <a:p>
            <a:pPr algn="l" indent="0" marL="0">
              <a:lnSpc>
                <a:spcPct val="112000"/>
              </a:lnSpc>
              <a:buNone/>
            </a:pPr>
            <a:r>
              <a:rPr lang="en-US" sz="950" dirty="0">
                <a:solidFill>
                  <a:srgbClr val="6D7F9C"/>
                </a:solidFill>
                <a:latin typeface="Calibri" pitchFamily="34" charset="0"/>
                <a:ea typeface="Calibri" pitchFamily="34" charset="-122"/>
                <a:cs typeface="Calibri" pitchFamily="34" charset="-120"/>
              </a:rPr>
              <a:t>which appointment times are free</a:t>
            </a:r>
            <a:endParaRPr lang="en-US" sz="950" dirty="0"/>
          </a:p>
        </p:txBody>
      </p:sp>
      <p:sp>
        <p:nvSpPr>
          <p:cNvPr id="15" name="Text 13"/>
          <p:cNvSpPr txBox="1"/>
          <p:nvPr/>
        </p:nvSpPr>
        <p:spPr>
          <a:xfrm>
            <a:off x="841248" y="3931920"/>
            <a:ext cx="4828032" cy="201168"/>
          </a:xfrm>
          <a:prstGeom prst="rect">
            <a:avLst/>
          </a:prstGeom>
          <a:noFill/>
          <a:ln/>
        </p:spPr>
        <p:txBody>
          <a:bodyPr wrap="square" lIns="0" tIns="0" rIns="0" bIns="0"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get_customer_history</a:t>
            </a:r>
            <a:endParaRPr lang="en-US" sz="1000" dirty="0"/>
          </a:p>
        </p:txBody>
      </p:sp>
      <p:sp>
        <p:nvSpPr>
          <p:cNvPr id="16" name="Text 14"/>
          <p:cNvSpPr txBox="1"/>
          <p:nvPr/>
        </p:nvSpPr>
        <p:spPr>
          <a:xfrm>
            <a:off x="841248" y="4123944"/>
            <a:ext cx="4828032" cy="182880"/>
          </a:xfrm>
          <a:prstGeom prst="rect">
            <a:avLst/>
          </a:prstGeom>
          <a:noFill/>
          <a:ln/>
        </p:spPr>
        <p:txBody>
          <a:bodyPr wrap="square" lIns="0" tIns="0" rIns="0" bIns="0" rtlCol="0" anchor="ctr"/>
          <a:lstStyle/>
          <a:p>
            <a:pPr algn="l" indent="0" marL="0">
              <a:lnSpc>
                <a:spcPct val="112000"/>
              </a:lnSpc>
              <a:buNone/>
            </a:pPr>
            <a:r>
              <a:rPr lang="en-US" sz="950" dirty="0">
                <a:solidFill>
                  <a:srgbClr val="6D7F9C"/>
                </a:solidFill>
                <a:latin typeface="Calibri" pitchFamily="34" charset="0"/>
                <a:ea typeface="Calibri" pitchFamily="34" charset="-122"/>
                <a:cs typeface="Calibri" pitchFamily="34" charset="-120"/>
              </a:rPr>
              <a:t>their own past visits</a:t>
            </a:r>
            <a:endParaRPr lang="en-US" sz="950" dirty="0"/>
          </a:p>
        </p:txBody>
      </p:sp>
      <p:sp>
        <p:nvSpPr>
          <p:cNvPr id="17" name="Text 15"/>
          <p:cNvSpPr txBox="1"/>
          <p:nvPr/>
        </p:nvSpPr>
        <p:spPr>
          <a:xfrm>
            <a:off x="841248" y="4361688"/>
            <a:ext cx="4828032" cy="201168"/>
          </a:xfrm>
          <a:prstGeom prst="rect">
            <a:avLst/>
          </a:prstGeom>
          <a:noFill/>
          <a:ln/>
        </p:spPr>
        <p:txBody>
          <a:bodyPr wrap="square" lIns="0" tIns="0" rIns="0" bIns="0"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get_my_rewards</a:t>
            </a:r>
            <a:endParaRPr lang="en-US" sz="1000" dirty="0"/>
          </a:p>
        </p:txBody>
      </p:sp>
      <p:sp>
        <p:nvSpPr>
          <p:cNvPr id="18" name="Text 16"/>
          <p:cNvSpPr txBox="1"/>
          <p:nvPr/>
        </p:nvSpPr>
        <p:spPr>
          <a:xfrm>
            <a:off x="841248" y="4553712"/>
            <a:ext cx="4828032" cy="182880"/>
          </a:xfrm>
          <a:prstGeom prst="rect">
            <a:avLst/>
          </a:prstGeom>
          <a:noFill/>
          <a:ln/>
        </p:spPr>
        <p:txBody>
          <a:bodyPr wrap="square" lIns="0" tIns="0" rIns="0" bIns="0" rtlCol="0" anchor="ctr"/>
          <a:lstStyle/>
          <a:p>
            <a:pPr algn="l" indent="0" marL="0">
              <a:lnSpc>
                <a:spcPct val="112000"/>
              </a:lnSpc>
              <a:buNone/>
            </a:pPr>
            <a:r>
              <a:rPr lang="en-US" sz="950" dirty="0">
                <a:solidFill>
                  <a:srgbClr val="6D7F9C"/>
                </a:solidFill>
                <a:latin typeface="Calibri" pitchFamily="34" charset="0"/>
                <a:ea typeface="Calibri" pitchFamily="34" charset="-122"/>
                <a:cs typeface="Calibri" pitchFamily="34" charset="-120"/>
              </a:rPr>
              <a:t>their own reward balance</a:t>
            </a:r>
            <a:endParaRPr lang="en-US" sz="950" dirty="0"/>
          </a:p>
        </p:txBody>
      </p:sp>
      <p:sp>
        <p:nvSpPr>
          <p:cNvPr id="19" name="Shape 17"/>
          <p:cNvSpPr/>
          <p:nvPr/>
        </p:nvSpPr>
        <p:spPr>
          <a:xfrm>
            <a:off x="6248095" y="1737360"/>
            <a:ext cx="5376672" cy="3072384"/>
          </a:xfrm>
          <a:prstGeom prst="roundRect">
            <a:avLst>
              <a:gd name="adj" fmla="val 2976"/>
            </a:avLst>
          </a:prstGeom>
          <a:solidFill>
            <a:srgbClr val="161F30"/>
          </a:solidFill>
          <a:ln w="12700">
            <a:solidFill>
              <a:srgbClr val="2C3A54"/>
            </a:solidFill>
            <a:prstDash val="solid"/>
          </a:ln>
        </p:spPr>
      </p:sp>
      <p:sp>
        <p:nvSpPr>
          <p:cNvPr id="20" name="Text 18"/>
          <p:cNvSpPr txBox="1"/>
          <p:nvPr/>
        </p:nvSpPr>
        <p:spPr>
          <a:xfrm>
            <a:off x="6522415" y="1901952"/>
            <a:ext cx="4828032" cy="219456"/>
          </a:xfrm>
          <a:prstGeom prst="rect">
            <a:avLst/>
          </a:prstGeom>
          <a:noFill/>
          <a:ln/>
        </p:spPr>
        <p:txBody>
          <a:bodyPr wrap="square" lIns="0" tIns="0" rIns="0" bIns="0" rtlCol="0" anchor="ctr"/>
          <a:lstStyle/>
          <a:p>
            <a:pPr indent="0" marL="0">
              <a:buNone/>
            </a:pPr>
            <a:r>
              <a:rPr lang="en-US" sz="1000" b="1" spc="140" kern="0" dirty="0">
                <a:solidFill>
                  <a:srgbClr val="9B8CFF"/>
                </a:solidFill>
                <a:latin typeface="Calibri" pitchFamily="34" charset="0"/>
                <a:ea typeface="Calibri" pitchFamily="34" charset="-122"/>
                <a:cs typeface="Calibri" pitchFamily="34" charset="-120"/>
              </a:rPr>
              <a:t>FOR SHOP OWNERS — READ ONLY</a:t>
            </a:r>
            <a:endParaRPr lang="en-US" sz="1000" dirty="0"/>
          </a:p>
        </p:txBody>
      </p:sp>
      <p:sp>
        <p:nvSpPr>
          <p:cNvPr id="21" name="Text 19"/>
          <p:cNvSpPr txBox="1"/>
          <p:nvPr/>
        </p:nvSpPr>
        <p:spPr>
          <a:xfrm>
            <a:off x="6522415" y="2212848"/>
            <a:ext cx="4828032" cy="201168"/>
          </a:xfrm>
          <a:prstGeom prst="rect">
            <a:avLst/>
          </a:prstGeom>
          <a:noFill/>
          <a:ln/>
        </p:spPr>
        <p:txBody>
          <a:bodyPr wrap="square" lIns="0" tIns="0" rIns="0" bIns="0"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get_overview  ·  get_revenue_trend</a:t>
            </a:r>
            <a:endParaRPr lang="en-US" sz="1000" dirty="0"/>
          </a:p>
        </p:txBody>
      </p:sp>
      <p:sp>
        <p:nvSpPr>
          <p:cNvPr id="22" name="Text 20"/>
          <p:cNvSpPr txBox="1"/>
          <p:nvPr/>
        </p:nvSpPr>
        <p:spPr>
          <a:xfrm>
            <a:off x="6522415" y="2404872"/>
            <a:ext cx="4828032" cy="182880"/>
          </a:xfrm>
          <a:prstGeom prst="rect">
            <a:avLst/>
          </a:prstGeom>
          <a:noFill/>
          <a:ln/>
        </p:spPr>
        <p:txBody>
          <a:bodyPr wrap="square" lIns="0" tIns="0" rIns="0" bIns="0" rtlCol="0" anchor="ctr"/>
          <a:lstStyle/>
          <a:p>
            <a:pPr algn="l" indent="0" marL="0">
              <a:lnSpc>
                <a:spcPct val="112000"/>
              </a:lnSpc>
              <a:buNone/>
            </a:pPr>
            <a:r>
              <a:rPr lang="en-US" sz="950" dirty="0">
                <a:solidFill>
                  <a:srgbClr val="6D7F9C"/>
                </a:solidFill>
                <a:latin typeface="Calibri" pitchFamily="34" charset="0"/>
                <a:ea typeface="Calibri" pitchFamily="34" charset="-122"/>
                <a:cs typeface="Calibri" pitchFamily="34" charset="-120"/>
              </a:rPr>
              <a:t>this shop's own figures, per window</a:t>
            </a:r>
            <a:endParaRPr lang="en-US" sz="950" dirty="0"/>
          </a:p>
        </p:txBody>
      </p:sp>
      <p:sp>
        <p:nvSpPr>
          <p:cNvPr id="23" name="Text 21"/>
          <p:cNvSpPr txBox="1"/>
          <p:nvPr/>
        </p:nvSpPr>
        <p:spPr>
          <a:xfrm>
            <a:off x="6522415" y="2642616"/>
            <a:ext cx="4828032" cy="201168"/>
          </a:xfrm>
          <a:prstGeom prst="rect">
            <a:avLst/>
          </a:prstGeom>
          <a:noFill/>
          <a:ln/>
        </p:spPr>
        <p:txBody>
          <a:bodyPr wrap="square" lIns="0" tIns="0" rIns="0" bIns="0"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get_peak_slots  ·  get_staff_stats</a:t>
            </a:r>
            <a:endParaRPr lang="en-US" sz="1000" dirty="0"/>
          </a:p>
        </p:txBody>
      </p:sp>
      <p:sp>
        <p:nvSpPr>
          <p:cNvPr id="24" name="Text 22"/>
          <p:cNvSpPr txBox="1"/>
          <p:nvPr/>
        </p:nvSpPr>
        <p:spPr>
          <a:xfrm>
            <a:off x="6522415" y="2834640"/>
            <a:ext cx="4828032" cy="182880"/>
          </a:xfrm>
          <a:prstGeom prst="rect">
            <a:avLst/>
          </a:prstGeom>
          <a:noFill/>
          <a:ln/>
        </p:spPr>
        <p:txBody>
          <a:bodyPr wrap="square" lIns="0" tIns="0" rIns="0" bIns="0" rtlCol="0" anchor="ctr"/>
          <a:lstStyle/>
          <a:p>
            <a:pPr algn="l" indent="0" marL="0">
              <a:lnSpc>
                <a:spcPct val="112000"/>
              </a:lnSpc>
              <a:buNone/>
            </a:pPr>
            <a:r>
              <a:rPr lang="en-US" sz="950" dirty="0">
                <a:solidFill>
                  <a:srgbClr val="6D7F9C"/>
                </a:solidFill>
                <a:latin typeface="Calibri" pitchFamily="34" charset="0"/>
                <a:ea typeface="Calibri" pitchFamily="34" charset="-122"/>
                <a:cs typeface="Calibri" pitchFamily="34" charset="-120"/>
              </a:rPr>
              <a:t>which hours and which chairs were busy</a:t>
            </a:r>
            <a:endParaRPr lang="en-US" sz="950" dirty="0"/>
          </a:p>
        </p:txBody>
      </p:sp>
      <p:sp>
        <p:nvSpPr>
          <p:cNvPr id="25" name="Text 23"/>
          <p:cNvSpPr txBox="1"/>
          <p:nvPr/>
        </p:nvSpPr>
        <p:spPr>
          <a:xfrm>
            <a:off x="6522415" y="3072384"/>
            <a:ext cx="4828032" cy="201168"/>
          </a:xfrm>
          <a:prstGeom prst="rect">
            <a:avLst/>
          </a:prstGeom>
          <a:noFill/>
          <a:ln/>
        </p:spPr>
        <p:txBody>
          <a:bodyPr wrap="square" lIns="0" tIns="0" rIns="0" bIns="0"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get_queue_stats  ·  get_appointment_stats</a:t>
            </a:r>
            <a:endParaRPr lang="en-US" sz="1000" dirty="0"/>
          </a:p>
        </p:txBody>
      </p:sp>
      <p:sp>
        <p:nvSpPr>
          <p:cNvPr id="26" name="Text 24"/>
          <p:cNvSpPr txBox="1"/>
          <p:nvPr/>
        </p:nvSpPr>
        <p:spPr>
          <a:xfrm>
            <a:off x="6522415" y="3264408"/>
            <a:ext cx="4828032" cy="182880"/>
          </a:xfrm>
          <a:prstGeom prst="rect">
            <a:avLst/>
          </a:prstGeom>
          <a:noFill/>
          <a:ln/>
        </p:spPr>
        <p:txBody>
          <a:bodyPr wrap="square" lIns="0" tIns="0" rIns="0" bIns="0" rtlCol="0" anchor="ctr"/>
          <a:lstStyle/>
          <a:p>
            <a:pPr algn="l" indent="0" marL="0">
              <a:lnSpc>
                <a:spcPct val="112000"/>
              </a:lnSpc>
              <a:buNone/>
            </a:pPr>
            <a:r>
              <a:rPr lang="en-US" sz="950" dirty="0">
                <a:solidFill>
                  <a:srgbClr val="6D7F9C"/>
                </a:solidFill>
                <a:latin typeface="Calibri" pitchFamily="34" charset="0"/>
                <a:ea typeface="Calibri" pitchFamily="34" charset="-122"/>
                <a:cs typeface="Calibri" pitchFamily="34" charset="-120"/>
              </a:rPr>
              <a:t>throughput for either booking model</a:t>
            </a:r>
            <a:endParaRPr lang="en-US" sz="950" dirty="0"/>
          </a:p>
        </p:txBody>
      </p:sp>
      <p:sp>
        <p:nvSpPr>
          <p:cNvPr id="27" name="Text 25"/>
          <p:cNvSpPr txBox="1"/>
          <p:nvPr/>
        </p:nvSpPr>
        <p:spPr>
          <a:xfrm>
            <a:off x="6522415" y="3502152"/>
            <a:ext cx="4828032" cy="201168"/>
          </a:xfrm>
          <a:prstGeom prst="rect">
            <a:avLst/>
          </a:prstGeom>
          <a:noFill/>
          <a:ln/>
        </p:spPr>
        <p:txBody>
          <a:bodyPr wrap="square" lIns="0" tIns="0" rIns="0" bIns="0"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get_loyalty_stats  ·  get_reward_stats</a:t>
            </a:r>
            <a:endParaRPr lang="en-US" sz="1000" dirty="0"/>
          </a:p>
        </p:txBody>
      </p:sp>
      <p:sp>
        <p:nvSpPr>
          <p:cNvPr id="28" name="Text 26"/>
          <p:cNvSpPr txBox="1"/>
          <p:nvPr/>
        </p:nvSpPr>
        <p:spPr>
          <a:xfrm>
            <a:off x="6522415" y="3694176"/>
            <a:ext cx="4828032" cy="182880"/>
          </a:xfrm>
          <a:prstGeom prst="rect">
            <a:avLst/>
          </a:prstGeom>
          <a:noFill/>
          <a:ln/>
        </p:spPr>
        <p:txBody>
          <a:bodyPr wrap="square" lIns="0" tIns="0" rIns="0" bIns="0" rtlCol="0" anchor="ctr"/>
          <a:lstStyle/>
          <a:p>
            <a:pPr algn="l" indent="0" marL="0">
              <a:lnSpc>
                <a:spcPct val="112000"/>
              </a:lnSpc>
              <a:buNone/>
            </a:pPr>
            <a:r>
              <a:rPr lang="en-US" sz="950" dirty="0">
                <a:solidFill>
                  <a:srgbClr val="6D7F9C"/>
                </a:solidFill>
                <a:latin typeface="Calibri" pitchFamily="34" charset="0"/>
                <a:ea typeface="Calibri" pitchFamily="34" charset="-122"/>
                <a:cs typeface="Calibri" pitchFamily="34" charset="-120"/>
              </a:rPr>
              <a:t>how the programmes are actually used</a:t>
            </a:r>
            <a:endParaRPr lang="en-US" sz="950" dirty="0"/>
          </a:p>
        </p:txBody>
      </p:sp>
      <p:sp>
        <p:nvSpPr>
          <p:cNvPr id="29" name="Text 27"/>
          <p:cNvSpPr txBox="1"/>
          <p:nvPr/>
        </p:nvSpPr>
        <p:spPr>
          <a:xfrm>
            <a:off x="6522415" y="3931920"/>
            <a:ext cx="4828032" cy="201168"/>
          </a:xfrm>
          <a:prstGeom prst="rect">
            <a:avLst/>
          </a:prstGeom>
          <a:noFill/>
          <a:ln/>
        </p:spPr>
        <p:txBody>
          <a:bodyPr wrap="square" lIns="0" tIns="0" rIns="0" bIns="0"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get_customer_segments</a:t>
            </a:r>
            <a:endParaRPr lang="en-US" sz="1000" dirty="0"/>
          </a:p>
        </p:txBody>
      </p:sp>
      <p:sp>
        <p:nvSpPr>
          <p:cNvPr id="30" name="Text 28"/>
          <p:cNvSpPr txBox="1"/>
          <p:nvPr/>
        </p:nvSpPr>
        <p:spPr>
          <a:xfrm>
            <a:off x="6522415" y="4123944"/>
            <a:ext cx="4828032" cy="182880"/>
          </a:xfrm>
          <a:prstGeom prst="rect">
            <a:avLst/>
          </a:prstGeom>
          <a:noFill/>
          <a:ln/>
        </p:spPr>
        <p:txBody>
          <a:bodyPr wrap="square" lIns="0" tIns="0" rIns="0" bIns="0" rtlCol="0" anchor="ctr"/>
          <a:lstStyle/>
          <a:p>
            <a:pPr algn="l" indent="0" marL="0">
              <a:lnSpc>
                <a:spcPct val="112000"/>
              </a:lnSpc>
              <a:buNone/>
            </a:pPr>
            <a:r>
              <a:rPr lang="en-US" sz="950" dirty="0">
                <a:solidFill>
                  <a:srgbClr val="6D7F9C"/>
                </a:solidFill>
                <a:latin typeface="Calibri" pitchFamily="34" charset="0"/>
                <a:ea typeface="Calibri" pitchFamily="34" charset="-122"/>
                <a:cs typeface="Calibri" pitchFamily="34" charset="-120"/>
              </a:rPr>
              <a:t>six segments, each a SQL rule</a:t>
            </a:r>
            <a:endParaRPr lang="en-US" sz="950" dirty="0"/>
          </a:p>
        </p:txBody>
      </p:sp>
      <p:sp>
        <p:nvSpPr>
          <p:cNvPr id="31" name="Text 29"/>
          <p:cNvSpPr txBox="1"/>
          <p:nvPr/>
        </p:nvSpPr>
        <p:spPr>
          <a:xfrm>
            <a:off x="6522415" y="4361688"/>
            <a:ext cx="4828032" cy="201168"/>
          </a:xfrm>
          <a:prstGeom prst="rect">
            <a:avLst/>
          </a:prstGeom>
          <a:noFill/>
          <a:ln/>
        </p:spPr>
        <p:txBody>
          <a:bodyPr wrap="square" lIns="0" tIns="0" rIns="0" bIns="0"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get_segment_insights</a:t>
            </a:r>
            <a:endParaRPr lang="en-US" sz="1000" dirty="0"/>
          </a:p>
        </p:txBody>
      </p:sp>
      <p:sp>
        <p:nvSpPr>
          <p:cNvPr id="32" name="Text 30"/>
          <p:cNvSpPr txBox="1"/>
          <p:nvPr/>
        </p:nvSpPr>
        <p:spPr>
          <a:xfrm>
            <a:off x="6522415" y="4553712"/>
            <a:ext cx="4828032" cy="182880"/>
          </a:xfrm>
          <a:prstGeom prst="rect">
            <a:avLst/>
          </a:prstGeom>
          <a:noFill/>
          <a:ln/>
        </p:spPr>
        <p:txBody>
          <a:bodyPr wrap="square" lIns="0" tIns="0" rIns="0" bIns="0" rtlCol="0" anchor="ctr"/>
          <a:lstStyle/>
          <a:p>
            <a:pPr algn="l" indent="0" marL="0">
              <a:lnSpc>
                <a:spcPct val="112000"/>
              </a:lnSpc>
              <a:buNone/>
            </a:pPr>
            <a:r>
              <a:rPr lang="en-US" sz="950" dirty="0">
                <a:solidFill>
                  <a:srgbClr val="6D7F9C"/>
                </a:solidFill>
                <a:latin typeface="Calibri" pitchFamily="34" charset="0"/>
                <a:ea typeface="Calibri" pitchFamily="34" charset="-122"/>
                <a:cs typeface="Calibri" pitchFamily="34" charset="-120"/>
              </a:rPr>
              <a:t>why a segment may need attention</a:t>
            </a:r>
            <a:endParaRPr lang="en-US" sz="950" dirty="0"/>
          </a:p>
        </p:txBody>
      </p:sp>
      <p:sp>
        <p:nvSpPr>
          <p:cNvPr id="33" name="Shape 31"/>
          <p:cNvSpPr/>
          <p:nvPr/>
        </p:nvSpPr>
        <p:spPr>
          <a:xfrm>
            <a:off x="566928" y="4974336"/>
            <a:ext cx="11057839" cy="640080"/>
          </a:xfrm>
          <a:prstGeom prst="roundRect">
            <a:avLst>
              <a:gd name="adj" fmla="val 14286"/>
            </a:avLst>
          </a:prstGeom>
          <a:solidFill>
            <a:srgbClr val="1D2740"/>
          </a:solidFill>
          <a:ln w="15240">
            <a:solidFill>
              <a:srgbClr val="9B8CFF"/>
            </a:solidFill>
            <a:prstDash val="solid"/>
          </a:ln>
        </p:spPr>
      </p:sp>
      <p:sp>
        <p:nvSpPr>
          <p:cNvPr id="34" name="Text 32"/>
          <p:cNvSpPr txBox="1"/>
          <p:nvPr/>
        </p:nvSpPr>
        <p:spPr>
          <a:xfrm>
            <a:off x="841248" y="5084064"/>
            <a:ext cx="2743200" cy="219456"/>
          </a:xfrm>
          <a:prstGeom prst="rect">
            <a:avLst/>
          </a:prstGeom>
          <a:noFill/>
          <a:ln/>
        </p:spPr>
        <p:txBody>
          <a:bodyPr wrap="square" lIns="0" tIns="0" rIns="0" bIns="0" rtlCol="0" anchor="ctr"/>
          <a:lstStyle/>
          <a:p>
            <a:pPr indent="0" marL="0">
              <a:buNone/>
            </a:pPr>
            <a:r>
              <a:rPr lang="en-US" sz="1000" b="1" spc="140" kern="0" dirty="0">
                <a:solidFill>
                  <a:srgbClr val="9B8CFF"/>
                </a:solidFill>
                <a:latin typeface="Calibri" pitchFamily="34" charset="0"/>
                <a:ea typeface="Calibri" pitchFamily="34" charset="-122"/>
                <a:cs typeface="Calibri" pitchFamily="34" charset="-120"/>
              </a:rPr>
              <a:t>CAN PROPOSE — 4 ACTIONS</a:t>
            </a:r>
            <a:endParaRPr lang="en-US" sz="1000" dirty="0"/>
          </a:p>
        </p:txBody>
      </p:sp>
      <p:sp>
        <p:nvSpPr>
          <p:cNvPr id="35" name="Text 33"/>
          <p:cNvSpPr txBox="1"/>
          <p:nvPr/>
        </p:nvSpPr>
        <p:spPr>
          <a:xfrm>
            <a:off x="3675888" y="5047488"/>
            <a:ext cx="7583119"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Join a queue  ·  Book an appointment  ·  Redeem a reward  ·  Draft a marketing campaign</a:t>
            </a:r>
            <a:endParaRPr lang="en-US" sz="1300" dirty="0"/>
          </a:p>
        </p:txBody>
      </p:sp>
      <p:sp>
        <p:nvSpPr>
          <p:cNvPr id="36" name="Shape 34"/>
          <p:cNvSpPr/>
          <p:nvPr/>
        </p:nvSpPr>
        <p:spPr>
          <a:xfrm>
            <a:off x="566928" y="5724144"/>
            <a:ext cx="11057839" cy="603504"/>
          </a:xfrm>
          <a:prstGeom prst="roundRect">
            <a:avLst>
              <a:gd name="adj" fmla="val 15152"/>
            </a:avLst>
          </a:prstGeom>
          <a:solidFill>
            <a:srgbClr val="1B1020"/>
          </a:solidFill>
          <a:ln w="16510">
            <a:solidFill>
              <a:srgbClr val="FF5C39"/>
            </a:solidFill>
            <a:prstDash val="solid"/>
          </a:ln>
        </p:spPr>
      </p:sp>
      <p:sp>
        <p:nvSpPr>
          <p:cNvPr id="37" name="Text 35"/>
          <p:cNvSpPr txBox="1"/>
          <p:nvPr/>
        </p:nvSpPr>
        <p:spPr>
          <a:xfrm>
            <a:off x="841248" y="5724144"/>
            <a:ext cx="2926080" cy="603504"/>
          </a:xfrm>
          <a:prstGeom prst="rect">
            <a:avLst/>
          </a:prstGeom>
          <a:noFill/>
          <a:ln/>
        </p:spPr>
        <p:txBody>
          <a:bodyPr wrap="square" lIns="0" tIns="0" rIns="0" bIns="0" rtlCol="0" anchor="ctr"/>
          <a:lstStyle/>
          <a:p>
            <a:pPr indent="0" marL="0">
              <a:buNone/>
            </a:pPr>
            <a:r>
              <a:rPr lang="en-US" sz="1200" b="1" dirty="0">
                <a:solidFill>
                  <a:srgbClr val="94A6C4"/>
                </a:solidFill>
                <a:latin typeface="Calibri" pitchFamily="34" charset="0"/>
                <a:ea typeface="Calibri" pitchFamily="34" charset="-122"/>
                <a:cs typeface="Calibri" pitchFamily="34" charset="-120"/>
              </a:rPr>
              <a:t>CAN EXECUTE ON ITS OWN:</a:t>
            </a:r>
            <a:endParaRPr lang="en-US" sz="1200" dirty="0"/>
          </a:p>
        </p:txBody>
      </p:sp>
      <p:sp>
        <p:nvSpPr>
          <p:cNvPr id="38" name="Text 36"/>
          <p:cNvSpPr txBox="1"/>
          <p:nvPr/>
        </p:nvSpPr>
        <p:spPr>
          <a:xfrm>
            <a:off x="3767328" y="5724144"/>
            <a:ext cx="2194560" cy="603504"/>
          </a:xfrm>
          <a:prstGeom prst="rect">
            <a:avLst/>
          </a:prstGeom>
          <a:noFill/>
          <a:ln/>
        </p:spPr>
        <p:txBody>
          <a:bodyPr wrap="square" lIns="0" tIns="0" rIns="0" bIns="0" rtlCol="0" anchor="ctr"/>
          <a:lstStyle/>
          <a:p>
            <a:pPr indent="0" marL="0">
              <a:buNone/>
            </a:pPr>
            <a:r>
              <a:rPr lang="en-US" sz="2400" b="1" dirty="0">
                <a:solidFill>
                  <a:srgbClr val="FF5C39"/>
                </a:solidFill>
                <a:latin typeface="Arial" pitchFamily="34" charset="0"/>
                <a:ea typeface="Arial" pitchFamily="34" charset="-122"/>
                <a:cs typeface="Arial" pitchFamily="34" charset="-120"/>
              </a:rPr>
              <a:t>NOTHING</a:t>
            </a:r>
            <a:endParaRPr lang="en-US" sz="2400" dirty="0"/>
          </a:p>
        </p:txBody>
      </p:sp>
      <p:sp>
        <p:nvSpPr>
          <p:cNvPr id="39" name="Text 37"/>
          <p:cNvSpPr txBox="1"/>
          <p:nvPr/>
        </p:nvSpPr>
        <p:spPr>
          <a:xfrm>
            <a:off x="6053328" y="5724144"/>
            <a:ext cx="5297119" cy="603504"/>
          </a:xfrm>
          <a:prstGeom prst="rect">
            <a:avLst/>
          </a:prstGeom>
          <a:noFill/>
          <a:ln/>
        </p:spPr>
        <p:txBody>
          <a:bodyPr wrap="square" lIns="0" tIns="0" rIns="0" bIns="0" rtlCol="0" anchor="ctr"/>
          <a:lstStyle/>
          <a:p>
            <a:pPr algn="r" indent="0" marL="0">
              <a:buNone/>
            </a:pPr>
            <a:r>
              <a:rPr lang="en-US" sz="1100" dirty="0">
                <a:solidFill>
                  <a:srgbClr val="94A6C4"/>
                </a:solidFill>
                <a:latin typeface="Calibri" pitchFamily="34" charset="0"/>
                <a:ea typeface="Calibri" pitchFamily="34" charset="-122"/>
                <a:cs typeface="Calibri" pitchFamily="34" charset="-120"/>
              </a:rPr>
              <a:t>25 tools in the registry · all read-only · there is no write tool, and a test asserts it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11C"/>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00" kern="0" dirty="0">
                <a:solidFill>
                  <a:srgbClr val="9B8CFF"/>
                </a:solidFill>
                <a:latin typeface="Calibri" pitchFamily="34" charset="0"/>
                <a:ea typeface="Calibri" pitchFamily="34" charset="-122"/>
                <a:cs typeface="Calibri" pitchFamily="34" charset="-120"/>
              </a:rPr>
              <a:t>AI ARCHITECTURE</a:t>
            </a:r>
            <a:endParaRPr lang="en-US" sz="1200" dirty="0"/>
          </a:p>
        </p:txBody>
      </p:sp>
      <p:sp>
        <p:nvSpPr>
          <p:cNvPr id="3" name="Text 1"/>
          <p:cNvSpPr txBox="1"/>
          <p:nvPr/>
        </p:nvSpPr>
        <p:spPr>
          <a:xfrm>
            <a:off x="566928" y="621792"/>
            <a:ext cx="11057839" cy="585216"/>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The AI proposes. A human confirms.</a:t>
            </a:r>
            <a:endParaRPr lang="en-US" sz="3000" dirty="0"/>
          </a:p>
        </p:txBody>
      </p:sp>
      <p:sp>
        <p:nvSpPr>
          <p:cNvPr id="4" name="Shape 2"/>
          <p:cNvSpPr/>
          <p:nvPr/>
        </p:nvSpPr>
        <p:spPr>
          <a:xfrm>
            <a:off x="566928" y="1627632"/>
            <a:ext cx="5376672" cy="4041648"/>
          </a:xfrm>
          <a:prstGeom prst="roundRect">
            <a:avLst>
              <a:gd name="adj" fmla="val 2262"/>
            </a:avLst>
          </a:prstGeom>
          <a:solidFill>
            <a:srgbClr val="161F30"/>
          </a:solidFill>
          <a:ln w="12700">
            <a:solidFill>
              <a:srgbClr val="2C3A54"/>
            </a:solidFill>
            <a:prstDash val="solid"/>
          </a:ln>
        </p:spPr>
      </p:sp>
      <p:sp>
        <p:nvSpPr>
          <p:cNvPr id="5" name="Text 3"/>
          <p:cNvSpPr txBox="1"/>
          <p:nvPr/>
        </p:nvSpPr>
        <p:spPr>
          <a:xfrm>
            <a:off x="822960" y="1773936"/>
            <a:ext cx="4864608" cy="219456"/>
          </a:xfrm>
          <a:prstGeom prst="rect">
            <a:avLst/>
          </a:prstGeom>
          <a:noFill/>
          <a:ln/>
        </p:spPr>
        <p:txBody>
          <a:bodyPr wrap="square" lIns="0" tIns="0" rIns="0" bIns="0" rtlCol="0" anchor="ctr"/>
          <a:lstStyle/>
          <a:p>
            <a:pPr indent="0" marL="0">
              <a:buNone/>
            </a:pPr>
            <a:r>
              <a:rPr lang="en-US" sz="1000" b="1" spc="140" kern="0" dirty="0">
                <a:solidFill>
                  <a:srgbClr val="9B8CFF"/>
                </a:solidFill>
                <a:latin typeface="Calibri" pitchFamily="34" charset="0"/>
                <a:ea typeface="Calibri" pitchFamily="34" charset="-122"/>
                <a:cs typeface="Calibri" pitchFamily="34" charset="-120"/>
              </a:rPr>
              <a:t>READING — ANSWERING A QUESTION</a:t>
            </a:r>
            <a:endParaRPr lang="en-US" sz="1000" dirty="0"/>
          </a:p>
        </p:txBody>
      </p:sp>
      <p:sp>
        <p:nvSpPr>
          <p:cNvPr id="6" name="Shape 4"/>
          <p:cNvSpPr/>
          <p:nvPr/>
        </p:nvSpPr>
        <p:spPr>
          <a:xfrm>
            <a:off x="822960" y="2048256"/>
            <a:ext cx="4864608" cy="384048"/>
          </a:xfrm>
          <a:prstGeom prst="roundRect">
            <a:avLst>
              <a:gd name="adj" fmla="val 16667"/>
            </a:avLst>
          </a:prstGeom>
          <a:solidFill>
            <a:srgbClr val="1D2740"/>
          </a:solidFill>
          <a:ln w="9525">
            <a:solidFill>
              <a:srgbClr val="2C3A54"/>
            </a:solidFill>
            <a:prstDash val="solid"/>
          </a:ln>
        </p:spPr>
      </p:sp>
      <p:sp>
        <p:nvSpPr>
          <p:cNvPr id="7" name="Text 5"/>
          <p:cNvSpPr txBox="1"/>
          <p:nvPr/>
        </p:nvSpPr>
        <p:spPr>
          <a:xfrm>
            <a:off x="932688" y="2066544"/>
            <a:ext cx="4645152" cy="18288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User asks a question</a:t>
            </a:r>
            <a:endParaRPr lang="en-US" sz="1050" dirty="0"/>
          </a:p>
        </p:txBody>
      </p:sp>
      <p:sp>
        <p:nvSpPr>
          <p:cNvPr id="8" name="Text 6"/>
          <p:cNvSpPr txBox="1"/>
          <p:nvPr/>
        </p:nvSpPr>
        <p:spPr>
          <a:xfrm>
            <a:off x="932688" y="2240280"/>
            <a:ext cx="4645152" cy="173736"/>
          </a:xfrm>
          <a:prstGeom prst="rect">
            <a:avLst/>
          </a:prstGeom>
          <a:noFill/>
          <a:ln/>
        </p:spPr>
        <p:txBody>
          <a:bodyPr wrap="square" lIns="0" tIns="0" rIns="0" bIns="0" rtlCol="0" anchor="ctr"/>
          <a:lstStyle/>
          <a:p>
            <a:pPr indent="0" marL="0">
              <a:buNone/>
            </a:pPr>
            <a:r>
              <a:rPr lang="en-US" sz="850" dirty="0">
                <a:solidFill>
                  <a:srgbClr val="6D7F9C"/>
                </a:solidFill>
                <a:latin typeface="Calibri" pitchFamily="34" charset="0"/>
                <a:ea typeface="Calibri" pitchFamily="34" charset="-122"/>
                <a:cs typeface="Calibri" pitchFamily="34" charset="-120"/>
              </a:rPr>
              <a:t>in Bangla, in the AI widget</a:t>
            </a:r>
            <a:endParaRPr lang="en-US" sz="850" dirty="0"/>
          </a:p>
        </p:txBody>
      </p:sp>
      <p:sp>
        <p:nvSpPr>
          <p:cNvPr id="9" name="Shape 7"/>
          <p:cNvSpPr/>
          <p:nvPr/>
        </p:nvSpPr>
        <p:spPr>
          <a:xfrm>
            <a:off x="822960" y="2514600"/>
            <a:ext cx="4864608" cy="384048"/>
          </a:xfrm>
          <a:prstGeom prst="roundRect">
            <a:avLst>
              <a:gd name="adj" fmla="val 16667"/>
            </a:avLst>
          </a:prstGeom>
          <a:solidFill>
            <a:srgbClr val="1D2740"/>
          </a:solidFill>
          <a:ln w="9525">
            <a:solidFill>
              <a:srgbClr val="2C3A54"/>
            </a:solidFill>
            <a:prstDash val="solid"/>
          </a:ln>
        </p:spPr>
      </p:sp>
      <p:sp>
        <p:nvSpPr>
          <p:cNvPr id="10" name="Text 8"/>
          <p:cNvSpPr txBox="1"/>
          <p:nvPr/>
        </p:nvSpPr>
        <p:spPr>
          <a:xfrm>
            <a:off x="932688" y="2532888"/>
            <a:ext cx="4645152" cy="18288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POST /api/ai/agent</a:t>
            </a:r>
            <a:endParaRPr lang="en-US" sz="1050" dirty="0"/>
          </a:p>
        </p:txBody>
      </p:sp>
      <p:sp>
        <p:nvSpPr>
          <p:cNvPr id="11" name="Text 9"/>
          <p:cNvSpPr txBox="1"/>
          <p:nvPr/>
        </p:nvSpPr>
        <p:spPr>
          <a:xfrm>
            <a:off x="932688" y="2706624"/>
            <a:ext cx="4645152" cy="173736"/>
          </a:xfrm>
          <a:prstGeom prst="rect">
            <a:avLst/>
          </a:prstGeom>
          <a:noFill/>
          <a:ln/>
        </p:spPr>
        <p:txBody>
          <a:bodyPr wrap="square" lIns="0" tIns="0" rIns="0" bIns="0" rtlCol="0" anchor="ctr"/>
          <a:lstStyle/>
          <a:p>
            <a:pPr indent="0" marL="0">
              <a:buNone/>
            </a:pPr>
            <a:r>
              <a:rPr lang="en-US" sz="850" dirty="0">
                <a:solidFill>
                  <a:srgbClr val="6D7F9C"/>
                </a:solidFill>
                <a:latin typeface="Calibri" pitchFamily="34" charset="0"/>
                <a:ea typeface="Calibri" pitchFamily="34" charset="-122"/>
                <a:cs typeface="Calibri" pitchFamily="34" charset="-120"/>
              </a:rPr>
              <a:t>server only — the key never reaches a browser</a:t>
            </a:r>
            <a:endParaRPr lang="en-US" sz="850" dirty="0"/>
          </a:p>
        </p:txBody>
      </p:sp>
      <p:sp>
        <p:nvSpPr>
          <p:cNvPr id="12" name="Shape 10"/>
          <p:cNvSpPr/>
          <p:nvPr/>
        </p:nvSpPr>
        <p:spPr>
          <a:xfrm>
            <a:off x="822960" y="2980944"/>
            <a:ext cx="4864608" cy="384048"/>
          </a:xfrm>
          <a:prstGeom prst="roundRect">
            <a:avLst>
              <a:gd name="adj" fmla="val 16667"/>
            </a:avLst>
          </a:prstGeom>
          <a:solidFill>
            <a:srgbClr val="1A1230"/>
          </a:solidFill>
          <a:ln w="9525">
            <a:solidFill>
              <a:srgbClr val="2C3A54"/>
            </a:solidFill>
            <a:prstDash val="solid"/>
          </a:ln>
        </p:spPr>
      </p:sp>
      <p:sp>
        <p:nvSpPr>
          <p:cNvPr id="13" name="Text 11"/>
          <p:cNvSpPr txBox="1"/>
          <p:nvPr/>
        </p:nvSpPr>
        <p:spPr>
          <a:xfrm>
            <a:off x="932688" y="2999232"/>
            <a:ext cx="4645152" cy="182880"/>
          </a:xfrm>
          <a:prstGeom prst="rect">
            <a:avLst/>
          </a:prstGeom>
          <a:noFill/>
          <a:ln/>
        </p:spPr>
        <p:txBody>
          <a:bodyPr wrap="square" lIns="0" tIns="0" rIns="0" bIns="0" rtlCol="0" anchor="ctr"/>
          <a:lstStyle/>
          <a:p>
            <a:pPr indent="0" marL="0">
              <a:buNone/>
            </a:pPr>
            <a:r>
              <a:rPr lang="en-US" sz="1050" b="1" dirty="0">
                <a:solidFill>
                  <a:srgbClr val="9B8CFF"/>
                </a:solidFill>
                <a:latin typeface="Calibri" pitchFamily="34" charset="0"/>
                <a:ea typeface="Calibri" pitchFamily="34" charset="-122"/>
                <a:cs typeface="Calibri" pitchFamily="34" charset="-120"/>
              </a:rPr>
              <a:t>Who is this, really?</a:t>
            </a:r>
            <a:endParaRPr lang="en-US" sz="1050" dirty="0"/>
          </a:p>
        </p:txBody>
      </p:sp>
      <p:sp>
        <p:nvSpPr>
          <p:cNvPr id="14" name="Text 12"/>
          <p:cNvSpPr txBox="1"/>
          <p:nvPr/>
        </p:nvSpPr>
        <p:spPr>
          <a:xfrm>
            <a:off x="932688" y="3172968"/>
            <a:ext cx="4645152" cy="173736"/>
          </a:xfrm>
          <a:prstGeom prst="rect">
            <a:avLst/>
          </a:prstGeom>
          <a:noFill/>
          <a:ln/>
        </p:spPr>
        <p:txBody>
          <a:bodyPr wrap="square" lIns="0" tIns="0" rIns="0" bIns="0" rtlCol="0" anchor="ctr"/>
          <a:lstStyle/>
          <a:p>
            <a:pPr indent="0" marL="0">
              <a:buNone/>
            </a:pPr>
            <a:r>
              <a:rPr lang="en-US" sz="850" dirty="0">
                <a:solidFill>
                  <a:srgbClr val="6D7F9C"/>
                </a:solidFill>
                <a:latin typeface="Calibri" pitchFamily="34" charset="0"/>
                <a:ea typeface="Calibri" pitchFamily="34" charset="-122"/>
                <a:cs typeface="Calibri" pitchFamily="34" charset="-120"/>
              </a:rPr>
              <a:t>auth.getUser(); the role is DERIVED from a DB query, never claimed in the request</a:t>
            </a:r>
            <a:endParaRPr lang="en-US" sz="850" dirty="0"/>
          </a:p>
        </p:txBody>
      </p:sp>
      <p:sp>
        <p:nvSpPr>
          <p:cNvPr id="15" name="Shape 13"/>
          <p:cNvSpPr/>
          <p:nvPr/>
        </p:nvSpPr>
        <p:spPr>
          <a:xfrm>
            <a:off x="822960" y="3447288"/>
            <a:ext cx="4864608" cy="384048"/>
          </a:xfrm>
          <a:prstGeom prst="roundRect">
            <a:avLst>
              <a:gd name="adj" fmla="val 16667"/>
            </a:avLst>
          </a:prstGeom>
          <a:solidFill>
            <a:srgbClr val="1D2740"/>
          </a:solidFill>
          <a:ln w="9525">
            <a:solidFill>
              <a:srgbClr val="2C3A54"/>
            </a:solidFill>
            <a:prstDash val="solid"/>
          </a:ln>
        </p:spPr>
      </p:sp>
      <p:sp>
        <p:nvSpPr>
          <p:cNvPr id="16" name="Text 14"/>
          <p:cNvSpPr txBox="1"/>
          <p:nvPr/>
        </p:nvSpPr>
        <p:spPr>
          <a:xfrm>
            <a:off x="932688" y="3465576"/>
            <a:ext cx="4645152" cy="18288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Bounded agent loop</a:t>
            </a:r>
            <a:endParaRPr lang="en-US" sz="1050" dirty="0"/>
          </a:p>
        </p:txBody>
      </p:sp>
      <p:sp>
        <p:nvSpPr>
          <p:cNvPr id="17" name="Text 15"/>
          <p:cNvSpPr txBox="1"/>
          <p:nvPr/>
        </p:nvSpPr>
        <p:spPr>
          <a:xfrm>
            <a:off x="932688" y="3639312"/>
            <a:ext cx="4645152" cy="173736"/>
          </a:xfrm>
          <a:prstGeom prst="rect">
            <a:avLst/>
          </a:prstGeom>
          <a:noFill/>
          <a:ln/>
        </p:spPr>
        <p:txBody>
          <a:bodyPr wrap="square" lIns="0" tIns="0" rIns="0" bIns="0" rtlCol="0" anchor="ctr"/>
          <a:lstStyle/>
          <a:p>
            <a:pPr indent="0" marL="0">
              <a:buNone/>
            </a:pPr>
            <a:r>
              <a:rPr lang="en-US" sz="850" dirty="0">
                <a:solidFill>
                  <a:srgbClr val="6D7F9C"/>
                </a:solidFill>
                <a:latin typeface="Calibri" pitchFamily="34" charset="0"/>
                <a:ea typeface="Calibri" pitchFamily="34" charset="-122"/>
                <a:cs typeface="Calibri" pitchFamily="34" charset="-120"/>
              </a:rPr>
              <a:t>MAX_ITERATIONS 4  ·  MAX_TOOL_CALLS 8</a:t>
            </a:r>
            <a:endParaRPr lang="en-US" sz="850" dirty="0"/>
          </a:p>
        </p:txBody>
      </p:sp>
      <p:sp>
        <p:nvSpPr>
          <p:cNvPr id="18" name="Shape 16"/>
          <p:cNvSpPr/>
          <p:nvPr/>
        </p:nvSpPr>
        <p:spPr>
          <a:xfrm>
            <a:off x="822960" y="3913632"/>
            <a:ext cx="4864608" cy="384048"/>
          </a:xfrm>
          <a:prstGeom prst="roundRect">
            <a:avLst>
              <a:gd name="adj" fmla="val 16667"/>
            </a:avLst>
          </a:prstGeom>
          <a:solidFill>
            <a:srgbClr val="1A1230"/>
          </a:solidFill>
          <a:ln w="9525">
            <a:solidFill>
              <a:srgbClr val="2C3A54"/>
            </a:solidFill>
            <a:prstDash val="solid"/>
          </a:ln>
        </p:spPr>
      </p:sp>
      <p:sp>
        <p:nvSpPr>
          <p:cNvPr id="19" name="Text 17"/>
          <p:cNvSpPr txBox="1"/>
          <p:nvPr/>
        </p:nvSpPr>
        <p:spPr>
          <a:xfrm>
            <a:off x="932688" y="3931920"/>
            <a:ext cx="4645152" cy="182880"/>
          </a:xfrm>
          <a:prstGeom prst="rect">
            <a:avLst/>
          </a:prstGeom>
          <a:noFill/>
          <a:ln/>
        </p:spPr>
        <p:txBody>
          <a:bodyPr wrap="square" lIns="0" tIns="0" rIns="0" bIns="0" rtlCol="0" anchor="ctr"/>
          <a:lstStyle/>
          <a:p>
            <a:pPr indent="0" marL="0">
              <a:buNone/>
            </a:pPr>
            <a:r>
              <a:rPr lang="en-US" sz="1050" b="1" dirty="0">
                <a:solidFill>
                  <a:srgbClr val="9B8CFF"/>
                </a:solidFill>
                <a:latin typeface="Calibri" pitchFamily="34" charset="0"/>
                <a:ea typeface="Calibri" pitchFamily="34" charset="-122"/>
                <a:cs typeface="Calibri" pitchFamily="34" charset="-120"/>
              </a:rPr>
              <a:t>Closed tool registry</a:t>
            </a:r>
            <a:endParaRPr lang="en-US" sz="1050" dirty="0"/>
          </a:p>
        </p:txBody>
      </p:sp>
      <p:sp>
        <p:nvSpPr>
          <p:cNvPr id="20" name="Text 18"/>
          <p:cNvSpPr txBox="1"/>
          <p:nvPr/>
        </p:nvSpPr>
        <p:spPr>
          <a:xfrm>
            <a:off x="932688" y="4105656"/>
            <a:ext cx="4645152" cy="173736"/>
          </a:xfrm>
          <a:prstGeom prst="rect">
            <a:avLst/>
          </a:prstGeom>
          <a:noFill/>
          <a:ln/>
        </p:spPr>
        <p:txBody>
          <a:bodyPr wrap="square" lIns="0" tIns="0" rIns="0" bIns="0" rtlCol="0" anchor="ctr"/>
          <a:lstStyle/>
          <a:p>
            <a:pPr indent="0" marL="0">
              <a:buNone/>
            </a:pPr>
            <a:r>
              <a:rPr lang="en-US" sz="850" dirty="0">
                <a:solidFill>
                  <a:srgbClr val="6D7F9C"/>
                </a:solidFill>
                <a:latin typeface="Calibri" pitchFamily="34" charset="0"/>
                <a:ea typeface="Calibri" pitchFamily="34" charset="-122"/>
                <a:cs typeface="Calibri" pitchFamily="34" charset="-120"/>
              </a:rPr>
              <a:t>25 read-only tools, filtered by role. An unregistered name is refused.</a:t>
            </a:r>
            <a:endParaRPr lang="en-US" sz="850" dirty="0"/>
          </a:p>
        </p:txBody>
      </p:sp>
      <p:sp>
        <p:nvSpPr>
          <p:cNvPr id="21" name="Shape 19"/>
          <p:cNvSpPr/>
          <p:nvPr/>
        </p:nvSpPr>
        <p:spPr>
          <a:xfrm>
            <a:off x="822960" y="4379976"/>
            <a:ext cx="4864608" cy="384048"/>
          </a:xfrm>
          <a:prstGeom prst="roundRect">
            <a:avLst>
              <a:gd name="adj" fmla="val 16667"/>
            </a:avLst>
          </a:prstGeom>
          <a:solidFill>
            <a:srgbClr val="1D2740"/>
          </a:solidFill>
          <a:ln w="9525">
            <a:solidFill>
              <a:srgbClr val="2C3A54"/>
            </a:solidFill>
            <a:prstDash val="solid"/>
          </a:ln>
        </p:spPr>
      </p:sp>
      <p:sp>
        <p:nvSpPr>
          <p:cNvPr id="22" name="Text 20"/>
          <p:cNvSpPr txBox="1"/>
          <p:nvPr/>
        </p:nvSpPr>
        <p:spPr>
          <a:xfrm>
            <a:off x="932688" y="4398264"/>
            <a:ext cx="4645152" cy="18288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Supabase — cookie-bound</a:t>
            </a:r>
            <a:endParaRPr lang="en-US" sz="1050" dirty="0"/>
          </a:p>
        </p:txBody>
      </p:sp>
      <p:sp>
        <p:nvSpPr>
          <p:cNvPr id="23" name="Text 21"/>
          <p:cNvSpPr txBox="1"/>
          <p:nvPr/>
        </p:nvSpPr>
        <p:spPr>
          <a:xfrm>
            <a:off x="932688" y="4572000"/>
            <a:ext cx="4645152" cy="173736"/>
          </a:xfrm>
          <a:prstGeom prst="rect">
            <a:avLst/>
          </a:prstGeom>
          <a:noFill/>
          <a:ln/>
        </p:spPr>
        <p:txBody>
          <a:bodyPr wrap="square" lIns="0" tIns="0" rIns="0" bIns="0" rtlCol="0" anchor="ctr"/>
          <a:lstStyle/>
          <a:p>
            <a:pPr indent="0" marL="0">
              <a:buNone/>
            </a:pPr>
            <a:r>
              <a:rPr lang="en-US" sz="850" dirty="0">
                <a:solidFill>
                  <a:srgbClr val="6D7F9C"/>
                </a:solidFill>
                <a:latin typeface="Calibri" pitchFamily="34" charset="0"/>
                <a:ea typeface="Calibri" pitchFamily="34" charset="-122"/>
                <a:cs typeface="Calibri" pitchFamily="34" charset="-120"/>
              </a:rPr>
              <a:t>never service-role. RLS + is_shop_owner() apply.</a:t>
            </a:r>
            <a:endParaRPr lang="en-US" sz="850" dirty="0"/>
          </a:p>
        </p:txBody>
      </p:sp>
      <p:sp>
        <p:nvSpPr>
          <p:cNvPr id="24" name="Shape 22"/>
          <p:cNvSpPr/>
          <p:nvPr/>
        </p:nvSpPr>
        <p:spPr>
          <a:xfrm>
            <a:off x="822960" y="4846320"/>
            <a:ext cx="4864608" cy="384048"/>
          </a:xfrm>
          <a:prstGeom prst="roundRect">
            <a:avLst>
              <a:gd name="adj" fmla="val 16667"/>
            </a:avLst>
          </a:prstGeom>
          <a:solidFill>
            <a:srgbClr val="1A1230"/>
          </a:solidFill>
          <a:ln w="9525">
            <a:solidFill>
              <a:srgbClr val="2C3A54"/>
            </a:solidFill>
            <a:prstDash val="solid"/>
          </a:ln>
        </p:spPr>
      </p:sp>
      <p:sp>
        <p:nvSpPr>
          <p:cNvPr id="25" name="Text 23"/>
          <p:cNvSpPr txBox="1"/>
          <p:nvPr/>
        </p:nvSpPr>
        <p:spPr>
          <a:xfrm>
            <a:off x="932688" y="4864608"/>
            <a:ext cx="4645152" cy="182880"/>
          </a:xfrm>
          <a:prstGeom prst="rect">
            <a:avLst/>
          </a:prstGeom>
          <a:noFill/>
          <a:ln/>
        </p:spPr>
        <p:txBody>
          <a:bodyPr wrap="square" lIns="0" tIns="0" rIns="0" bIns="0" rtlCol="0" anchor="ctr"/>
          <a:lstStyle/>
          <a:p>
            <a:pPr indent="0" marL="0">
              <a:buNone/>
            </a:pPr>
            <a:r>
              <a:rPr lang="en-US" sz="1050" b="1" dirty="0">
                <a:solidFill>
                  <a:srgbClr val="9B8CFF"/>
                </a:solidFill>
                <a:latin typeface="Calibri" pitchFamily="34" charset="0"/>
                <a:ea typeface="Calibri" pitchFamily="34" charset="-122"/>
                <a:cs typeface="Calibri" pitchFamily="34" charset="-120"/>
              </a:rPr>
              <a:t>Result fenced as DATA</a:t>
            </a:r>
            <a:endParaRPr lang="en-US" sz="1050" dirty="0"/>
          </a:p>
        </p:txBody>
      </p:sp>
      <p:sp>
        <p:nvSpPr>
          <p:cNvPr id="26" name="Text 24"/>
          <p:cNvSpPr txBox="1"/>
          <p:nvPr/>
        </p:nvSpPr>
        <p:spPr>
          <a:xfrm>
            <a:off x="932688" y="5038344"/>
            <a:ext cx="4645152" cy="173736"/>
          </a:xfrm>
          <a:prstGeom prst="rect">
            <a:avLst/>
          </a:prstGeom>
          <a:noFill/>
          <a:ln/>
        </p:spPr>
        <p:txBody>
          <a:bodyPr wrap="square" lIns="0" tIns="0" rIns="0" bIns="0" rtlCol="0" anchor="ctr"/>
          <a:lstStyle/>
          <a:p>
            <a:pPr indent="0" marL="0">
              <a:buNone/>
            </a:pPr>
            <a:r>
              <a:rPr lang="en-US" sz="850" dirty="0">
                <a:solidFill>
                  <a:srgbClr val="6D7F9C"/>
                </a:solidFill>
                <a:latin typeface="Calibri" pitchFamily="34" charset="0"/>
                <a:ea typeface="Calibri" pitchFamily="34" charset="-122"/>
                <a:cs typeface="Calibri" pitchFamily="34" charset="-120"/>
              </a:rPr>
              <a:t>shop names and review text are public-written — never instructions</a:t>
            </a:r>
            <a:endParaRPr lang="en-US" sz="850" dirty="0"/>
          </a:p>
        </p:txBody>
      </p:sp>
      <p:sp>
        <p:nvSpPr>
          <p:cNvPr id="27" name="Shape 25"/>
          <p:cNvSpPr/>
          <p:nvPr/>
        </p:nvSpPr>
        <p:spPr>
          <a:xfrm>
            <a:off x="822960" y="5312664"/>
            <a:ext cx="4864608" cy="384048"/>
          </a:xfrm>
          <a:prstGeom prst="roundRect">
            <a:avLst>
              <a:gd name="adj" fmla="val 16667"/>
            </a:avLst>
          </a:prstGeom>
          <a:solidFill>
            <a:srgbClr val="1D2740"/>
          </a:solidFill>
          <a:ln w="9525">
            <a:solidFill>
              <a:srgbClr val="2C3A54"/>
            </a:solidFill>
            <a:prstDash val="solid"/>
          </a:ln>
        </p:spPr>
      </p:sp>
      <p:sp>
        <p:nvSpPr>
          <p:cNvPr id="28" name="Text 26"/>
          <p:cNvSpPr txBox="1"/>
          <p:nvPr/>
        </p:nvSpPr>
        <p:spPr>
          <a:xfrm>
            <a:off x="932688" y="5330952"/>
            <a:ext cx="4645152" cy="182880"/>
          </a:xfrm>
          <a:prstGeom prst="rect">
            <a:avLst/>
          </a:prstGeom>
          <a:noFill/>
          <a:ln/>
        </p:spPr>
        <p:txBody>
          <a:bodyPr wrap="square" lIns="0" tIns="0" rIns="0" bIns="0" rtlCol="0" anchor="ctr"/>
          <a:lstStyle/>
          <a:p>
            <a:pPr indent="0" marL="0">
              <a:buNone/>
            </a:pPr>
            <a:r>
              <a:rPr lang="en-US" sz="1050" b="1" dirty="0">
                <a:solidFill>
                  <a:srgbClr val="5FD4BE"/>
                </a:solidFill>
                <a:latin typeface="Calibri" pitchFamily="34" charset="0"/>
                <a:ea typeface="Calibri" pitchFamily="34" charset="-122"/>
                <a:cs typeface="Calibri" pitchFamily="34" charset="-120"/>
              </a:rPr>
              <a:t>Verified answer</a:t>
            </a:r>
            <a:endParaRPr lang="en-US" sz="1050" dirty="0"/>
          </a:p>
        </p:txBody>
      </p:sp>
      <p:sp>
        <p:nvSpPr>
          <p:cNvPr id="29" name="Text 27"/>
          <p:cNvSpPr txBox="1"/>
          <p:nvPr/>
        </p:nvSpPr>
        <p:spPr>
          <a:xfrm>
            <a:off x="932688" y="5504688"/>
            <a:ext cx="4645152" cy="173736"/>
          </a:xfrm>
          <a:prstGeom prst="rect">
            <a:avLst/>
          </a:prstGeom>
          <a:noFill/>
          <a:ln/>
        </p:spPr>
        <p:txBody>
          <a:bodyPr wrap="square" lIns="0" tIns="0" rIns="0" bIns="0" rtlCol="0" anchor="ctr"/>
          <a:lstStyle/>
          <a:p>
            <a:pPr indent="0" marL="0">
              <a:buNone/>
            </a:pPr>
            <a:r>
              <a:rPr lang="en-US" sz="850" dirty="0">
                <a:solidFill>
                  <a:srgbClr val="6D7F9C"/>
                </a:solidFill>
                <a:latin typeface="Calibri" pitchFamily="34" charset="0"/>
                <a:ea typeface="Calibri" pitchFamily="34" charset="-122"/>
                <a:cs typeface="Calibri" pitchFamily="34" charset="-120"/>
              </a:rPr>
              <a:t>every number traces to a row</a:t>
            </a:r>
            <a:endParaRPr lang="en-US" sz="850" dirty="0"/>
          </a:p>
        </p:txBody>
      </p:sp>
      <p:sp>
        <p:nvSpPr>
          <p:cNvPr id="30" name="Shape 28"/>
          <p:cNvSpPr/>
          <p:nvPr/>
        </p:nvSpPr>
        <p:spPr>
          <a:xfrm>
            <a:off x="6248095" y="1627632"/>
            <a:ext cx="5376672" cy="4041648"/>
          </a:xfrm>
          <a:prstGeom prst="roundRect">
            <a:avLst>
              <a:gd name="adj" fmla="val 2262"/>
            </a:avLst>
          </a:prstGeom>
          <a:solidFill>
            <a:srgbClr val="161F30"/>
          </a:solidFill>
          <a:ln w="12700">
            <a:solidFill>
              <a:srgbClr val="2C3A54"/>
            </a:solidFill>
            <a:prstDash val="solid"/>
          </a:ln>
        </p:spPr>
      </p:sp>
      <p:sp>
        <p:nvSpPr>
          <p:cNvPr id="31" name="Text 29"/>
          <p:cNvSpPr txBox="1"/>
          <p:nvPr/>
        </p:nvSpPr>
        <p:spPr>
          <a:xfrm>
            <a:off x="6504127" y="1773936"/>
            <a:ext cx="4864608" cy="219456"/>
          </a:xfrm>
          <a:prstGeom prst="rect">
            <a:avLst/>
          </a:prstGeom>
          <a:noFill/>
          <a:ln/>
        </p:spPr>
        <p:txBody>
          <a:bodyPr wrap="square" lIns="0" tIns="0" rIns="0" bIns="0" rtlCol="0" anchor="ctr"/>
          <a:lstStyle/>
          <a:p>
            <a:pPr indent="0" marL="0">
              <a:buNone/>
            </a:pPr>
            <a:r>
              <a:rPr lang="en-US" sz="1000" b="1" spc="140" kern="0" dirty="0">
                <a:solidFill>
                  <a:srgbClr val="FF5C39"/>
                </a:solidFill>
                <a:latin typeface="Calibri" pitchFamily="34" charset="0"/>
                <a:ea typeface="Calibri" pitchFamily="34" charset="-122"/>
                <a:cs typeface="Calibri" pitchFamily="34" charset="-120"/>
              </a:rPr>
              <a:t>CHANGING — NOTHING HAPPENS WITHOUT A HUMAN</a:t>
            </a:r>
            <a:endParaRPr lang="en-US" sz="1000" dirty="0"/>
          </a:p>
        </p:txBody>
      </p:sp>
      <p:sp>
        <p:nvSpPr>
          <p:cNvPr id="32" name="Shape 30"/>
          <p:cNvSpPr/>
          <p:nvPr/>
        </p:nvSpPr>
        <p:spPr>
          <a:xfrm>
            <a:off x="6504127" y="2048256"/>
            <a:ext cx="4864608" cy="384048"/>
          </a:xfrm>
          <a:prstGeom prst="roundRect">
            <a:avLst>
              <a:gd name="adj" fmla="val 16667"/>
            </a:avLst>
          </a:prstGeom>
          <a:solidFill>
            <a:srgbClr val="1D2740"/>
          </a:solidFill>
          <a:ln w="9525">
            <a:solidFill>
              <a:srgbClr val="2C3A54"/>
            </a:solidFill>
            <a:prstDash val="solid"/>
          </a:ln>
        </p:spPr>
      </p:sp>
      <p:sp>
        <p:nvSpPr>
          <p:cNvPr id="33" name="Text 31"/>
          <p:cNvSpPr txBox="1"/>
          <p:nvPr/>
        </p:nvSpPr>
        <p:spPr>
          <a:xfrm>
            <a:off x="6613855" y="2066544"/>
            <a:ext cx="4645152" cy="18288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prepare_* tool runs</a:t>
            </a:r>
            <a:endParaRPr lang="en-US" sz="1050" dirty="0"/>
          </a:p>
        </p:txBody>
      </p:sp>
      <p:sp>
        <p:nvSpPr>
          <p:cNvPr id="34" name="Text 32"/>
          <p:cNvSpPr txBox="1"/>
          <p:nvPr/>
        </p:nvSpPr>
        <p:spPr>
          <a:xfrm>
            <a:off x="6613855" y="2240280"/>
            <a:ext cx="4645152" cy="173736"/>
          </a:xfrm>
          <a:prstGeom prst="rect">
            <a:avLst/>
          </a:prstGeom>
          <a:noFill/>
          <a:ln/>
        </p:spPr>
        <p:txBody>
          <a:bodyPr wrap="square" lIns="0" tIns="0" rIns="0" bIns="0" rtlCol="0" anchor="ctr"/>
          <a:lstStyle/>
          <a:p>
            <a:pPr indent="0" marL="0">
              <a:buNone/>
            </a:pPr>
            <a:r>
              <a:rPr lang="en-US" sz="850" dirty="0">
                <a:solidFill>
                  <a:srgbClr val="6D7F9C"/>
                </a:solidFill>
                <a:latin typeface="Calibri" pitchFamily="34" charset="0"/>
                <a:ea typeface="Calibri" pitchFamily="34" charset="-122"/>
                <a:cs typeface="Calibri" pitchFamily="34" charset="-120"/>
              </a:rPr>
              <a:t>READ-ONLY. It writes nothing and sends nothing.</a:t>
            </a:r>
            <a:endParaRPr lang="en-US" sz="850" dirty="0"/>
          </a:p>
        </p:txBody>
      </p:sp>
      <p:sp>
        <p:nvSpPr>
          <p:cNvPr id="35" name="Shape 33"/>
          <p:cNvSpPr/>
          <p:nvPr/>
        </p:nvSpPr>
        <p:spPr>
          <a:xfrm>
            <a:off x="6504127" y="2514600"/>
            <a:ext cx="4864608" cy="384048"/>
          </a:xfrm>
          <a:prstGeom prst="roundRect">
            <a:avLst>
              <a:gd name="adj" fmla="val 16667"/>
            </a:avLst>
          </a:prstGeom>
          <a:solidFill>
            <a:srgbClr val="2A1A14"/>
          </a:solidFill>
          <a:ln w="9525">
            <a:solidFill>
              <a:srgbClr val="2C3A54"/>
            </a:solidFill>
            <a:prstDash val="solid"/>
          </a:ln>
        </p:spPr>
      </p:sp>
      <p:sp>
        <p:nvSpPr>
          <p:cNvPr id="36" name="Text 34"/>
          <p:cNvSpPr txBox="1"/>
          <p:nvPr/>
        </p:nvSpPr>
        <p:spPr>
          <a:xfrm>
            <a:off x="6613855" y="2532888"/>
            <a:ext cx="4645152" cy="182880"/>
          </a:xfrm>
          <a:prstGeom prst="rect">
            <a:avLst/>
          </a:prstGeom>
          <a:noFill/>
          <a:ln/>
        </p:spPr>
        <p:txBody>
          <a:bodyPr wrap="square" lIns="0" tIns="0" rIns="0" bIns="0" rtlCol="0" anchor="ctr"/>
          <a:lstStyle/>
          <a:p>
            <a:pPr indent="0" marL="0">
              <a:buNone/>
            </a:pPr>
            <a:r>
              <a:rPr lang="en-US" sz="1050" b="1" dirty="0">
                <a:solidFill>
                  <a:srgbClr val="FF5C39"/>
                </a:solidFill>
                <a:latin typeface="Calibri" pitchFamily="34" charset="0"/>
                <a:ea typeface="Calibri" pitchFamily="34" charset="-122"/>
                <a:cs typeface="Calibri" pitchFamily="34" charset="-120"/>
              </a:rPr>
              <a:t>Server validates the IDs</a:t>
            </a:r>
            <a:endParaRPr lang="en-US" sz="1050" dirty="0"/>
          </a:p>
        </p:txBody>
      </p:sp>
      <p:sp>
        <p:nvSpPr>
          <p:cNvPr id="37" name="Text 35"/>
          <p:cNvSpPr txBox="1"/>
          <p:nvPr/>
        </p:nvSpPr>
        <p:spPr>
          <a:xfrm>
            <a:off x="6613855" y="2706624"/>
            <a:ext cx="4645152" cy="173736"/>
          </a:xfrm>
          <a:prstGeom prst="rect">
            <a:avLst/>
          </a:prstGeom>
          <a:noFill/>
          <a:ln/>
        </p:spPr>
        <p:txBody>
          <a:bodyPr wrap="square" lIns="0" tIns="0" rIns="0" bIns="0" rtlCol="0" anchor="ctr"/>
          <a:lstStyle/>
          <a:p>
            <a:pPr indent="0" marL="0">
              <a:buNone/>
            </a:pPr>
            <a:r>
              <a:rPr lang="en-US" sz="850" dirty="0">
                <a:solidFill>
                  <a:srgbClr val="6D7F9C"/>
                </a:solidFill>
                <a:latin typeface="Calibri" pitchFamily="34" charset="0"/>
                <a:ea typeface="Calibri" pitchFamily="34" charset="-122"/>
                <a:cs typeface="Calibri" pitchFamily="34" charset="-120"/>
              </a:rPr>
              <a:t>an ID the model invented is refused — even a valid-looking one</a:t>
            </a:r>
            <a:endParaRPr lang="en-US" sz="850" dirty="0"/>
          </a:p>
        </p:txBody>
      </p:sp>
      <p:sp>
        <p:nvSpPr>
          <p:cNvPr id="38" name="Shape 36"/>
          <p:cNvSpPr/>
          <p:nvPr/>
        </p:nvSpPr>
        <p:spPr>
          <a:xfrm>
            <a:off x="6504127" y="2980944"/>
            <a:ext cx="4864608" cy="384048"/>
          </a:xfrm>
          <a:prstGeom prst="roundRect">
            <a:avLst>
              <a:gd name="adj" fmla="val 16667"/>
            </a:avLst>
          </a:prstGeom>
          <a:solidFill>
            <a:srgbClr val="1D2740"/>
          </a:solidFill>
          <a:ln w="9525">
            <a:solidFill>
              <a:srgbClr val="2C3A54"/>
            </a:solidFill>
            <a:prstDash val="solid"/>
          </a:ln>
        </p:spPr>
      </p:sp>
      <p:sp>
        <p:nvSpPr>
          <p:cNvPr id="39" name="Text 37"/>
          <p:cNvSpPr txBox="1"/>
          <p:nvPr/>
        </p:nvSpPr>
        <p:spPr>
          <a:xfrm>
            <a:off x="6613855" y="2999232"/>
            <a:ext cx="4645152" cy="18288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ai_actions row: PROPOSED</a:t>
            </a:r>
            <a:endParaRPr lang="en-US" sz="1050" dirty="0"/>
          </a:p>
        </p:txBody>
      </p:sp>
      <p:sp>
        <p:nvSpPr>
          <p:cNvPr id="40" name="Text 38"/>
          <p:cNvSpPr txBox="1"/>
          <p:nvPr/>
        </p:nvSpPr>
        <p:spPr>
          <a:xfrm>
            <a:off x="6613855" y="3172968"/>
            <a:ext cx="4645152" cy="173736"/>
          </a:xfrm>
          <a:prstGeom prst="rect">
            <a:avLst/>
          </a:prstGeom>
          <a:noFill/>
          <a:ln/>
        </p:spPr>
        <p:txBody>
          <a:bodyPr wrap="square" lIns="0" tIns="0" rIns="0" bIns="0" rtlCol="0" anchor="ctr"/>
          <a:lstStyle/>
          <a:p>
            <a:pPr indent="0" marL="0">
              <a:buNone/>
            </a:pPr>
            <a:r>
              <a:rPr lang="en-US" sz="850" dirty="0">
                <a:solidFill>
                  <a:srgbClr val="6D7F9C"/>
                </a:solidFill>
                <a:latin typeface="Calibri" pitchFamily="34" charset="0"/>
                <a:ea typeface="Calibri" pitchFamily="34" charset="-122"/>
                <a:cs typeface="Calibri" pitchFamily="34" charset="-120"/>
              </a:rPr>
              <a:t>written by the route, not the model. Short TTL + a nonce.</a:t>
            </a:r>
            <a:endParaRPr lang="en-US" sz="850" dirty="0"/>
          </a:p>
        </p:txBody>
      </p:sp>
      <p:sp>
        <p:nvSpPr>
          <p:cNvPr id="41" name="Shape 39"/>
          <p:cNvSpPr/>
          <p:nvPr/>
        </p:nvSpPr>
        <p:spPr>
          <a:xfrm>
            <a:off x="6504127" y="3447288"/>
            <a:ext cx="4864608" cy="384048"/>
          </a:xfrm>
          <a:prstGeom prst="roundRect">
            <a:avLst>
              <a:gd name="adj" fmla="val 16667"/>
            </a:avLst>
          </a:prstGeom>
          <a:solidFill>
            <a:srgbClr val="2A1A14"/>
          </a:solidFill>
          <a:ln w="9525">
            <a:solidFill>
              <a:srgbClr val="2C3A54"/>
            </a:solidFill>
            <a:prstDash val="solid"/>
          </a:ln>
        </p:spPr>
      </p:sp>
      <p:sp>
        <p:nvSpPr>
          <p:cNvPr id="42" name="Text 40"/>
          <p:cNvSpPr txBox="1"/>
          <p:nvPr/>
        </p:nvSpPr>
        <p:spPr>
          <a:xfrm>
            <a:off x="6613855" y="3465576"/>
            <a:ext cx="4645152" cy="182880"/>
          </a:xfrm>
          <a:prstGeom prst="rect">
            <a:avLst/>
          </a:prstGeom>
          <a:noFill/>
          <a:ln/>
        </p:spPr>
        <p:txBody>
          <a:bodyPr wrap="square" lIns="0" tIns="0" rIns="0" bIns="0" rtlCol="0" anchor="ctr"/>
          <a:lstStyle/>
          <a:p>
            <a:pPr indent="0" marL="0">
              <a:buNone/>
            </a:pPr>
            <a:r>
              <a:rPr lang="en-US" sz="1050" b="1" dirty="0">
                <a:solidFill>
                  <a:srgbClr val="FF5C39"/>
                </a:solidFill>
                <a:latin typeface="Calibri" pitchFamily="34" charset="0"/>
                <a:ea typeface="Calibri" pitchFamily="34" charset="-122"/>
                <a:cs typeface="Calibri" pitchFamily="34" charset="-120"/>
              </a:rPr>
              <a:t>THE HUMAN SEES A CARD</a:t>
            </a:r>
            <a:endParaRPr lang="en-US" sz="1050" dirty="0"/>
          </a:p>
        </p:txBody>
      </p:sp>
      <p:sp>
        <p:nvSpPr>
          <p:cNvPr id="43" name="Text 41"/>
          <p:cNvSpPr txBox="1"/>
          <p:nvPr/>
        </p:nvSpPr>
        <p:spPr>
          <a:xfrm>
            <a:off x="6613855" y="3639312"/>
            <a:ext cx="4645152" cy="173736"/>
          </a:xfrm>
          <a:prstGeom prst="rect">
            <a:avLst/>
          </a:prstGeom>
          <a:noFill/>
          <a:ln/>
        </p:spPr>
        <p:txBody>
          <a:bodyPr wrap="square" lIns="0" tIns="0" rIns="0" bIns="0" rtlCol="0" anchor="ctr"/>
          <a:lstStyle/>
          <a:p>
            <a:pPr indent="0" marL="0">
              <a:buNone/>
            </a:pPr>
            <a:r>
              <a:rPr lang="en-US" sz="850" dirty="0">
                <a:solidFill>
                  <a:srgbClr val="6D7F9C"/>
                </a:solidFill>
                <a:latin typeface="Calibri" pitchFamily="34" charset="0"/>
                <a:ea typeface="Calibri" pitchFamily="34" charset="-122"/>
                <a:cs typeface="Calibri" pitchFamily="34" charset="-120"/>
              </a:rPr>
              <a:t>what · where · how much · who receives it. Cancel / Edit / Confirm.</a:t>
            </a:r>
            <a:endParaRPr lang="en-US" sz="850" dirty="0"/>
          </a:p>
        </p:txBody>
      </p:sp>
      <p:sp>
        <p:nvSpPr>
          <p:cNvPr id="44" name="Shape 42"/>
          <p:cNvSpPr/>
          <p:nvPr/>
        </p:nvSpPr>
        <p:spPr>
          <a:xfrm>
            <a:off x="6504127" y="3913632"/>
            <a:ext cx="4864608" cy="384048"/>
          </a:xfrm>
          <a:prstGeom prst="roundRect">
            <a:avLst>
              <a:gd name="adj" fmla="val 16667"/>
            </a:avLst>
          </a:prstGeom>
          <a:solidFill>
            <a:srgbClr val="2A1A14"/>
          </a:solidFill>
          <a:ln w="9525">
            <a:solidFill>
              <a:srgbClr val="2C3A54"/>
            </a:solidFill>
            <a:prstDash val="solid"/>
          </a:ln>
        </p:spPr>
      </p:sp>
      <p:sp>
        <p:nvSpPr>
          <p:cNvPr id="45" name="Text 43"/>
          <p:cNvSpPr txBox="1"/>
          <p:nvPr/>
        </p:nvSpPr>
        <p:spPr>
          <a:xfrm>
            <a:off x="6613855" y="3931920"/>
            <a:ext cx="4645152" cy="182880"/>
          </a:xfrm>
          <a:prstGeom prst="rect">
            <a:avLst/>
          </a:prstGeom>
          <a:noFill/>
          <a:ln/>
        </p:spPr>
        <p:txBody>
          <a:bodyPr wrap="square" lIns="0" tIns="0" rIns="0" bIns="0" rtlCol="0" anchor="ctr"/>
          <a:lstStyle/>
          <a:p>
            <a:pPr indent="0" marL="0">
              <a:buNone/>
            </a:pPr>
            <a:r>
              <a:rPr lang="en-US" sz="1050" b="1" dirty="0">
                <a:solidFill>
                  <a:srgbClr val="FF5C39"/>
                </a:solidFill>
                <a:latin typeface="Calibri" pitchFamily="34" charset="0"/>
                <a:ea typeface="Calibri" pitchFamily="34" charset="-122"/>
                <a:cs typeface="Calibri" pitchFamily="34" charset="-120"/>
              </a:rPr>
              <a:t>/api/ai/actions/confirm</a:t>
            </a:r>
            <a:endParaRPr lang="en-US" sz="1050" dirty="0"/>
          </a:p>
        </p:txBody>
      </p:sp>
      <p:sp>
        <p:nvSpPr>
          <p:cNvPr id="46" name="Text 44"/>
          <p:cNvSpPr txBox="1"/>
          <p:nvPr/>
        </p:nvSpPr>
        <p:spPr>
          <a:xfrm>
            <a:off x="6613855" y="4105656"/>
            <a:ext cx="4645152" cy="173736"/>
          </a:xfrm>
          <a:prstGeom prst="rect">
            <a:avLst/>
          </a:prstGeom>
          <a:noFill/>
          <a:ln/>
        </p:spPr>
        <p:txBody>
          <a:bodyPr wrap="square" lIns="0" tIns="0" rIns="0" bIns="0" rtlCol="0" anchor="ctr"/>
          <a:lstStyle/>
          <a:p>
            <a:pPr indent="0" marL="0">
              <a:buNone/>
            </a:pPr>
            <a:r>
              <a:rPr lang="en-US" sz="850" dirty="0">
                <a:solidFill>
                  <a:srgbClr val="6D7F9C"/>
                </a:solidFill>
                <a:latin typeface="Calibri" pitchFamily="34" charset="0"/>
                <a:ea typeface="Calibri" pitchFamily="34" charset="-122"/>
                <a:cs typeface="Calibri" pitchFamily="34" charset="-120"/>
              </a:rPr>
              <a:t>THIS ENDPOINT DOES NOT CALL THE MODEL. AT ALL.</a:t>
            </a:r>
            <a:endParaRPr lang="en-US" sz="850" dirty="0"/>
          </a:p>
        </p:txBody>
      </p:sp>
      <p:sp>
        <p:nvSpPr>
          <p:cNvPr id="47" name="Shape 45"/>
          <p:cNvSpPr/>
          <p:nvPr/>
        </p:nvSpPr>
        <p:spPr>
          <a:xfrm>
            <a:off x="6504127" y="4379976"/>
            <a:ext cx="4864608" cy="384048"/>
          </a:xfrm>
          <a:prstGeom prst="roundRect">
            <a:avLst>
              <a:gd name="adj" fmla="val 16667"/>
            </a:avLst>
          </a:prstGeom>
          <a:solidFill>
            <a:srgbClr val="1D2740"/>
          </a:solidFill>
          <a:ln w="9525">
            <a:solidFill>
              <a:srgbClr val="2C3A54"/>
            </a:solidFill>
            <a:prstDash val="solid"/>
          </a:ln>
        </p:spPr>
      </p:sp>
      <p:sp>
        <p:nvSpPr>
          <p:cNvPr id="48" name="Text 46"/>
          <p:cNvSpPr txBox="1"/>
          <p:nvPr/>
        </p:nvSpPr>
        <p:spPr>
          <a:xfrm>
            <a:off x="6613855" y="4398264"/>
            <a:ext cx="4645152" cy="18288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Atomic claim + revalidate</a:t>
            </a:r>
            <a:endParaRPr lang="en-US" sz="1050" dirty="0"/>
          </a:p>
        </p:txBody>
      </p:sp>
      <p:sp>
        <p:nvSpPr>
          <p:cNvPr id="49" name="Text 47"/>
          <p:cNvSpPr txBox="1"/>
          <p:nvPr/>
        </p:nvSpPr>
        <p:spPr>
          <a:xfrm>
            <a:off x="6613855" y="4572000"/>
            <a:ext cx="4645152" cy="173736"/>
          </a:xfrm>
          <a:prstGeom prst="rect">
            <a:avLst/>
          </a:prstGeom>
          <a:noFill/>
          <a:ln/>
        </p:spPr>
        <p:txBody>
          <a:bodyPr wrap="square" lIns="0" tIns="0" rIns="0" bIns="0" rtlCol="0" anchor="ctr"/>
          <a:lstStyle/>
          <a:p>
            <a:pPr indent="0" marL="0">
              <a:buNone/>
            </a:pPr>
            <a:r>
              <a:rPr lang="en-US" sz="850" dirty="0">
                <a:solidFill>
                  <a:srgbClr val="6D7F9C"/>
                </a:solidFill>
                <a:latin typeface="Calibri" pitchFamily="34" charset="0"/>
                <a:ea typeface="Calibri" pitchFamily="34" charset="-122"/>
                <a:cs typeface="Calibri" pitchFamily="34" charset="-120"/>
              </a:rPr>
              <a:t>5 simultaneous clicks = 1 execution. PRICE_CHANGED / SEGMENT_CHANGED / expired → refuse</a:t>
            </a:r>
            <a:endParaRPr lang="en-US" sz="850" dirty="0"/>
          </a:p>
        </p:txBody>
      </p:sp>
      <p:sp>
        <p:nvSpPr>
          <p:cNvPr id="50" name="Shape 48"/>
          <p:cNvSpPr/>
          <p:nvPr/>
        </p:nvSpPr>
        <p:spPr>
          <a:xfrm>
            <a:off x="6504127" y="4846320"/>
            <a:ext cx="4864608" cy="384048"/>
          </a:xfrm>
          <a:prstGeom prst="roundRect">
            <a:avLst>
              <a:gd name="adj" fmla="val 16667"/>
            </a:avLst>
          </a:prstGeom>
          <a:solidFill>
            <a:srgbClr val="1D2740"/>
          </a:solidFill>
          <a:ln w="9525">
            <a:solidFill>
              <a:srgbClr val="2C3A54"/>
            </a:solidFill>
            <a:prstDash val="solid"/>
          </a:ln>
        </p:spPr>
      </p:sp>
      <p:sp>
        <p:nvSpPr>
          <p:cNvPr id="51" name="Text 49"/>
          <p:cNvSpPr txBox="1"/>
          <p:nvPr/>
        </p:nvSpPr>
        <p:spPr>
          <a:xfrm>
            <a:off x="6613855" y="4864608"/>
            <a:ext cx="4645152" cy="18288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The same RPC a button calls</a:t>
            </a:r>
            <a:endParaRPr lang="en-US" sz="1050" dirty="0"/>
          </a:p>
        </p:txBody>
      </p:sp>
      <p:sp>
        <p:nvSpPr>
          <p:cNvPr id="52" name="Text 50"/>
          <p:cNvSpPr txBox="1"/>
          <p:nvPr/>
        </p:nvSpPr>
        <p:spPr>
          <a:xfrm>
            <a:off x="6613855" y="5038344"/>
            <a:ext cx="4645152" cy="173736"/>
          </a:xfrm>
          <a:prstGeom prst="rect">
            <a:avLst/>
          </a:prstGeom>
          <a:noFill/>
          <a:ln/>
        </p:spPr>
        <p:txBody>
          <a:bodyPr wrap="square" lIns="0" tIns="0" rIns="0" bIns="0" rtlCol="0" anchor="ctr"/>
          <a:lstStyle/>
          <a:p>
            <a:pPr indent="0" marL="0">
              <a:buNone/>
            </a:pPr>
            <a:r>
              <a:rPr lang="en-US" sz="850" dirty="0">
                <a:solidFill>
                  <a:srgbClr val="6D7F9C"/>
                </a:solidFill>
                <a:latin typeface="Calibri" pitchFamily="34" charset="0"/>
                <a:ea typeface="Calibri" pitchFamily="34" charset="-122"/>
                <a:cs typeface="Calibri" pitchFamily="34" charset="-120"/>
              </a:rPr>
              <a:t>RLS · CHECK constraints · triggers · exclusion constraint</a:t>
            </a:r>
            <a:endParaRPr lang="en-US" sz="850" dirty="0"/>
          </a:p>
        </p:txBody>
      </p:sp>
      <p:sp>
        <p:nvSpPr>
          <p:cNvPr id="53" name="Shape 51"/>
          <p:cNvSpPr/>
          <p:nvPr/>
        </p:nvSpPr>
        <p:spPr>
          <a:xfrm>
            <a:off x="6504127" y="5312664"/>
            <a:ext cx="4864608" cy="384048"/>
          </a:xfrm>
          <a:prstGeom prst="roundRect">
            <a:avLst>
              <a:gd name="adj" fmla="val 16667"/>
            </a:avLst>
          </a:prstGeom>
          <a:solidFill>
            <a:srgbClr val="1D2740"/>
          </a:solidFill>
          <a:ln w="9525">
            <a:solidFill>
              <a:srgbClr val="2C3A54"/>
            </a:solidFill>
            <a:prstDash val="solid"/>
          </a:ln>
        </p:spPr>
      </p:sp>
      <p:sp>
        <p:nvSpPr>
          <p:cNvPr id="54" name="Text 52"/>
          <p:cNvSpPr txBox="1"/>
          <p:nvPr/>
        </p:nvSpPr>
        <p:spPr>
          <a:xfrm>
            <a:off x="6613855" y="5330952"/>
            <a:ext cx="4645152" cy="182880"/>
          </a:xfrm>
          <a:prstGeom prst="rect">
            <a:avLst/>
          </a:prstGeom>
          <a:noFill/>
          <a:ln/>
        </p:spPr>
        <p:txBody>
          <a:bodyPr wrap="square" lIns="0" tIns="0" rIns="0" bIns="0" rtlCol="0" anchor="ctr"/>
          <a:lstStyle/>
          <a:p>
            <a:pPr indent="0" marL="0">
              <a:buNone/>
            </a:pPr>
            <a:r>
              <a:rPr lang="en-US" sz="1050" b="1" dirty="0">
                <a:solidFill>
                  <a:srgbClr val="5FD4BE"/>
                </a:solidFill>
                <a:latin typeface="Calibri" pitchFamily="34" charset="0"/>
                <a:ea typeface="Calibri" pitchFamily="34" charset="-122"/>
                <a:cs typeface="Calibri" pitchFamily="34" charset="-120"/>
              </a:rPr>
              <a:t>EXECUTED or FAILED + audit</a:t>
            </a:r>
            <a:endParaRPr lang="en-US" sz="1050" dirty="0"/>
          </a:p>
        </p:txBody>
      </p:sp>
      <p:sp>
        <p:nvSpPr>
          <p:cNvPr id="55" name="Text 53"/>
          <p:cNvSpPr txBox="1"/>
          <p:nvPr/>
        </p:nvSpPr>
        <p:spPr>
          <a:xfrm>
            <a:off x="6613855" y="5504688"/>
            <a:ext cx="4645152" cy="173736"/>
          </a:xfrm>
          <a:prstGeom prst="rect">
            <a:avLst/>
          </a:prstGeom>
          <a:noFill/>
          <a:ln/>
        </p:spPr>
        <p:txBody>
          <a:bodyPr wrap="square" lIns="0" tIns="0" rIns="0" bIns="0" rtlCol="0" anchor="ctr"/>
          <a:lstStyle/>
          <a:p>
            <a:pPr indent="0" marL="0">
              <a:buNone/>
            </a:pPr>
            <a:r>
              <a:rPr lang="en-US" sz="850" dirty="0">
                <a:solidFill>
                  <a:srgbClr val="6D7F9C"/>
                </a:solidFill>
                <a:latin typeface="Calibri" pitchFamily="34" charset="0"/>
                <a:ea typeface="Calibri" pitchFamily="34" charset="-122"/>
                <a:cs typeface="Calibri" pitchFamily="34" charset="-120"/>
              </a:rPr>
              <a:t>who, which shop, what, outcome. No customer lists logged.</a:t>
            </a:r>
            <a:endParaRPr lang="en-US" sz="850" dirty="0"/>
          </a:p>
        </p:txBody>
      </p:sp>
      <p:sp>
        <p:nvSpPr>
          <p:cNvPr id="56" name="Shape 54"/>
          <p:cNvSpPr/>
          <p:nvPr/>
        </p:nvSpPr>
        <p:spPr>
          <a:xfrm>
            <a:off x="566928" y="5779008"/>
            <a:ext cx="11057839" cy="603504"/>
          </a:xfrm>
          <a:prstGeom prst="roundRect">
            <a:avLst>
              <a:gd name="adj" fmla="val 15152"/>
            </a:avLst>
          </a:prstGeom>
          <a:solidFill>
            <a:srgbClr val="1B1020"/>
          </a:solidFill>
          <a:ln w="16510">
            <a:solidFill>
              <a:srgbClr val="9B8CFF"/>
            </a:solidFill>
            <a:prstDash val="solid"/>
          </a:ln>
        </p:spPr>
      </p:sp>
      <p:sp>
        <p:nvSpPr>
          <p:cNvPr id="57" name="Text 55"/>
          <p:cNvSpPr txBox="1"/>
          <p:nvPr/>
        </p:nvSpPr>
        <p:spPr>
          <a:xfrm>
            <a:off x="841248" y="5779008"/>
            <a:ext cx="10509199" cy="60350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Why this is safer than letting an LLM write to the database: a hallucination can only produce a wrong sentence, never a wrong write.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11C"/>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00" kern="0" dirty="0">
                <a:solidFill>
                  <a:srgbClr val="9B8CFF"/>
                </a:solidFill>
                <a:latin typeface="Calibri" pitchFamily="34" charset="0"/>
                <a:ea typeface="Calibri" pitchFamily="34" charset="-122"/>
                <a:cs typeface="Calibri" pitchFamily="34" charset="-120"/>
              </a:rPr>
              <a:t>TECH STACK</a:t>
            </a:r>
            <a:endParaRPr lang="en-US" sz="1200" dirty="0"/>
          </a:p>
        </p:txBody>
      </p:sp>
      <p:sp>
        <p:nvSpPr>
          <p:cNvPr id="3" name="Text 1"/>
          <p:cNvSpPr txBox="1"/>
          <p:nvPr/>
        </p:nvSpPr>
        <p:spPr>
          <a:xfrm>
            <a:off x="566928" y="621792"/>
            <a:ext cx="11057839" cy="585216"/>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What it is actually built with.</a:t>
            </a:r>
            <a:endParaRPr lang="en-US" sz="3000" dirty="0"/>
          </a:p>
        </p:txBody>
      </p:sp>
      <p:sp>
        <p:nvSpPr>
          <p:cNvPr id="4" name="Shape 2"/>
          <p:cNvSpPr/>
          <p:nvPr/>
        </p:nvSpPr>
        <p:spPr>
          <a:xfrm>
            <a:off x="566928" y="1517904"/>
            <a:ext cx="3502152" cy="1975104"/>
          </a:xfrm>
          <a:prstGeom prst="roundRect">
            <a:avLst>
              <a:gd name="adj" fmla="val 4630"/>
            </a:avLst>
          </a:prstGeom>
          <a:solidFill>
            <a:srgbClr val="161F30"/>
          </a:solidFill>
          <a:ln w="12700">
            <a:solidFill>
              <a:srgbClr val="2C3A54"/>
            </a:solidFill>
            <a:prstDash val="solid"/>
          </a:ln>
        </p:spPr>
      </p:sp>
      <p:sp>
        <p:nvSpPr>
          <p:cNvPr id="5" name="Text 3"/>
          <p:cNvSpPr txBox="1"/>
          <p:nvPr/>
        </p:nvSpPr>
        <p:spPr>
          <a:xfrm>
            <a:off x="786384" y="1664208"/>
            <a:ext cx="3063240" cy="219456"/>
          </a:xfrm>
          <a:prstGeom prst="rect">
            <a:avLst/>
          </a:prstGeom>
          <a:noFill/>
          <a:ln/>
        </p:spPr>
        <p:txBody>
          <a:bodyPr wrap="square" lIns="0" tIns="0" rIns="0" bIns="0" rtlCol="0" anchor="ctr"/>
          <a:lstStyle/>
          <a:p>
            <a:pPr indent="0" marL="0">
              <a:buNone/>
            </a:pPr>
            <a:r>
              <a:rPr lang="en-US" sz="1000" b="1" spc="140" kern="0" dirty="0">
                <a:solidFill>
                  <a:srgbClr val="FF5C39"/>
                </a:solidFill>
                <a:latin typeface="Calibri" pitchFamily="34" charset="0"/>
                <a:ea typeface="Calibri" pitchFamily="34" charset="-122"/>
                <a:cs typeface="Calibri" pitchFamily="34" charset="-120"/>
              </a:rPr>
              <a:t>FRONTEND</a:t>
            </a:r>
            <a:endParaRPr lang="en-US" sz="1000" dirty="0"/>
          </a:p>
        </p:txBody>
      </p:sp>
      <p:sp>
        <p:nvSpPr>
          <p:cNvPr id="6" name="Text 4"/>
          <p:cNvSpPr txBox="1"/>
          <p:nvPr/>
        </p:nvSpPr>
        <p:spPr>
          <a:xfrm>
            <a:off x="786384" y="1938528"/>
            <a:ext cx="3063240" cy="1408176"/>
          </a:xfrm>
          <a:prstGeom prst="rect">
            <a:avLst/>
          </a:prstGeom>
          <a:noFill/>
          <a:ln/>
        </p:spPr>
        <p:txBody>
          <a:bodyPr wrap="square" lIns="0" tIns="0" rIns="0" bIns="0" rtlCol="0" anchor="ctr"/>
          <a:lstStyle/>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Next.js 16.2.10 — App Router, Turbopack</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React 19.2.4</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TypeScript 5</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Tailwind CSS 4</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TanStack Query 5 — server state</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react-hook-form + Zod 4</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Leaflet — shop discovery map</a:t>
            </a:r>
            <a:endParaRPr lang="en-US" sz="1000" dirty="0"/>
          </a:p>
        </p:txBody>
      </p:sp>
      <p:sp>
        <p:nvSpPr>
          <p:cNvPr id="7" name="Shape 5"/>
          <p:cNvSpPr/>
          <p:nvPr/>
        </p:nvSpPr>
        <p:spPr>
          <a:xfrm>
            <a:off x="4434840" y="1517904"/>
            <a:ext cx="3502152" cy="1975104"/>
          </a:xfrm>
          <a:prstGeom prst="roundRect">
            <a:avLst>
              <a:gd name="adj" fmla="val 4630"/>
            </a:avLst>
          </a:prstGeom>
          <a:solidFill>
            <a:srgbClr val="161F30"/>
          </a:solidFill>
          <a:ln w="12700">
            <a:solidFill>
              <a:srgbClr val="2C3A54"/>
            </a:solidFill>
            <a:prstDash val="solid"/>
          </a:ln>
        </p:spPr>
      </p:sp>
      <p:sp>
        <p:nvSpPr>
          <p:cNvPr id="8" name="Text 6"/>
          <p:cNvSpPr txBox="1"/>
          <p:nvPr/>
        </p:nvSpPr>
        <p:spPr>
          <a:xfrm>
            <a:off x="4654296" y="1664208"/>
            <a:ext cx="3063240" cy="219456"/>
          </a:xfrm>
          <a:prstGeom prst="rect">
            <a:avLst/>
          </a:prstGeom>
          <a:noFill/>
          <a:ln/>
        </p:spPr>
        <p:txBody>
          <a:bodyPr wrap="square" lIns="0" tIns="0" rIns="0" bIns="0" rtlCol="0" anchor="ctr"/>
          <a:lstStyle/>
          <a:p>
            <a:pPr indent="0" marL="0">
              <a:buNone/>
            </a:pPr>
            <a:r>
              <a:rPr lang="en-US" sz="1000" b="1" spc="140" kern="0" dirty="0">
                <a:solidFill>
                  <a:srgbClr val="5FD4BE"/>
                </a:solidFill>
                <a:latin typeface="Calibri" pitchFamily="34" charset="0"/>
                <a:ea typeface="Calibri" pitchFamily="34" charset="-122"/>
                <a:cs typeface="Calibri" pitchFamily="34" charset="-120"/>
              </a:rPr>
              <a:t>BACKEND &amp; API</a:t>
            </a:r>
            <a:endParaRPr lang="en-US" sz="1000" dirty="0"/>
          </a:p>
        </p:txBody>
      </p:sp>
      <p:sp>
        <p:nvSpPr>
          <p:cNvPr id="9" name="Text 7"/>
          <p:cNvSpPr txBox="1"/>
          <p:nvPr/>
        </p:nvSpPr>
        <p:spPr>
          <a:xfrm>
            <a:off x="4654296" y="1938528"/>
            <a:ext cx="3063240" cy="1408176"/>
          </a:xfrm>
          <a:prstGeom prst="rect">
            <a:avLst/>
          </a:prstGeom>
          <a:noFill/>
          <a:ln/>
        </p:spPr>
        <p:txBody>
          <a:bodyPr wrap="square" lIns="0" tIns="0" rIns="0" bIns="0" rtlCol="0" anchor="ctr"/>
          <a:lstStyle/>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Next.js Route Handlers — server only</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PL/pgSQL RPCs — booking, queue,</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   payments, loyalty, AI actions</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Zod — one schema, browser + server</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web-push — PWA notifications</a:t>
            </a:r>
            <a:endParaRPr lang="en-US" sz="1000" dirty="0"/>
          </a:p>
        </p:txBody>
      </p:sp>
      <p:sp>
        <p:nvSpPr>
          <p:cNvPr id="10" name="Shape 8"/>
          <p:cNvSpPr/>
          <p:nvPr/>
        </p:nvSpPr>
        <p:spPr>
          <a:xfrm>
            <a:off x="8302752" y="1517904"/>
            <a:ext cx="3502152" cy="1975104"/>
          </a:xfrm>
          <a:prstGeom prst="roundRect">
            <a:avLst>
              <a:gd name="adj" fmla="val 4630"/>
            </a:avLst>
          </a:prstGeom>
          <a:solidFill>
            <a:srgbClr val="161F30"/>
          </a:solidFill>
          <a:ln w="12700">
            <a:solidFill>
              <a:srgbClr val="2C3A54"/>
            </a:solidFill>
            <a:prstDash val="solid"/>
          </a:ln>
        </p:spPr>
      </p:sp>
      <p:sp>
        <p:nvSpPr>
          <p:cNvPr id="11" name="Text 9"/>
          <p:cNvSpPr txBox="1"/>
          <p:nvPr/>
        </p:nvSpPr>
        <p:spPr>
          <a:xfrm>
            <a:off x="8522208" y="1664208"/>
            <a:ext cx="3063240" cy="219456"/>
          </a:xfrm>
          <a:prstGeom prst="rect">
            <a:avLst/>
          </a:prstGeom>
          <a:noFill/>
          <a:ln/>
        </p:spPr>
        <p:txBody>
          <a:bodyPr wrap="square" lIns="0" tIns="0" rIns="0" bIns="0" rtlCol="0" anchor="ctr"/>
          <a:lstStyle/>
          <a:p>
            <a:pPr indent="0" marL="0">
              <a:buNone/>
            </a:pPr>
            <a:r>
              <a:rPr lang="en-US" sz="1000" b="1" spc="140" kern="0" dirty="0">
                <a:solidFill>
                  <a:srgbClr val="F5C451"/>
                </a:solidFill>
                <a:latin typeface="Calibri" pitchFamily="34" charset="0"/>
                <a:ea typeface="Calibri" pitchFamily="34" charset="-122"/>
                <a:cs typeface="Calibri" pitchFamily="34" charset="-120"/>
              </a:rPr>
              <a:t>DATABASE &amp; AUTH</a:t>
            </a:r>
            <a:endParaRPr lang="en-US" sz="1000" dirty="0"/>
          </a:p>
        </p:txBody>
      </p:sp>
      <p:sp>
        <p:nvSpPr>
          <p:cNvPr id="12" name="Text 10"/>
          <p:cNvSpPr txBox="1"/>
          <p:nvPr/>
        </p:nvSpPr>
        <p:spPr>
          <a:xfrm>
            <a:off x="8522208" y="1938528"/>
            <a:ext cx="3063240" cy="1408176"/>
          </a:xfrm>
          <a:prstGeom prst="rect">
            <a:avLst/>
          </a:prstGeom>
          <a:noFill/>
          <a:ln/>
        </p:spPr>
        <p:txBody>
          <a:bodyPr wrap="square" lIns="0" tIns="0" rIns="0" bIns="0" rtlCol="0" anchor="ctr"/>
          <a:lstStyle/>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PostgreSQL via Supabase</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Row Level Security on every</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   business-scoped table</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67 SQL migrations</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149 tables and views</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Supabase Auth — PKCE, cookie session</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Supabase Realtime — live queue</a:t>
            </a:r>
            <a:endParaRPr lang="en-US" sz="1000" dirty="0"/>
          </a:p>
        </p:txBody>
      </p:sp>
      <p:sp>
        <p:nvSpPr>
          <p:cNvPr id="13" name="Shape 11"/>
          <p:cNvSpPr/>
          <p:nvPr/>
        </p:nvSpPr>
        <p:spPr>
          <a:xfrm>
            <a:off x="566928" y="3767328"/>
            <a:ext cx="3502152" cy="1975104"/>
          </a:xfrm>
          <a:prstGeom prst="roundRect">
            <a:avLst>
              <a:gd name="adj" fmla="val 4630"/>
            </a:avLst>
          </a:prstGeom>
          <a:solidFill>
            <a:srgbClr val="161F30"/>
          </a:solidFill>
          <a:ln w="12700">
            <a:solidFill>
              <a:srgbClr val="2C3A54"/>
            </a:solidFill>
            <a:prstDash val="solid"/>
          </a:ln>
        </p:spPr>
      </p:sp>
      <p:sp>
        <p:nvSpPr>
          <p:cNvPr id="14" name="Text 12"/>
          <p:cNvSpPr txBox="1"/>
          <p:nvPr/>
        </p:nvSpPr>
        <p:spPr>
          <a:xfrm>
            <a:off x="786384" y="3913632"/>
            <a:ext cx="3063240" cy="219456"/>
          </a:xfrm>
          <a:prstGeom prst="rect">
            <a:avLst/>
          </a:prstGeom>
          <a:noFill/>
          <a:ln/>
        </p:spPr>
        <p:txBody>
          <a:bodyPr wrap="square" lIns="0" tIns="0" rIns="0" bIns="0" rtlCol="0" anchor="ctr"/>
          <a:lstStyle/>
          <a:p>
            <a:pPr indent="0" marL="0">
              <a:buNone/>
            </a:pPr>
            <a:r>
              <a:rPr lang="en-US" sz="1000" b="1" spc="140" kern="0" dirty="0">
                <a:solidFill>
                  <a:srgbClr val="9B8CFF"/>
                </a:solidFill>
                <a:latin typeface="Calibri" pitchFamily="34" charset="0"/>
                <a:ea typeface="Calibri" pitchFamily="34" charset="-122"/>
                <a:cs typeface="Calibri" pitchFamily="34" charset="-120"/>
              </a:rPr>
              <a:t>AI</a:t>
            </a:r>
            <a:endParaRPr lang="en-US" sz="1000" dirty="0"/>
          </a:p>
        </p:txBody>
      </p:sp>
      <p:sp>
        <p:nvSpPr>
          <p:cNvPr id="15" name="Text 13"/>
          <p:cNvSpPr txBox="1"/>
          <p:nvPr/>
        </p:nvSpPr>
        <p:spPr>
          <a:xfrm>
            <a:off x="786384" y="4187952"/>
            <a:ext cx="3063240" cy="1408176"/>
          </a:xfrm>
          <a:prstGeom prst="rect">
            <a:avLst/>
          </a:prstGeom>
          <a:noFill/>
          <a:ln/>
        </p:spPr>
        <p:txBody>
          <a:bodyPr wrap="square" lIns="0" tIns="0" rIns="0" bIns="0" rtlCol="0" anchor="ctr"/>
          <a:lstStyle/>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@anthropic-ai/sdk 0.121</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Model: claude-opus-5</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Custom closed tool registry — 25 tools</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Bounded agent loop, server-side</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Per-feature model override by env var</a:t>
            </a:r>
            <a:endParaRPr lang="en-US" sz="1000" dirty="0"/>
          </a:p>
        </p:txBody>
      </p:sp>
      <p:sp>
        <p:nvSpPr>
          <p:cNvPr id="16" name="Shape 14"/>
          <p:cNvSpPr/>
          <p:nvPr/>
        </p:nvSpPr>
        <p:spPr>
          <a:xfrm>
            <a:off x="4434840" y="3767328"/>
            <a:ext cx="3502152" cy="1975104"/>
          </a:xfrm>
          <a:prstGeom prst="roundRect">
            <a:avLst>
              <a:gd name="adj" fmla="val 4630"/>
            </a:avLst>
          </a:prstGeom>
          <a:solidFill>
            <a:srgbClr val="161F30"/>
          </a:solidFill>
          <a:ln w="12700">
            <a:solidFill>
              <a:srgbClr val="2C3A54"/>
            </a:solidFill>
            <a:prstDash val="solid"/>
          </a:ln>
        </p:spPr>
      </p:sp>
      <p:sp>
        <p:nvSpPr>
          <p:cNvPr id="17" name="Text 15"/>
          <p:cNvSpPr txBox="1"/>
          <p:nvPr/>
        </p:nvSpPr>
        <p:spPr>
          <a:xfrm>
            <a:off x="4654296" y="3913632"/>
            <a:ext cx="3063240" cy="219456"/>
          </a:xfrm>
          <a:prstGeom prst="rect">
            <a:avLst/>
          </a:prstGeom>
          <a:noFill/>
          <a:ln/>
        </p:spPr>
        <p:txBody>
          <a:bodyPr wrap="square" lIns="0" tIns="0" rIns="0" bIns="0" rtlCol="0" anchor="ctr"/>
          <a:lstStyle/>
          <a:p>
            <a:pPr indent="0" marL="0">
              <a:buNone/>
            </a:pPr>
            <a:r>
              <a:rPr lang="en-US" sz="1000" b="1" spc="140" kern="0" dirty="0">
                <a:solidFill>
                  <a:srgbClr val="5FD4BE"/>
                </a:solidFill>
                <a:latin typeface="Calibri" pitchFamily="34" charset="0"/>
                <a:ea typeface="Calibri" pitchFamily="34" charset="-122"/>
                <a:cs typeface="Calibri" pitchFamily="34" charset="-120"/>
              </a:rPr>
              <a:t>TESTING</a:t>
            </a:r>
            <a:endParaRPr lang="en-US" sz="1000" dirty="0"/>
          </a:p>
        </p:txBody>
      </p:sp>
      <p:sp>
        <p:nvSpPr>
          <p:cNvPr id="18" name="Text 16"/>
          <p:cNvSpPr txBox="1"/>
          <p:nvPr/>
        </p:nvSpPr>
        <p:spPr>
          <a:xfrm>
            <a:off x="4654296" y="4187952"/>
            <a:ext cx="3063240" cy="1408176"/>
          </a:xfrm>
          <a:prstGeom prst="rect">
            <a:avLst/>
          </a:prstGeom>
          <a:noFill/>
          <a:ln/>
        </p:spPr>
        <p:txBody>
          <a:bodyPr wrap="square" lIns="0" tIns="0" rIns="0" bIns="0" rtlCol="0" anchor="ctr"/>
          <a:lstStyle/>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Vitest 4 — 1,159 unit tests</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14 PostgreSQL harnesses</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   with genuinely parallel psql clients</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Playwright + Chromium — browser smoke</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ESLint 9 + eslint-plugin-boundaries</a:t>
            </a:r>
            <a:endParaRPr lang="en-US" sz="1000" dirty="0"/>
          </a:p>
        </p:txBody>
      </p:sp>
      <p:sp>
        <p:nvSpPr>
          <p:cNvPr id="19" name="Shape 17"/>
          <p:cNvSpPr/>
          <p:nvPr/>
        </p:nvSpPr>
        <p:spPr>
          <a:xfrm>
            <a:off x="8302752" y="3767328"/>
            <a:ext cx="3502152" cy="1975104"/>
          </a:xfrm>
          <a:prstGeom prst="roundRect">
            <a:avLst>
              <a:gd name="adj" fmla="val 4630"/>
            </a:avLst>
          </a:prstGeom>
          <a:solidFill>
            <a:srgbClr val="161F30"/>
          </a:solidFill>
          <a:ln w="12700">
            <a:solidFill>
              <a:srgbClr val="2C3A54"/>
            </a:solidFill>
            <a:prstDash val="solid"/>
          </a:ln>
        </p:spPr>
      </p:sp>
      <p:sp>
        <p:nvSpPr>
          <p:cNvPr id="20" name="Text 18"/>
          <p:cNvSpPr txBox="1"/>
          <p:nvPr/>
        </p:nvSpPr>
        <p:spPr>
          <a:xfrm>
            <a:off x="8522208" y="3913632"/>
            <a:ext cx="3063240" cy="219456"/>
          </a:xfrm>
          <a:prstGeom prst="rect">
            <a:avLst/>
          </a:prstGeom>
          <a:noFill/>
          <a:ln/>
        </p:spPr>
        <p:txBody>
          <a:bodyPr wrap="square" lIns="0" tIns="0" rIns="0" bIns="0" rtlCol="0" anchor="ctr"/>
          <a:lstStyle/>
          <a:p>
            <a:pPr indent="0" marL="0">
              <a:buNone/>
            </a:pPr>
            <a:r>
              <a:rPr lang="en-US" sz="1000" b="1" spc="140" kern="0" dirty="0">
                <a:solidFill>
                  <a:srgbClr val="FF5C39"/>
                </a:solidFill>
                <a:latin typeface="Calibri" pitchFamily="34" charset="0"/>
                <a:ea typeface="Calibri" pitchFamily="34" charset="-122"/>
                <a:cs typeface="Calibri" pitchFamily="34" charset="-120"/>
              </a:rPr>
              <a:t>DEPLOYMENT</a:t>
            </a:r>
            <a:endParaRPr lang="en-US" sz="1000" dirty="0"/>
          </a:p>
        </p:txBody>
      </p:sp>
      <p:sp>
        <p:nvSpPr>
          <p:cNvPr id="21" name="Text 19"/>
          <p:cNvSpPr txBox="1"/>
          <p:nvPr/>
        </p:nvSpPr>
        <p:spPr>
          <a:xfrm>
            <a:off x="8522208" y="4187952"/>
            <a:ext cx="3063240" cy="1408176"/>
          </a:xfrm>
          <a:prstGeom prst="rect">
            <a:avLst/>
          </a:prstGeom>
          <a:noFill/>
          <a:ln/>
        </p:spPr>
        <p:txBody>
          <a:bodyPr wrap="square" lIns="0" tIns="0" rIns="0" bIns="0" rtlCol="0" anchor="ctr"/>
          <a:lstStyle/>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Vercel</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Vercel Cron → /api/cron/nightly</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Migrations applied by hand in the</a:t>
            </a:r>
            <a:endParaRPr lang="en-US" sz="1000" dirty="0"/>
          </a:p>
          <a:p>
            <a:pPr indent="0" marL="0">
              <a:lnSpc>
                <a:spcPct val="116000"/>
              </a:lnSpc>
              <a:buNone/>
            </a:pPr>
            <a:r>
              <a:rPr lang="en-US" sz="1000" dirty="0">
                <a:solidFill>
                  <a:srgbClr val="94A6C4"/>
                </a:solidFill>
                <a:latin typeface="Calibri" pitchFamily="34" charset="0"/>
                <a:ea typeface="Calibri" pitchFamily="34" charset="-122"/>
                <a:cs typeface="Calibri" pitchFamily="34" charset="-120"/>
              </a:rPr>
              <a:t>   Supabase SQL editor — deliberately</a:t>
            </a:r>
            <a:endParaRPr lang="en-US" sz="1000" dirty="0"/>
          </a:p>
        </p:txBody>
      </p:sp>
      <p:sp>
        <p:nvSpPr>
          <p:cNvPr id="22" name="Shape 20"/>
          <p:cNvSpPr/>
          <p:nvPr/>
        </p:nvSpPr>
        <p:spPr>
          <a:xfrm>
            <a:off x="566928" y="5705856"/>
            <a:ext cx="11057839" cy="676656"/>
          </a:xfrm>
          <a:prstGeom prst="roundRect">
            <a:avLst>
              <a:gd name="adj" fmla="val 13514"/>
            </a:avLst>
          </a:prstGeom>
          <a:solidFill>
            <a:srgbClr val="1D2740"/>
          </a:solidFill>
          <a:ln w="12700">
            <a:solidFill>
              <a:srgbClr val="2C3A54"/>
            </a:solidFill>
            <a:prstDash val="solid"/>
          </a:ln>
        </p:spPr>
      </p:sp>
      <p:sp>
        <p:nvSpPr>
          <p:cNvPr id="23" name="Text 21"/>
          <p:cNvSpPr txBox="1"/>
          <p:nvPr/>
        </p:nvSpPr>
        <p:spPr>
          <a:xfrm>
            <a:off x="841248" y="5815584"/>
            <a:ext cx="1627632" cy="219456"/>
          </a:xfrm>
          <a:prstGeom prst="rect">
            <a:avLst/>
          </a:prstGeom>
          <a:noFill/>
          <a:ln/>
        </p:spPr>
        <p:txBody>
          <a:bodyPr wrap="square" lIns="0" tIns="0" rIns="0" bIns="0" rtlCol="0" anchor="ctr"/>
          <a:lstStyle/>
          <a:p>
            <a:pPr indent="0" marL="0">
              <a:buNone/>
            </a:pPr>
            <a:r>
              <a:rPr lang="en-US" sz="1000" b="1" spc="140" kern="0" dirty="0">
                <a:solidFill>
                  <a:srgbClr val="FFFFFF"/>
                </a:solidFill>
                <a:latin typeface="Calibri" pitchFamily="34" charset="0"/>
                <a:ea typeface="Calibri" pitchFamily="34" charset="-122"/>
                <a:cs typeface="Calibri" pitchFamily="34" charset="-120"/>
              </a:rPr>
              <a:t>WHY THIS STACK</a:t>
            </a:r>
            <a:endParaRPr lang="en-US" sz="1000" dirty="0"/>
          </a:p>
        </p:txBody>
      </p:sp>
      <p:sp>
        <p:nvSpPr>
          <p:cNvPr id="24" name="Text 22"/>
          <p:cNvSpPr txBox="1"/>
          <p:nvPr/>
        </p:nvSpPr>
        <p:spPr>
          <a:xfrm>
            <a:off x="2578608" y="5760720"/>
            <a:ext cx="8771839" cy="566928"/>
          </a:xfrm>
          <a:prstGeom prst="rect">
            <a:avLst/>
          </a:prstGeom>
          <a:noFill/>
          <a:ln/>
        </p:spPr>
        <p:txBody>
          <a:bodyPr wrap="square" lIns="0" tIns="0" rIns="0" bIns="0" rtlCol="0" anchor="ctr"/>
          <a:lstStyle/>
          <a:p>
            <a:pPr indent="0" marL="0">
              <a:lnSpc>
                <a:spcPct val="110000"/>
              </a:lnSpc>
              <a:buNone/>
            </a:pPr>
            <a:r>
              <a:rPr lang="en-US" sz="1050" dirty="0">
                <a:solidFill>
                  <a:srgbClr val="94A6C4"/>
                </a:solidFill>
                <a:latin typeface="Calibri" pitchFamily="34" charset="0"/>
                <a:ea typeface="Calibri" pitchFamily="34" charset="-122"/>
                <a:cs typeface="Calibri" pitchFamily="34" charset="-120"/>
              </a:rPr>
              <a:t>PostgreSQL → relational consistency under concurrency    ·    RLS → business-level data isolation next to the data    ·    TypeScript → a renamed column is a compile error    ·    Server-side AI → the API key never reaches a browser</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11C"/>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00" kern="0" dirty="0">
                <a:solidFill>
                  <a:srgbClr val="F5C451"/>
                </a:solidFill>
                <a:latin typeface="Calibri" pitchFamily="34" charset="0"/>
                <a:ea typeface="Calibri" pitchFamily="34" charset="-122"/>
                <a:cs typeface="Calibri" pitchFamily="34" charset="-120"/>
              </a:rPr>
              <a:t>ARCHITECTURE &amp; SECURITY</a:t>
            </a:r>
            <a:endParaRPr lang="en-US" sz="1200" dirty="0"/>
          </a:p>
        </p:txBody>
      </p:sp>
      <p:sp>
        <p:nvSpPr>
          <p:cNvPr id="3" name="Text 1"/>
          <p:cNvSpPr txBox="1"/>
          <p:nvPr/>
        </p:nvSpPr>
        <p:spPr>
          <a:xfrm>
            <a:off x="566928" y="621792"/>
            <a:ext cx="11057839" cy="585216"/>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Correctness lives in the database.</a:t>
            </a:r>
            <a:endParaRPr lang="en-US" sz="3000" dirty="0"/>
          </a:p>
        </p:txBody>
      </p:sp>
      <p:sp>
        <p:nvSpPr>
          <p:cNvPr id="4" name="Shape 2"/>
          <p:cNvSpPr/>
          <p:nvPr/>
        </p:nvSpPr>
        <p:spPr>
          <a:xfrm>
            <a:off x="566928" y="1645920"/>
            <a:ext cx="5029200" cy="676656"/>
          </a:xfrm>
          <a:prstGeom prst="roundRect">
            <a:avLst>
              <a:gd name="adj" fmla="val 13514"/>
            </a:avLst>
          </a:prstGeom>
          <a:solidFill>
            <a:srgbClr val="161F30"/>
          </a:solidFill>
          <a:ln w="12700">
            <a:solidFill>
              <a:srgbClr val="2C3A54"/>
            </a:solidFill>
            <a:prstDash val="solid"/>
          </a:ln>
        </p:spPr>
      </p:sp>
      <p:sp>
        <p:nvSpPr>
          <p:cNvPr id="5" name="Text 3"/>
          <p:cNvSpPr txBox="1"/>
          <p:nvPr/>
        </p:nvSpPr>
        <p:spPr>
          <a:xfrm>
            <a:off x="786384" y="1719072"/>
            <a:ext cx="4590288"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Customer  ·  Provider</a:t>
            </a:r>
            <a:endParaRPr lang="en-US" sz="1300" dirty="0"/>
          </a:p>
        </p:txBody>
      </p:sp>
      <p:sp>
        <p:nvSpPr>
          <p:cNvPr id="6" name="Text 4"/>
          <p:cNvSpPr txBox="1"/>
          <p:nvPr/>
        </p:nvSpPr>
        <p:spPr>
          <a:xfrm>
            <a:off x="786384" y="1975104"/>
            <a:ext cx="4590288" cy="274320"/>
          </a:xfrm>
          <a:prstGeom prst="rect">
            <a:avLst/>
          </a:prstGeom>
          <a:noFill/>
          <a:ln/>
        </p:spPr>
        <p:txBody>
          <a:bodyPr wrap="square" lIns="0" tIns="0" rIns="0" bIns="0" rtlCol="0" anchor="ctr"/>
          <a:lstStyle/>
          <a:p>
            <a:pPr indent="0" marL="0">
              <a:buNone/>
            </a:pPr>
            <a:r>
              <a:rPr lang="en-US" sz="950" dirty="0">
                <a:solidFill>
                  <a:srgbClr val="6D7F9C"/>
                </a:solidFill>
                <a:latin typeface="Calibri" pitchFamily="34" charset="0"/>
                <a:ea typeface="Calibri" pitchFamily="34" charset="-122"/>
                <a:cs typeface="Calibri" pitchFamily="34" charset="-120"/>
              </a:rPr>
              <a:t>browser / installable PWA</a:t>
            </a:r>
            <a:endParaRPr lang="en-US" sz="950" dirty="0"/>
          </a:p>
        </p:txBody>
      </p:sp>
      <p:sp>
        <p:nvSpPr>
          <p:cNvPr id="7" name="Text 5"/>
          <p:cNvSpPr txBox="1"/>
          <p:nvPr/>
        </p:nvSpPr>
        <p:spPr>
          <a:xfrm>
            <a:off x="2898648" y="2359152"/>
            <a:ext cx="365760" cy="182880"/>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8" name="Shape 6"/>
          <p:cNvSpPr/>
          <p:nvPr/>
        </p:nvSpPr>
        <p:spPr>
          <a:xfrm>
            <a:off x="566928" y="2560320"/>
            <a:ext cx="5029200" cy="676656"/>
          </a:xfrm>
          <a:prstGeom prst="roundRect">
            <a:avLst>
              <a:gd name="adj" fmla="val 13514"/>
            </a:avLst>
          </a:prstGeom>
          <a:solidFill>
            <a:srgbClr val="161F30"/>
          </a:solidFill>
          <a:ln w="12700">
            <a:solidFill>
              <a:srgbClr val="2C3A54"/>
            </a:solidFill>
            <a:prstDash val="solid"/>
          </a:ln>
        </p:spPr>
      </p:sp>
      <p:sp>
        <p:nvSpPr>
          <p:cNvPr id="9" name="Text 7"/>
          <p:cNvSpPr txBox="1"/>
          <p:nvPr/>
        </p:nvSpPr>
        <p:spPr>
          <a:xfrm>
            <a:off x="786384" y="2633472"/>
            <a:ext cx="4590288"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Next.js App Router</a:t>
            </a:r>
            <a:endParaRPr lang="en-US" sz="1300" dirty="0"/>
          </a:p>
        </p:txBody>
      </p:sp>
      <p:sp>
        <p:nvSpPr>
          <p:cNvPr id="10" name="Text 8"/>
          <p:cNvSpPr txBox="1"/>
          <p:nvPr/>
        </p:nvSpPr>
        <p:spPr>
          <a:xfrm>
            <a:off x="786384" y="2889504"/>
            <a:ext cx="4590288" cy="274320"/>
          </a:xfrm>
          <a:prstGeom prst="rect">
            <a:avLst/>
          </a:prstGeom>
          <a:noFill/>
          <a:ln/>
        </p:spPr>
        <p:txBody>
          <a:bodyPr wrap="square" lIns="0" tIns="0" rIns="0" bIns="0" rtlCol="0" anchor="ctr"/>
          <a:lstStyle/>
          <a:p>
            <a:pPr indent="0" marL="0">
              <a:buNone/>
            </a:pPr>
            <a:r>
              <a:rPr lang="en-US" sz="950" dirty="0">
                <a:solidFill>
                  <a:srgbClr val="6D7F9C"/>
                </a:solidFill>
                <a:latin typeface="Calibri" pitchFamily="34" charset="0"/>
                <a:ea typeface="Calibri" pitchFamily="34" charset="-122"/>
                <a:cs typeface="Calibri" pitchFamily="34" charset="-120"/>
              </a:rPr>
              <a:t>React 19 Server + Client Components</a:t>
            </a:r>
            <a:endParaRPr lang="en-US" sz="950" dirty="0"/>
          </a:p>
        </p:txBody>
      </p:sp>
      <p:sp>
        <p:nvSpPr>
          <p:cNvPr id="11" name="Text 9"/>
          <p:cNvSpPr txBox="1"/>
          <p:nvPr/>
        </p:nvSpPr>
        <p:spPr>
          <a:xfrm>
            <a:off x="2898648" y="3273552"/>
            <a:ext cx="365760" cy="182880"/>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12" name="Shape 10"/>
          <p:cNvSpPr/>
          <p:nvPr/>
        </p:nvSpPr>
        <p:spPr>
          <a:xfrm>
            <a:off x="566928" y="3474720"/>
            <a:ext cx="5029200" cy="676656"/>
          </a:xfrm>
          <a:prstGeom prst="roundRect">
            <a:avLst>
              <a:gd name="adj" fmla="val 13514"/>
            </a:avLst>
          </a:prstGeom>
          <a:solidFill>
            <a:srgbClr val="241C0A"/>
          </a:solidFill>
          <a:ln w="12700">
            <a:solidFill>
              <a:srgbClr val="2C3A54"/>
            </a:solidFill>
            <a:prstDash val="solid"/>
          </a:ln>
        </p:spPr>
      </p:sp>
      <p:sp>
        <p:nvSpPr>
          <p:cNvPr id="13" name="Text 11"/>
          <p:cNvSpPr txBox="1"/>
          <p:nvPr/>
        </p:nvSpPr>
        <p:spPr>
          <a:xfrm>
            <a:off x="786384" y="3547872"/>
            <a:ext cx="4590288" cy="256032"/>
          </a:xfrm>
          <a:prstGeom prst="rect">
            <a:avLst/>
          </a:prstGeom>
          <a:noFill/>
          <a:ln/>
        </p:spPr>
        <p:txBody>
          <a:bodyPr wrap="square" lIns="0" tIns="0" rIns="0" bIns="0" rtlCol="0" anchor="ctr"/>
          <a:lstStyle/>
          <a:p>
            <a:pPr indent="0" marL="0">
              <a:buNone/>
            </a:pPr>
            <a:r>
              <a:rPr lang="en-US" sz="1300" b="1" dirty="0">
                <a:solidFill>
                  <a:srgbClr val="F5C451"/>
                </a:solidFill>
                <a:latin typeface="Calibri" pitchFamily="34" charset="0"/>
                <a:ea typeface="Calibri" pitchFamily="34" charset="-122"/>
                <a:cs typeface="Calibri" pitchFamily="34" charset="-120"/>
              </a:rPr>
              <a:t>Route Handlers — server only</a:t>
            </a:r>
            <a:endParaRPr lang="en-US" sz="1300" dirty="0"/>
          </a:p>
        </p:txBody>
      </p:sp>
      <p:sp>
        <p:nvSpPr>
          <p:cNvPr id="14" name="Text 12"/>
          <p:cNvSpPr txBox="1"/>
          <p:nvPr/>
        </p:nvSpPr>
        <p:spPr>
          <a:xfrm>
            <a:off x="786384" y="3803904"/>
            <a:ext cx="4590288" cy="274320"/>
          </a:xfrm>
          <a:prstGeom prst="rect">
            <a:avLst/>
          </a:prstGeom>
          <a:noFill/>
          <a:ln/>
        </p:spPr>
        <p:txBody>
          <a:bodyPr wrap="square" lIns="0" tIns="0" rIns="0" bIns="0" rtlCol="0" anchor="ctr"/>
          <a:lstStyle/>
          <a:p>
            <a:pPr indent="0" marL="0">
              <a:buNone/>
            </a:pPr>
            <a:r>
              <a:rPr lang="en-US" sz="950" dirty="0">
                <a:solidFill>
                  <a:srgbClr val="6D7F9C"/>
                </a:solidFill>
                <a:latin typeface="Calibri" pitchFamily="34" charset="0"/>
                <a:ea typeface="Calibri" pitchFamily="34" charset="-122"/>
                <a:cs typeface="Calibri" pitchFamily="34" charset="-120"/>
              </a:rPr>
              <a:t>"server-only" makes a client import a BUILD ERROR</a:t>
            </a:r>
            <a:endParaRPr lang="en-US" sz="950" dirty="0"/>
          </a:p>
        </p:txBody>
      </p:sp>
      <p:sp>
        <p:nvSpPr>
          <p:cNvPr id="15" name="Text 13"/>
          <p:cNvSpPr txBox="1"/>
          <p:nvPr/>
        </p:nvSpPr>
        <p:spPr>
          <a:xfrm>
            <a:off x="2898648" y="4187952"/>
            <a:ext cx="365760" cy="182880"/>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16" name="Shape 14"/>
          <p:cNvSpPr/>
          <p:nvPr/>
        </p:nvSpPr>
        <p:spPr>
          <a:xfrm>
            <a:off x="566928" y="4389120"/>
            <a:ext cx="5029200" cy="676656"/>
          </a:xfrm>
          <a:prstGeom prst="roundRect">
            <a:avLst>
              <a:gd name="adj" fmla="val 13514"/>
            </a:avLst>
          </a:prstGeom>
          <a:solidFill>
            <a:srgbClr val="161F30"/>
          </a:solidFill>
          <a:ln w="12700">
            <a:solidFill>
              <a:srgbClr val="2C3A54"/>
            </a:solidFill>
            <a:prstDash val="solid"/>
          </a:ln>
        </p:spPr>
      </p:sp>
      <p:sp>
        <p:nvSpPr>
          <p:cNvPr id="17" name="Text 15"/>
          <p:cNvSpPr txBox="1"/>
          <p:nvPr/>
        </p:nvSpPr>
        <p:spPr>
          <a:xfrm>
            <a:off x="786384" y="4462272"/>
            <a:ext cx="4590288"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PL/pgSQL RPCs</a:t>
            </a:r>
            <a:endParaRPr lang="en-US" sz="1300" dirty="0"/>
          </a:p>
        </p:txBody>
      </p:sp>
      <p:sp>
        <p:nvSpPr>
          <p:cNvPr id="18" name="Text 16"/>
          <p:cNvSpPr txBox="1"/>
          <p:nvPr/>
        </p:nvSpPr>
        <p:spPr>
          <a:xfrm>
            <a:off x="786384" y="4718304"/>
            <a:ext cx="4590288" cy="274320"/>
          </a:xfrm>
          <a:prstGeom prst="rect">
            <a:avLst/>
          </a:prstGeom>
          <a:noFill/>
          <a:ln/>
        </p:spPr>
        <p:txBody>
          <a:bodyPr wrap="square" lIns="0" tIns="0" rIns="0" bIns="0" rtlCol="0" anchor="ctr"/>
          <a:lstStyle/>
          <a:p>
            <a:pPr indent="0" marL="0">
              <a:buNone/>
            </a:pPr>
            <a:r>
              <a:rPr lang="en-US" sz="950" dirty="0">
                <a:solidFill>
                  <a:srgbClr val="6D7F9C"/>
                </a:solidFill>
                <a:latin typeface="Calibri" pitchFamily="34" charset="0"/>
                <a:ea typeface="Calibri" pitchFamily="34" charset="-122"/>
                <a:cs typeface="Calibri" pitchFamily="34" charset="-120"/>
              </a:rPr>
              <a:t>multi-step operations in one transaction, with row locks</a:t>
            </a:r>
            <a:endParaRPr lang="en-US" sz="950" dirty="0"/>
          </a:p>
        </p:txBody>
      </p:sp>
      <p:sp>
        <p:nvSpPr>
          <p:cNvPr id="19" name="Text 17"/>
          <p:cNvSpPr txBox="1"/>
          <p:nvPr/>
        </p:nvSpPr>
        <p:spPr>
          <a:xfrm>
            <a:off x="2898648" y="5102352"/>
            <a:ext cx="365760" cy="182880"/>
          </a:xfrm>
          <a:prstGeom prst="rect">
            <a:avLst/>
          </a:prstGeom>
          <a:noFill/>
          <a:ln/>
        </p:spPr>
        <p:txBody>
          <a:bodyPr wrap="square" lIns="0" tIns="0" rIns="0" bIns="0" rtlCol="0" anchor="ctr"/>
          <a:lstStyle/>
          <a:p>
            <a:pPr algn="ctr" indent="0" marL="0">
              <a:buNone/>
            </a:pPr>
            <a:r>
              <a:rPr lang="en-US" sz="900" dirty="0">
                <a:solidFill>
                  <a:srgbClr val="6D7F9C"/>
                </a:solidFill>
                <a:latin typeface="Calibri" pitchFamily="34" charset="0"/>
                <a:ea typeface="Calibri" pitchFamily="34" charset="-122"/>
                <a:cs typeface="Calibri" pitchFamily="34" charset="-120"/>
              </a:rPr>
              <a:t>▼</a:t>
            </a:r>
            <a:endParaRPr lang="en-US" sz="900" dirty="0"/>
          </a:p>
        </p:txBody>
      </p:sp>
      <p:sp>
        <p:nvSpPr>
          <p:cNvPr id="20" name="Shape 18"/>
          <p:cNvSpPr/>
          <p:nvPr/>
        </p:nvSpPr>
        <p:spPr>
          <a:xfrm>
            <a:off x="566928" y="5303520"/>
            <a:ext cx="5029200" cy="676656"/>
          </a:xfrm>
          <a:prstGeom prst="roundRect">
            <a:avLst>
              <a:gd name="adj" fmla="val 13514"/>
            </a:avLst>
          </a:prstGeom>
          <a:solidFill>
            <a:srgbClr val="241C0A"/>
          </a:solidFill>
          <a:ln w="16510">
            <a:solidFill>
              <a:srgbClr val="F5C451"/>
            </a:solidFill>
            <a:prstDash val="solid"/>
          </a:ln>
        </p:spPr>
      </p:sp>
      <p:sp>
        <p:nvSpPr>
          <p:cNvPr id="21" name="Text 19"/>
          <p:cNvSpPr txBox="1"/>
          <p:nvPr/>
        </p:nvSpPr>
        <p:spPr>
          <a:xfrm>
            <a:off x="786384" y="5376672"/>
            <a:ext cx="4590288" cy="256032"/>
          </a:xfrm>
          <a:prstGeom prst="rect">
            <a:avLst/>
          </a:prstGeom>
          <a:noFill/>
          <a:ln/>
        </p:spPr>
        <p:txBody>
          <a:bodyPr wrap="square" lIns="0" tIns="0" rIns="0" bIns="0" rtlCol="0" anchor="ctr"/>
          <a:lstStyle/>
          <a:p>
            <a:pPr indent="0" marL="0">
              <a:buNone/>
            </a:pPr>
            <a:r>
              <a:rPr lang="en-US" sz="1300" b="1" dirty="0">
                <a:solidFill>
                  <a:srgbClr val="F5C451"/>
                </a:solidFill>
                <a:latin typeface="Calibri" pitchFamily="34" charset="0"/>
                <a:ea typeface="Calibri" pitchFamily="34" charset="-122"/>
                <a:cs typeface="Calibri" pitchFamily="34" charset="-120"/>
              </a:rPr>
              <a:t>PostgreSQL</a:t>
            </a:r>
            <a:endParaRPr lang="en-US" sz="1300" dirty="0"/>
          </a:p>
        </p:txBody>
      </p:sp>
      <p:sp>
        <p:nvSpPr>
          <p:cNvPr id="22" name="Text 20"/>
          <p:cNvSpPr txBox="1"/>
          <p:nvPr/>
        </p:nvSpPr>
        <p:spPr>
          <a:xfrm>
            <a:off x="786384" y="5632704"/>
            <a:ext cx="4590288" cy="274320"/>
          </a:xfrm>
          <a:prstGeom prst="rect">
            <a:avLst/>
          </a:prstGeom>
          <a:noFill/>
          <a:ln/>
        </p:spPr>
        <p:txBody>
          <a:bodyPr wrap="square" lIns="0" tIns="0" rIns="0" bIns="0" rtlCol="0" anchor="ctr"/>
          <a:lstStyle/>
          <a:p>
            <a:pPr indent="0" marL="0">
              <a:buNone/>
            </a:pPr>
            <a:r>
              <a:rPr lang="en-US" sz="950" dirty="0">
                <a:solidFill>
                  <a:srgbClr val="6D7F9C"/>
                </a:solidFill>
                <a:latin typeface="Calibri" pitchFamily="34" charset="0"/>
                <a:ea typeface="Calibri" pitchFamily="34" charset="-122"/>
                <a:cs typeface="Calibri" pitchFamily="34" charset="-120"/>
              </a:rPr>
              <a:t>RLS  ·  CHECK constraints  ·  triggers  ·  exclusion constraint</a:t>
            </a:r>
            <a:endParaRPr lang="en-US" sz="950" dirty="0"/>
          </a:p>
        </p:txBody>
      </p:sp>
      <p:sp>
        <p:nvSpPr>
          <p:cNvPr id="23" name="Text 21"/>
          <p:cNvSpPr txBox="1"/>
          <p:nvPr/>
        </p:nvSpPr>
        <p:spPr>
          <a:xfrm>
            <a:off x="6053328" y="1645920"/>
            <a:ext cx="5571439" cy="219456"/>
          </a:xfrm>
          <a:prstGeom prst="rect">
            <a:avLst/>
          </a:prstGeom>
          <a:noFill/>
          <a:ln/>
        </p:spPr>
        <p:txBody>
          <a:bodyPr wrap="square" lIns="0" tIns="0" rIns="0" bIns="0" rtlCol="0" anchor="ctr"/>
          <a:lstStyle/>
          <a:p>
            <a:pPr indent="0" marL="0">
              <a:buNone/>
            </a:pPr>
            <a:r>
              <a:rPr lang="en-US" sz="1000" b="1" spc="140" kern="0" dirty="0">
                <a:solidFill>
                  <a:srgbClr val="F5C451"/>
                </a:solidFill>
                <a:latin typeface="Calibri" pitchFamily="34" charset="0"/>
                <a:ea typeface="Calibri" pitchFamily="34" charset="-122"/>
                <a:cs typeface="Calibri" pitchFamily="34" charset="-120"/>
              </a:rPr>
              <a:t>THE DECISIONS THAT CARRY THE WEIGHT</a:t>
            </a:r>
            <a:endParaRPr lang="en-US" sz="1000" dirty="0"/>
          </a:p>
        </p:txBody>
      </p:sp>
      <p:sp>
        <p:nvSpPr>
          <p:cNvPr id="24" name="Shape 22"/>
          <p:cNvSpPr/>
          <p:nvPr/>
        </p:nvSpPr>
        <p:spPr>
          <a:xfrm>
            <a:off x="6053328" y="1984248"/>
            <a:ext cx="237744" cy="237744"/>
          </a:xfrm>
          <a:prstGeom prst="ellipse">
            <a:avLst/>
          </a:prstGeom>
          <a:solidFill>
            <a:srgbClr val="241C0A"/>
          </a:solidFill>
          <a:ln w="12700">
            <a:solidFill>
              <a:srgbClr val="F5C451"/>
            </a:solidFill>
            <a:prstDash val="solid"/>
          </a:ln>
        </p:spPr>
      </p:sp>
      <p:sp>
        <p:nvSpPr>
          <p:cNvPr id="25" name="Text 23"/>
          <p:cNvSpPr txBox="1"/>
          <p:nvPr/>
        </p:nvSpPr>
        <p:spPr>
          <a:xfrm>
            <a:off x="6053328" y="1984248"/>
            <a:ext cx="237744" cy="237744"/>
          </a:xfrm>
          <a:prstGeom prst="rect">
            <a:avLst/>
          </a:prstGeom>
          <a:noFill/>
          <a:ln/>
        </p:spPr>
        <p:txBody>
          <a:bodyPr wrap="square" lIns="0" tIns="0" rIns="0" bIns="0" rtlCol="0" anchor="ctr"/>
          <a:lstStyle/>
          <a:p>
            <a:pPr algn="ctr" indent="0" marL="0">
              <a:buNone/>
            </a:pPr>
            <a:r>
              <a:rPr lang="en-US" sz="900" b="1" dirty="0">
                <a:solidFill>
                  <a:srgbClr val="F5C451"/>
                </a:solidFill>
                <a:latin typeface="Calibri" pitchFamily="34" charset="0"/>
                <a:ea typeface="Calibri" pitchFamily="34" charset="-122"/>
                <a:cs typeface="Calibri" pitchFamily="34" charset="-120"/>
              </a:rPr>
              <a:t>1</a:t>
            </a:r>
            <a:endParaRPr lang="en-US" sz="900" dirty="0"/>
          </a:p>
        </p:txBody>
      </p:sp>
      <p:sp>
        <p:nvSpPr>
          <p:cNvPr id="26" name="Text 24"/>
          <p:cNvSpPr txBox="1"/>
          <p:nvPr/>
        </p:nvSpPr>
        <p:spPr>
          <a:xfrm>
            <a:off x="6419088" y="1956816"/>
            <a:ext cx="5205679" cy="21945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Identity comes from the session</a:t>
            </a:r>
            <a:endParaRPr lang="en-US" sz="1200" dirty="0"/>
          </a:p>
        </p:txBody>
      </p:sp>
      <p:sp>
        <p:nvSpPr>
          <p:cNvPr id="27" name="Text 25"/>
          <p:cNvSpPr txBox="1"/>
          <p:nvPr/>
        </p:nvSpPr>
        <p:spPr>
          <a:xfrm>
            <a:off x="6419088" y="2176272"/>
            <a:ext cx="5205679" cy="402336"/>
          </a:xfrm>
          <a:prstGeom prst="rect">
            <a:avLst/>
          </a:prstGeom>
          <a:noFill/>
          <a:ln/>
        </p:spPr>
        <p:txBody>
          <a:bodyPr wrap="square" lIns="0" tIns="0" rIns="0" bIns="0" rtlCol="0" anchor="ctr"/>
          <a:lstStyle/>
          <a:p>
            <a:pPr indent="0" marL="0">
              <a:lnSpc>
                <a:spcPct val="106000"/>
              </a:lnSpc>
              <a:buNone/>
            </a:pPr>
            <a:r>
              <a:rPr lang="en-US" sz="950" dirty="0">
                <a:solidFill>
                  <a:srgbClr val="94A6C4"/>
                </a:solidFill>
                <a:latin typeface="Calibri" pitchFamily="34" charset="0"/>
                <a:ea typeface="Calibri" pitchFamily="34" charset="-122"/>
                <a:cs typeface="Calibri" pitchFamily="34" charset="-120"/>
              </a:rPr>
              <a:t>RLS reads auth.uid() directly. One identity, one authorization mechanism.</a:t>
            </a:r>
            <a:endParaRPr lang="en-US" sz="950" dirty="0"/>
          </a:p>
        </p:txBody>
      </p:sp>
      <p:sp>
        <p:nvSpPr>
          <p:cNvPr id="28" name="Shape 26"/>
          <p:cNvSpPr/>
          <p:nvPr/>
        </p:nvSpPr>
        <p:spPr>
          <a:xfrm>
            <a:off x="6053328" y="2679192"/>
            <a:ext cx="237744" cy="237744"/>
          </a:xfrm>
          <a:prstGeom prst="ellipse">
            <a:avLst/>
          </a:prstGeom>
          <a:solidFill>
            <a:srgbClr val="241C0A"/>
          </a:solidFill>
          <a:ln w="12700">
            <a:solidFill>
              <a:srgbClr val="F5C451"/>
            </a:solidFill>
            <a:prstDash val="solid"/>
          </a:ln>
        </p:spPr>
      </p:sp>
      <p:sp>
        <p:nvSpPr>
          <p:cNvPr id="29" name="Text 27"/>
          <p:cNvSpPr txBox="1"/>
          <p:nvPr/>
        </p:nvSpPr>
        <p:spPr>
          <a:xfrm>
            <a:off x="6053328" y="2679192"/>
            <a:ext cx="237744" cy="237744"/>
          </a:xfrm>
          <a:prstGeom prst="rect">
            <a:avLst/>
          </a:prstGeom>
          <a:noFill/>
          <a:ln/>
        </p:spPr>
        <p:txBody>
          <a:bodyPr wrap="square" lIns="0" tIns="0" rIns="0" bIns="0" rtlCol="0" anchor="ctr"/>
          <a:lstStyle/>
          <a:p>
            <a:pPr algn="ctr" indent="0" marL="0">
              <a:buNone/>
            </a:pPr>
            <a:r>
              <a:rPr lang="en-US" sz="900" b="1" dirty="0">
                <a:solidFill>
                  <a:srgbClr val="F5C451"/>
                </a:solidFill>
                <a:latin typeface="Calibri" pitchFamily="34" charset="0"/>
                <a:ea typeface="Calibri" pitchFamily="34" charset="-122"/>
                <a:cs typeface="Calibri" pitchFamily="34" charset="-120"/>
              </a:rPr>
              <a:t>2</a:t>
            </a:r>
            <a:endParaRPr lang="en-US" sz="900" dirty="0"/>
          </a:p>
        </p:txBody>
      </p:sp>
      <p:sp>
        <p:nvSpPr>
          <p:cNvPr id="30" name="Text 28"/>
          <p:cNvSpPr txBox="1"/>
          <p:nvPr/>
        </p:nvSpPr>
        <p:spPr>
          <a:xfrm>
            <a:off x="6419088" y="2651760"/>
            <a:ext cx="5205679" cy="21945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Business data isolation</a:t>
            </a:r>
            <a:endParaRPr lang="en-US" sz="1200" dirty="0"/>
          </a:p>
        </p:txBody>
      </p:sp>
      <p:sp>
        <p:nvSpPr>
          <p:cNvPr id="31" name="Text 29"/>
          <p:cNvSpPr txBox="1"/>
          <p:nvPr/>
        </p:nvSpPr>
        <p:spPr>
          <a:xfrm>
            <a:off x="6419088" y="2871216"/>
            <a:ext cx="5205679" cy="402336"/>
          </a:xfrm>
          <a:prstGeom prst="rect">
            <a:avLst/>
          </a:prstGeom>
          <a:noFill/>
          <a:ln/>
        </p:spPr>
        <p:txBody>
          <a:bodyPr wrap="square" lIns="0" tIns="0" rIns="0" bIns="0" rtlCol="0" anchor="ctr"/>
          <a:lstStyle/>
          <a:p>
            <a:pPr indent="0" marL="0">
              <a:lnSpc>
                <a:spcPct val="106000"/>
              </a:lnSpc>
              <a:buNone/>
            </a:pPr>
            <a:r>
              <a:rPr lang="en-US" sz="950" dirty="0">
                <a:solidFill>
                  <a:srgbClr val="94A6C4"/>
                </a:solidFill>
                <a:latin typeface="Calibri" pitchFamily="34" charset="0"/>
                <a:ea typeface="Calibri" pitchFamily="34" charset="-122"/>
                <a:cs typeface="Calibri" pitchFamily="34" charset="-120"/>
              </a:rPr>
              <a:t>Every business-scoped table is RLS-keyed on ownership. A forgotten filter returns zero rows — not another shop's customers.</a:t>
            </a:r>
            <a:endParaRPr lang="en-US" sz="950" dirty="0"/>
          </a:p>
        </p:txBody>
      </p:sp>
      <p:sp>
        <p:nvSpPr>
          <p:cNvPr id="32" name="Shape 30"/>
          <p:cNvSpPr/>
          <p:nvPr/>
        </p:nvSpPr>
        <p:spPr>
          <a:xfrm>
            <a:off x="6053328" y="3374136"/>
            <a:ext cx="237744" cy="237744"/>
          </a:xfrm>
          <a:prstGeom prst="ellipse">
            <a:avLst/>
          </a:prstGeom>
          <a:solidFill>
            <a:srgbClr val="241C0A"/>
          </a:solidFill>
          <a:ln w="12700">
            <a:solidFill>
              <a:srgbClr val="F5C451"/>
            </a:solidFill>
            <a:prstDash val="solid"/>
          </a:ln>
        </p:spPr>
      </p:sp>
      <p:sp>
        <p:nvSpPr>
          <p:cNvPr id="33" name="Text 31"/>
          <p:cNvSpPr txBox="1"/>
          <p:nvPr/>
        </p:nvSpPr>
        <p:spPr>
          <a:xfrm>
            <a:off x="6053328" y="3374136"/>
            <a:ext cx="237744" cy="237744"/>
          </a:xfrm>
          <a:prstGeom prst="rect">
            <a:avLst/>
          </a:prstGeom>
          <a:noFill/>
          <a:ln/>
        </p:spPr>
        <p:txBody>
          <a:bodyPr wrap="square" lIns="0" tIns="0" rIns="0" bIns="0" rtlCol="0" anchor="ctr"/>
          <a:lstStyle/>
          <a:p>
            <a:pPr algn="ctr" indent="0" marL="0">
              <a:buNone/>
            </a:pPr>
            <a:r>
              <a:rPr lang="en-US" sz="900" b="1" dirty="0">
                <a:solidFill>
                  <a:srgbClr val="F5C451"/>
                </a:solidFill>
                <a:latin typeface="Calibri" pitchFamily="34" charset="0"/>
                <a:ea typeface="Calibri" pitchFamily="34" charset="-122"/>
                <a:cs typeface="Calibri" pitchFamily="34" charset="-120"/>
              </a:rPr>
              <a:t>3</a:t>
            </a:r>
            <a:endParaRPr lang="en-US" sz="900" dirty="0"/>
          </a:p>
        </p:txBody>
      </p:sp>
      <p:sp>
        <p:nvSpPr>
          <p:cNvPr id="34" name="Text 32"/>
          <p:cNvSpPr txBox="1"/>
          <p:nvPr/>
        </p:nvSpPr>
        <p:spPr>
          <a:xfrm>
            <a:off x="6419088" y="3346704"/>
            <a:ext cx="5205679" cy="21945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No service-role in the request path</a:t>
            </a:r>
            <a:endParaRPr lang="en-US" sz="1200" dirty="0"/>
          </a:p>
        </p:txBody>
      </p:sp>
      <p:sp>
        <p:nvSpPr>
          <p:cNvPr id="35" name="Text 33"/>
          <p:cNvSpPr txBox="1"/>
          <p:nvPr/>
        </p:nvSpPr>
        <p:spPr>
          <a:xfrm>
            <a:off x="6419088" y="3566160"/>
            <a:ext cx="5205679" cy="402336"/>
          </a:xfrm>
          <a:prstGeom prst="rect">
            <a:avLst/>
          </a:prstGeom>
          <a:noFill/>
          <a:ln/>
        </p:spPr>
        <p:txBody>
          <a:bodyPr wrap="square" lIns="0" tIns="0" rIns="0" bIns="0" rtlCol="0" anchor="ctr"/>
          <a:lstStyle/>
          <a:p>
            <a:pPr indent="0" marL="0">
              <a:lnSpc>
                <a:spcPct val="106000"/>
              </a:lnSpc>
              <a:buNone/>
            </a:pPr>
            <a:r>
              <a:rPr lang="en-US" sz="950" dirty="0">
                <a:solidFill>
                  <a:srgbClr val="94A6C4"/>
                </a:solidFill>
                <a:latin typeface="Calibri" pitchFamily="34" charset="0"/>
                <a:ea typeface="Calibri" pitchFamily="34" charset="-122"/>
                <a:cs typeface="Calibri" pitchFamily="34" charset="-120"/>
              </a:rPr>
              <a:t>The AI and the app both use the cookie-bound client. RLS applies to everything.</a:t>
            </a:r>
            <a:endParaRPr lang="en-US" sz="950" dirty="0"/>
          </a:p>
        </p:txBody>
      </p:sp>
      <p:sp>
        <p:nvSpPr>
          <p:cNvPr id="36" name="Shape 34"/>
          <p:cNvSpPr/>
          <p:nvPr/>
        </p:nvSpPr>
        <p:spPr>
          <a:xfrm>
            <a:off x="6053328" y="4069080"/>
            <a:ext cx="237744" cy="237744"/>
          </a:xfrm>
          <a:prstGeom prst="ellipse">
            <a:avLst/>
          </a:prstGeom>
          <a:solidFill>
            <a:srgbClr val="241C0A"/>
          </a:solidFill>
          <a:ln w="12700">
            <a:solidFill>
              <a:srgbClr val="F5C451"/>
            </a:solidFill>
            <a:prstDash val="solid"/>
          </a:ln>
        </p:spPr>
      </p:sp>
      <p:sp>
        <p:nvSpPr>
          <p:cNvPr id="37" name="Text 35"/>
          <p:cNvSpPr txBox="1"/>
          <p:nvPr/>
        </p:nvSpPr>
        <p:spPr>
          <a:xfrm>
            <a:off x="6053328" y="4069080"/>
            <a:ext cx="237744" cy="237744"/>
          </a:xfrm>
          <a:prstGeom prst="rect">
            <a:avLst/>
          </a:prstGeom>
          <a:noFill/>
          <a:ln/>
        </p:spPr>
        <p:txBody>
          <a:bodyPr wrap="square" lIns="0" tIns="0" rIns="0" bIns="0" rtlCol="0" anchor="ctr"/>
          <a:lstStyle/>
          <a:p>
            <a:pPr algn="ctr" indent="0" marL="0">
              <a:buNone/>
            </a:pPr>
            <a:r>
              <a:rPr lang="en-US" sz="900" b="1" dirty="0">
                <a:solidFill>
                  <a:srgbClr val="F5C451"/>
                </a:solidFill>
                <a:latin typeface="Calibri" pitchFamily="34" charset="0"/>
                <a:ea typeface="Calibri" pitchFamily="34" charset="-122"/>
                <a:cs typeface="Calibri" pitchFamily="34" charset="-120"/>
              </a:rPr>
              <a:t>4</a:t>
            </a:r>
            <a:endParaRPr lang="en-US" sz="900" dirty="0"/>
          </a:p>
        </p:txBody>
      </p:sp>
      <p:sp>
        <p:nvSpPr>
          <p:cNvPr id="38" name="Text 36"/>
          <p:cNvSpPr txBox="1"/>
          <p:nvPr/>
        </p:nvSpPr>
        <p:spPr>
          <a:xfrm>
            <a:off x="6419088" y="4041648"/>
            <a:ext cx="5205679" cy="21945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Double booking is structurally impossible</a:t>
            </a:r>
            <a:endParaRPr lang="en-US" sz="1200" dirty="0"/>
          </a:p>
        </p:txBody>
      </p:sp>
      <p:sp>
        <p:nvSpPr>
          <p:cNvPr id="39" name="Text 37"/>
          <p:cNvSpPr txBox="1"/>
          <p:nvPr/>
        </p:nvSpPr>
        <p:spPr>
          <a:xfrm>
            <a:off x="6419088" y="4261104"/>
            <a:ext cx="5205679" cy="402336"/>
          </a:xfrm>
          <a:prstGeom prst="rect">
            <a:avLst/>
          </a:prstGeom>
          <a:noFill/>
          <a:ln/>
        </p:spPr>
        <p:txBody>
          <a:bodyPr wrap="square" lIns="0" tIns="0" rIns="0" bIns="0" rtlCol="0" anchor="ctr"/>
          <a:lstStyle/>
          <a:p>
            <a:pPr indent="0" marL="0">
              <a:lnSpc>
                <a:spcPct val="106000"/>
              </a:lnSpc>
              <a:buNone/>
            </a:pPr>
            <a:r>
              <a:rPr lang="en-US" sz="950" dirty="0">
                <a:solidFill>
                  <a:srgbClr val="94A6C4"/>
                </a:solidFill>
                <a:latin typeface="Calibri" pitchFamily="34" charset="0"/>
                <a:ea typeface="Calibri" pitchFamily="34" charset="-122"/>
                <a:cs typeface="Calibri" pitchFamily="34" charset="-120"/>
              </a:rPr>
              <a:t>EXCLUDE USING gist on (staff_id, time range). Verified with parallel clients.</a:t>
            </a:r>
            <a:endParaRPr lang="en-US" sz="950" dirty="0"/>
          </a:p>
        </p:txBody>
      </p:sp>
      <p:sp>
        <p:nvSpPr>
          <p:cNvPr id="40" name="Shape 38"/>
          <p:cNvSpPr/>
          <p:nvPr/>
        </p:nvSpPr>
        <p:spPr>
          <a:xfrm>
            <a:off x="6053328" y="4764024"/>
            <a:ext cx="237744" cy="237744"/>
          </a:xfrm>
          <a:prstGeom prst="ellipse">
            <a:avLst/>
          </a:prstGeom>
          <a:solidFill>
            <a:srgbClr val="241C0A"/>
          </a:solidFill>
          <a:ln w="12700">
            <a:solidFill>
              <a:srgbClr val="F5C451"/>
            </a:solidFill>
            <a:prstDash val="solid"/>
          </a:ln>
        </p:spPr>
      </p:sp>
      <p:sp>
        <p:nvSpPr>
          <p:cNvPr id="41" name="Text 39"/>
          <p:cNvSpPr txBox="1"/>
          <p:nvPr/>
        </p:nvSpPr>
        <p:spPr>
          <a:xfrm>
            <a:off x="6053328" y="4764024"/>
            <a:ext cx="237744" cy="237744"/>
          </a:xfrm>
          <a:prstGeom prst="rect">
            <a:avLst/>
          </a:prstGeom>
          <a:noFill/>
          <a:ln/>
        </p:spPr>
        <p:txBody>
          <a:bodyPr wrap="square" lIns="0" tIns="0" rIns="0" bIns="0" rtlCol="0" anchor="ctr"/>
          <a:lstStyle/>
          <a:p>
            <a:pPr algn="ctr" indent="0" marL="0">
              <a:buNone/>
            </a:pPr>
            <a:r>
              <a:rPr lang="en-US" sz="900" b="1" dirty="0">
                <a:solidFill>
                  <a:srgbClr val="F5C451"/>
                </a:solidFill>
                <a:latin typeface="Calibri" pitchFamily="34" charset="0"/>
                <a:ea typeface="Calibri" pitchFamily="34" charset="-122"/>
                <a:cs typeface="Calibri" pitchFamily="34" charset="-120"/>
              </a:rPr>
              <a:t>5</a:t>
            </a:r>
            <a:endParaRPr lang="en-US" sz="900" dirty="0"/>
          </a:p>
        </p:txBody>
      </p:sp>
      <p:sp>
        <p:nvSpPr>
          <p:cNvPr id="42" name="Text 40"/>
          <p:cNvSpPr txBox="1"/>
          <p:nvPr/>
        </p:nvSpPr>
        <p:spPr>
          <a:xfrm>
            <a:off x="6419088" y="4736592"/>
            <a:ext cx="5205679" cy="21945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AI mutations need a human</a:t>
            </a:r>
            <a:endParaRPr lang="en-US" sz="1200" dirty="0"/>
          </a:p>
        </p:txBody>
      </p:sp>
      <p:sp>
        <p:nvSpPr>
          <p:cNvPr id="43" name="Text 41"/>
          <p:cNvSpPr txBox="1"/>
          <p:nvPr/>
        </p:nvSpPr>
        <p:spPr>
          <a:xfrm>
            <a:off x="6419088" y="4956048"/>
            <a:ext cx="5205679" cy="402336"/>
          </a:xfrm>
          <a:prstGeom prst="rect">
            <a:avLst/>
          </a:prstGeom>
          <a:noFill/>
          <a:ln/>
        </p:spPr>
        <p:txBody>
          <a:bodyPr wrap="square" lIns="0" tIns="0" rIns="0" bIns="0" rtlCol="0" anchor="ctr"/>
          <a:lstStyle/>
          <a:p>
            <a:pPr indent="0" marL="0">
              <a:lnSpc>
                <a:spcPct val="106000"/>
              </a:lnSpc>
              <a:buNone/>
            </a:pPr>
            <a:r>
              <a:rPr lang="en-US" sz="950" dirty="0">
                <a:solidFill>
                  <a:srgbClr val="94A6C4"/>
                </a:solidFill>
                <a:latin typeface="Calibri" pitchFamily="34" charset="0"/>
                <a:ea typeface="Calibri" pitchFamily="34" charset="-122"/>
                <a:cs typeface="Calibri" pitchFamily="34" charset="-120"/>
              </a:rPr>
              <a:t>Atomic claim, full server-side revalidation, and the confirm endpoint never calls the model.</a:t>
            </a:r>
            <a:endParaRPr lang="en-US" sz="950" dirty="0"/>
          </a:p>
        </p:txBody>
      </p:sp>
      <p:sp>
        <p:nvSpPr>
          <p:cNvPr id="44" name="Shape 42"/>
          <p:cNvSpPr/>
          <p:nvPr/>
        </p:nvSpPr>
        <p:spPr>
          <a:xfrm>
            <a:off x="6053328" y="5458968"/>
            <a:ext cx="237744" cy="237744"/>
          </a:xfrm>
          <a:prstGeom prst="ellipse">
            <a:avLst/>
          </a:prstGeom>
          <a:solidFill>
            <a:srgbClr val="241C0A"/>
          </a:solidFill>
          <a:ln w="12700">
            <a:solidFill>
              <a:srgbClr val="F5C451"/>
            </a:solidFill>
            <a:prstDash val="solid"/>
          </a:ln>
        </p:spPr>
      </p:sp>
      <p:sp>
        <p:nvSpPr>
          <p:cNvPr id="45" name="Text 43"/>
          <p:cNvSpPr txBox="1"/>
          <p:nvPr/>
        </p:nvSpPr>
        <p:spPr>
          <a:xfrm>
            <a:off x="6053328" y="5458968"/>
            <a:ext cx="237744" cy="237744"/>
          </a:xfrm>
          <a:prstGeom prst="rect">
            <a:avLst/>
          </a:prstGeom>
          <a:noFill/>
          <a:ln/>
        </p:spPr>
        <p:txBody>
          <a:bodyPr wrap="square" lIns="0" tIns="0" rIns="0" bIns="0" rtlCol="0" anchor="ctr"/>
          <a:lstStyle/>
          <a:p>
            <a:pPr algn="ctr" indent="0" marL="0">
              <a:buNone/>
            </a:pPr>
            <a:r>
              <a:rPr lang="en-US" sz="900" b="1" dirty="0">
                <a:solidFill>
                  <a:srgbClr val="F5C451"/>
                </a:solidFill>
                <a:latin typeface="Calibri" pitchFamily="34" charset="0"/>
                <a:ea typeface="Calibri" pitchFamily="34" charset="-122"/>
                <a:cs typeface="Calibri" pitchFamily="34" charset="-120"/>
              </a:rPr>
              <a:t>6</a:t>
            </a:r>
            <a:endParaRPr lang="en-US" sz="900" dirty="0"/>
          </a:p>
        </p:txBody>
      </p:sp>
      <p:sp>
        <p:nvSpPr>
          <p:cNvPr id="46" name="Text 44"/>
          <p:cNvSpPr txBox="1"/>
          <p:nvPr/>
        </p:nvSpPr>
        <p:spPr>
          <a:xfrm>
            <a:off x="6419088" y="5431536"/>
            <a:ext cx="5205679" cy="21945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Secrets stay server-side</a:t>
            </a:r>
            <a:endParaRPr lang="en-US" sz="1200" dirty="0"/>
          </a:p>
        </p:txBody>
      </p:sp>
      <p:sp>
        <p:nvSpPr>
          <p:cNvPr id="47" name="Text 45"/>
          <p:cNvSpPr txBox="1"/>
          <p:nvPr/>
        </p:nvSpPr>
        <p:spPr>
          <a:xfrm>
            <a:off x="6419088" y="5650992"/>
            <a:ext cx="5205679" cy="402336"/>
          </a:xfrm>
          <a:prstGeom prst="rect">
            <a:avLst/>
          </a:prstGeom>
          <a:noFill/>
          <a:ln/>
        </p:spPr>
        <p:txBody>
          <a:bodyPr wrap="square" lIns="0" tIns="0" rIns="0" bIns="0" rtlCol="0" anchor="ctr"/>
          <a:lstStyle/>
          <a:p>
            <a:pPr indent="0" marL="0">
              <a:lnSpc>
                <a:spcPct val="106000"/>
              </a:lnSpc>
              <a:buNone/>
            </a:pPr>
            <a:r>
              <a:rPr lang="en-US" sz="950" dirty="0">
                <a:solidFill>
                  <a:srgbClr val="94A6C4"/>
                </a:solidFill>
                <a:latin typeface="Calibri" pitchFamily="34" charset="0"/>
                <a:ea typeface="Calibri" pitchFamily="34" charset="-122"/>
                <a:cs typeface="Calibri" pitchFamily="34" charset="-120"/>
              </a:rPr>
              <a:t>Anthropic and service-role keys are read only in "server-only" modules.</a:t>
            </a:r>
            <a:endParaRPr lang="en-US" sz="950" dirty="0"/>
          </a:p>
        </p:txBody>
      </p:sp>
      <p:sp>
        <p:nvSpPr>
          <p:cNvPr id="48" name="Text 46"/>
          <p:cNvSpPr txBox="1"/>
          <p:nvPr/>
        </p:nvSpPr>
        <p:spPr>
          <a:xfrm>
            <a:off x="566928" y="6254496"/>
            <a:ext cx="11057839" cy="365760"/>
          </a:xfrm>
          <a:prstGeom prst="rect">
            <a:avLst/>
          </a:prstGeom>
          <a:noFill/>
          <a:ln/>
        </p:spPr>
        <p:txBody>
          <a:bodyPr wrap="square" lIns="0" tIns="0" rIns="0" bIns="0" rtlCol="0" anchor="ctr"/>
          <a:lstStyle/>
          <a:p>
            <a:pPr indent="0" marL="0">
              <a:buNone/>
            </a:pPr>
            <a:r>
              <a:rPr lang="en-US" sz="1000" dirty="0">
                <a:solidFill>
                  <a:srgbClr val="6D7F9C"/>
                </a:solidFill>
                <a:latin typeface="Courier New" pitchFamily="34" charset="0"/>
                <a:ea typeface="Courier New" pitchFamily="34" charset="-122"/>
                <a:cs typeface="Courier New" pitchFamily="34" charset="-120"/>
              </a:rPr>
              <a:t>ESLint boundaries also enforce architecture: app → feature/shared, feature → shared, shared → shared only. One feature cannot import another.</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11C"/>
        </a:solidFill>
      </p:bgPr>
    </p:bg>
    <p:spTree>
      <p:nvGrpSpPr>
        <p:cNvPr id="1" name=""/>
        <p:cNvGrpSpPr/>
        <p:nvPr/>
      </p:nvGrpSpPr>
      <p:grpSpPr>
        <a:xfrm>
          <a:off x="0" y="0"/>
          <a:ext cx="0" cy="0"/>
          <a:chOff x="0" y="0"/>
          <a:chExt cx="0" cy="0"/>
        </a:xfrm>
      </p:grpSpPr>
      <p:sp>
        <p:nvSpPr>
          <p:cNvPr id="2" name="Text 0"/>
          <p:cNvSpPr txBox="1"/>
          <p:nvPr/>
        </p:nvSpPr>
        <p:spPr>
          <a:xfrm>
            <a:off x="566928" y="1170432"/>
            <a:ext cx="11057839" cy="1920240"/>
          </a:xfrm>
          <a:prstGeom prst="rect">
            <a:avLst/>
          </a:prstGeom>
          <a:noFill/>
          <a:ln/>
        </p:spPr>
        <p:txBody>
          <a:bodyPr wrap="square" lIns="0" tIns="0" rIns="0" bIns="0" rtlCol="0" anchor="ctr"/>
          <a:lstStyle/>
          <a:p>
            <a:pPr indent="0" marL="0">
              <a:lnSpc>
                <a:spcPct val="108000"/>
              </a:lnSpc>
              <a:buNone/>
            </a:pPr>
            <a:r>
              <a:rPr lang="en-US" sz="3800" b="1" dirty="0">
                <a:solidFill>
                  <a:srgbClr val="FFFFFF"/>
                </a:solidFill>
                <a:latin typeface="Arial" pitchFamily="34" charset="0"/>
                <a:ea typeface="Arial" pitchFamily="34" charset="-122"/>
                <a:cs typeface="Arial" pitchFamily="34" charset="-120"/>
              </a:rPr>
              <a:t>One Platform.</a:t>
            </a:r>
            <a:endParaRPr lang="en-US" sz="3800" dirty="0"/>
          </a:p>
          <a:p>
            <a:pPr indent="0" marL="0">
              <a:lnSpc>
                <a:spcPct val="108000"/>
              </a:lnSpc>
              <a:buNone/>
            </a:pPr>
            <a:r>
              <a:rPr lang="en-US" sz="3800" b="1" dirty="0">
                <a:solidFill>
                  <a:srgbClr val="FFFFFF"/>
                </a:solidFill>
                <a:latin typeface="Arial" pitchFamily="34" charset="0"/>
                <a:ea typeface="Arial" pitchFamily="34" charset="-122"/>
                <a:cs typeface="Arial" pitchFamily="34" charset="-120"/>
              </a:rPr>
              <a:t>Two Workflows.</a:t>
            </a:r>
            <a:endParaRPr lang="en-US" sz="3800" dirty="0"/>
          </a:p>
          <a:p>
            <a:pPr indent="0" marL="0">
              <a:lnSpc>
                <a:spcPct val="108000"/>
              </a:lnSpc>
              <a:buNone/>
            </a:pPr>
            <a:r>
              <a:rPr lang="en-US" sz="3800" b="1" dirty="0">
                <a:solidFill>
                  <a:srgbClr val="FFFFFF"/>
                </a:solidFill>
                <a:latin typeface="Arial" pitchFamily="34" charset="0"/>
                <a:ea typeface="Arial" pitchFamily="34" charset="-122"/>
                <a:cs typeface="Arial" pitchFamily="34" charset="-120"/>
              </a:rPr>
              <a:t>AI That Works With the System — Not Around It.</a:t>
            </a:r>
            <a:endParaRPr lang="en-US" sz="3800" dirty="0"/>
          </a:p>
        </p:txBody>
      </p:sp>
      <p:sp>
        <p:nvSpPr>
          <p:cNvPr id="3" name="Shape 1"/>
          <p:cNvSpPr/>
          <p:nvPr/>
        </p:nvSpPr>
        <p:spPr>
          <a:xfrm>
            <a:off x="566928" y="3493008"/>
            <a:ext cx="3502152" cy="1481328"/>
          </a:xfrm>
          <a:prstGeom prst="roundRect">
            <a:avLst>
              <a:gd name="adj" fmla="val 6173"/>
            </a:avLst>
          </a:prstGeom>
          <a:solidFill>
            <a:srgbClr val="161F30"/>
          </a:solidFill>
          <a:ln w="16510">
            <a:solidFill>
              <a:srgbClr val="FF5C39"/>
            </a:solidFill>
            <a:prstDash val="solid"/>
          </a:ln>
        </p:spPr>
      </p:sp>
      <p:sp>
        <p:nvSpPr>
          <p:cNvPr id="4" name="Text 2"/>
          <p:cNvSpPr txBox="1"/>
          <p:nvPr/>
        </p:nvSpPr>
        <p:spPr>
          <a:xfrm>
            <a:off x="841248" y="3675888"/>
            <a:ext cx="2953512" cy="219456"/>
          </a:xfrm>
          <a:prstGeom prst="rect">
            <a:avLst/>
          </a:prstGeom>
          <a:noFill/>
          <a:ln/>
        </p:spPr>
        <p:txBody>
          <a:bodyPr wrap="square" lIns="0" tIns="0" rIns="0" bIns="0" rtlCol="0" anchor="ctr"/>
          <a:lstStyle/>
          <a:p>
            <a:pPr indent="0" marL="0">
              <a:buNone/>
            </a:pPr>
            <a:r>
              <a:rPr lang="en-US" sz="1000" b="1" spc="140" kern="0" dirty="0">
                <a:solidFill>
                  <a:srgbClr val="FF5C39"/>
                </a:solidFill>
                <a:latin typeface="Calibri" pitchFamily="34" charset="0"/>
                <a:ea typeface="Calibri" pitchFamily="34" charset="-122"/>
                <a:cs typeface="Calibri" pitchFamily="34" charset="-120"/>
              </a:rPr>
              <a:t>SALON</a:t>
            </a:r>
            <a:endParaRPr lang="en-US" sz="1000" dirty="0"/>
          </a:p>
        </p:txBody>
      </p:sp>
      <p:sp>
        <p:nvSpPr>
          <p:cNvPr id="5" name="Text 3"/>
          <p:cNvSpPr txBox="1"/>
          <p:nvPr/>
        </p:nvSpPr>
        <p:spPr>
          <a:xfrm>
            <a:off x="841248" y="3913632"/>
            <a:ext cx="2953512" cy="384048"/>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Live Queue</a:t>
            </a:r>
            <a:endParaRPr lang="en-US" sz="1900" dirty="0"/>
          </a:p>
        </p:txBody>
      </p:sp>
      <p:sp>
        <p:nvSpPr>
          <p:cNvPr id="6" name="Text 4"/>
          <p:cNvSpPr txBox="1"/>
          <p:nvPr/>
        </p:nvSpPr>
        <p:spPr>
          <a:xfrm>
            <a:off x="841248" y="4370832"/>
            <a:ext cx="2953512" cy="365760"/>
          </a:xfrm>
          <a:prstGeom prst="rect">
            <a:avLst/>
          </a:prstGeom>
          <a:noFill/>
          <a:ln/>
        </p:spPr>
        <p:txBody>
          <a:bodyPr wrap="square" lIns="0" tIns="0" rIns="0" bIns="0" rtlCol="0" anchor="ctr"/>
          <a:lstStyle/>
          <a:p>
            <a:pPr algn="l" indent="0" marL="0">
              <a:lnSpc>
                <a:spcPct val="112000"/>
              </a:lnSpc>
              <a:buNone/>
            </a:pPr>
            <a:r>
              <a:rPr lang="en-US" sz="1150" dirty="0">
                <a:solidFill>
                  <a:srgbClr val="94A6C4"/>
                </a:solidFill>
                <a:latin typeface="Calibri" pitchFamily="34" charset="0"/>
                <a:ea typeface="Calibri" pitchFamily="34" charset="-122"/>
                <a:cs typeface="Calibri" pitchFamily="34" charset="-120"/>
              </a:rPr>
              <a:t>Position and ETA, not a slot</a:t>
            </a:r>
            <a:endParaRPr lang="en-US" sz="1150" dirty="0"/>
          </a:p>
        </p:txBody>
      </p:sp>
      <p:sp>
        <p:nvSpPr>
          <p:cNvPr id="7" name="Shape 5"/>
          <p:cNvSpPr/>
          <p:nvPr/>
        </p:nvSpPr>
        <p:spPr>
          <a:xfrm>
            <a:off x="4434840" y="3493008"/>
            <a:ext cx="3502152" cy="1481328"/>
          </a:xfrm>
          <a:prstGeom prst="roundRect">
            <a:avLst>
              <a:gd name="adj" fmla="val 6173"/>
            </a:avLst>
          </a:prstGeom>
          <a:solidFill>
            <a:srgbClr val="161F30"/>
          </a:solidFill>
          <a:ln w="16510">
            <a:solidFill>
              <a:srgbClr val="5FD4BE"/>
            </a:solidFill>
            <a:prstDash val="solid"/>
          </a:ln>
        </p:spPr>
      </p:sp>
      <p:sp>
        <p:nvSpPr>
          <p:cNvPr id="8" name="Text 6"/>
          <p:cNvSpPr txBox="1"/>
          <p:nvPr/>
        </p:nvSpPr>
        <p:spPr>
          <a:xfrm>
            <a:off x="4709160" y="3675888"/>
            <a:ext cx="2953512" cy="219456"/>
          </a:xfrm>
          <a:prstGeom prst="rect">
            <a:avLst/>
          </a:prstGeom>
          <a:noFill/>
          <a:ln/>
        </p:spPr>
        <p:txBody>
          <a:bodyPr wrap="square" lIns="0" tIns="0" rIns="0" bIns="0" rtlCol="0" anchor="ctr"/>
          <a:lstStyle/>
          <a:p>
            <a:pPr indent="0" marL="0">
              <a:buNone/>
            </a:pPr>
            <a:r>
              <a:rPr lang="en-US" sz="1000" b="1" spc="140" kern="0" dirty="0">
                <a:solidFill>
                  <a:srgbClr val="5FD4BE"/>
                </a:solidFill>
                <a:latin typeface="Calibri" pitchFamily="34" charset="0"/>
                <a:ea typeface="Calibri" pitchFamily="34" charset="-122"/>
                <a:cs typeface="Calibri" pitchFamily="34" charset="-120"/>
              </a:rPr>
              <a:t>BEAUTY PARLOUR</a:t>
            </a:r>
            <a:endParaRPr lang="en-US" sz="1000" dirty="0"/>
          </a:p>
        </p:txBody>
      </p:sp>
      <p:sp>
        <p:nvSpPr>
          <p:cNvPr id="9" name="Text 7"/>
          <p:cNvSpPr txBox="1"/>
          <p:nvPr/>
        </p:nvSpPr>
        <p:spPr>
          <a:xfrm>
            <a:off x="4709160" y="3913632"/>
            <a:ext cx="2953512" cy="384048"/>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Appointments</a:t>
            </a:r>
            <a:endParaRPr lang="en-US" sz="1900" dirty="0"/>
          </a:p>
        </p:txBody>
      </p:sp>
      <p:sp>
        <p:nvSpPr>
          <p:cNvPr id="10" name="Text 8"/>
          <p:cNvSpPr txBox="1"/>
          <p:nvPr/>
        </p:nvSpPr>
        <p:spPr>
          <a:xfrm>
            <a:off x="4709160" y="4370832"/>
            <a:ext cx="2953512" cy="365760"/>
          </a:xfrm>
          <a:prstGeom prst="rect">
            <a:avLst/>
          </a:prstGeom>
          <a:noFill/>
          <a:ln/>
        </p:spPr>
        <p:txBody>
          <a:bodyPr wrap="square" lIns="0" tIns="0" rIns="0" bIns="0" rtlCol="0" anchor="ctr"/>
          <a:lstStyle/>
          <a:p>
            <a:pPr algn="l" indent="0" marL="0">
              <a:lnSpc>
                <a:spcPct val="112000"/>
              </a:lnSpc>
              <a:buNone/>
            </a:pPr>
            <a:r>
              <a:rPr lang="en-US" sz="1150" dirty="0">
                <a:solidFill>
                  <a:srgbClr val="94A6C4"/>
                </a:solidFill>
                <a:latin typeface="Calibri" pitchFamily="34" charset="0"/>
                <a:ea typeface="Calibri" pitchFamily="34" charset="-122"/>
                <a:cs typeface="Calibri" pitchFamily="34" charset="-120"/>
              </a:rPr>
              <a:t>Computed slots, no queue</a:t>
            </a:r>
            <a:endParaRPr lang="en-US" sz="1150" dirty="0"/>
          </a:p>
        </p:txBody>
      </p:sp>
      <p:sp>
        <p:nvSpPr>
          <p:cNvPr id="11" name="Shape 9"/>
          <p:cNvSpPr/>
          <p:nvPr/>
        </p:nvSpPr>
        <p:spPr>
          <a:xfrm>
            <a:off x="8302752" y="3493008"/>
            <a:ext cx="3502152" cy="1481328"/>
          </a:xfrm>
          <a:prstGeom prst="roundRect">
            <a:avLst>
              <a:gd name="adj" fmla="val 6173"/>
            </a:avLst>
          </a:prstGeom>
          <a:solidFill>
            <a:srgbClr val="161F30"/>
          </a:solidFill>
          <a:ln w="16510">
            <a:solidFill>
              <a:srgbClr val="9B8CFF"/>
            </a:solidFill>
            <a:prstDash val="solid"/>
          </a:ln>
        </p:spPr>
      </p:sp>
      <p:sp>
        <p:nvSpPr>
          <p:cNvPr id="12" name="Text 10"/>
          <p:cNvSpPr txBox="1"/>
          <p:nvPr/>
        </p:nvSpPr>
        <p:spPr>
          <a:xfrm>
            <a:off x="8577072" y="3675888"/>
            <a:ext cx="2953512" cy="219456"/>
          </a:xfrm>
          <a:prstGeom prst="rect">
            <a:avLst/>
          </a:prstGeom>
          <a:noFill/>
          <a:ln/>
        </p:spPr>
        <p:txBody>
          <a:bodyPr wrap="square" lIns="0" tIns="0" rIns="0" bIns="0" rtlCol="0" anchor="ctr"/>
          <a:lstStyle/>
          <a:p>
            <a:pPr indent="0" marL="0">
              <a:buNone/>
            </a:pPr>
            <a:r>
              <a:rPr lang="en-US" sz="1000" b="1" spc="140" kern="0" dirty="0">
                <a:solidFill>
                  <a:srgbClr val="9B8CFF"/>
                </a:solidFill>
                <a:latin typeface="Calibri" pitchFamily="34" charset="0"/>
                <a:ea typeface="Calibri" pitchFamily="34" charset="-122"/>
                <a:cs typeface="Calibri" pitchFamily="34" charset="-120"/>
              </a:rPr>
              <a:t>AI</a:t>
            </a:r>
            <a:endParaRPr lang="en-US" sz="1000" dirty="0"/>
          </a:p>
        </p:txBody>
      </p:sp>
      <p:sp>
        <p:nvSpPr>
          <p:cNvPr id="13" name="Text 11"/>
          <p:cNvSpPr txBox="1"/>
          <p:nvPr/>
        </p:nvSpPr>
        <p:spPr>
          <a:xfrm>
            <a:off x="8577072" y="3913632"/>
            <a:ext cx="2953512" cy="384048"/>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Intelligent Assistance</a:t>
            </a:r>
            <a:endParaRPr lang="en-US" sz="1900" dirty="0"/>
          </a:p>
        </p:txBody>
      </p:sp>
      <p:sp>
        <p:nvSpPr>
          <p:cNvPr id="14" name="Text 12"/>
          <p:cNvSpPr txBox="1"/>
          <p:nvPr/>
        </p:nvSpPr>
        <p:spPr>
          <a:xfrm>
            <a:off x="8577072" y="4370832"/>
            <a:ext cx="2953512" cy="365760"/>
          </a:xfrm>
          <a:prstGeom prst="rect">
            <a:avLst/>
          </a:prstGeom>
          <a:noFill/>
          <a:ln/>
        </p:spPr>
        <p:txBody>
          <a:bodyPr wrap="square" lIns="0" tIns="0" rIns="0" bIns="0" rtlCol="0" anchor="ctr"/>
          <a:lstStyle/>
          <a:p>
            <a:pPr algn="l" indent="0" marL="0">
              <a:lnSpc>
                <a:spcPct val="112000"/>
              </a:lnSpc>
              <a:buNone/>
            </a:pPr>
            <a:r>
              <a:rPr lang="en-US" sz="1150" dirty="0">
                <a:solidFill>
                  <a:srgbClr val="94A6C4"/>
                </a:solidFill>
                <a:latin typeface="Calibri" pitchFamily="34" charset="0"/>
                <a:ea typeface="Calibri" pitchFamily="34" charset="-122"/>
                <a:cs typeface="Calibri" pitchFamily="34" charset="-120"/>
              </a:rPr>
              <a:t>Proposes. Never executes.</a:t>
            </a:r>
            <a:endParaRPr lang="en-US" sz="1150" dirty="0"/>
          </a:p>
        </p:txBody>
      </p:sp>
      <p:sp>
        <p:nvSpPr>
          <p:cNvPr id="15" name="Text 13"/>
          <p:cNvSpPr txBox="1"/>
          <p:nvPr/>
        </p:nvSpPr>
        <p:spPr>
          <a:xfrm>
            <a:off x="566928" y="5285232"/>
            <a:ext cx="11057839" cy="658368"/>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SmartSailor</a:t>
            </a:r>
            <a:endParaRPr lang="en-US" sz="4200" dirty="0"/>
          </a:p>
        </p:txBody>
      </p:sp>
      <p:sp>
        <p:nvSpPr>
          <p:cNvPr id="16" name="Text 14"/>
          <p:cNvSpPr txBox="1"/>
          <p:nvPr/>
        </p:nvSpPr>
        <p:spPr>
          <a:xfrm>
            <a:off x="566928" y="6035040"/>
            <a:ext cx="11057839" cy="457200"/>
          </a:xfrm>
          <a:prstGeom prst="rect">
            <a:avLst/>
          </a:prstGeom>
          <a:noFill/>
          <a:ln/>
        </p:spPr>
        <p:txBody>
          <a:bodyPr wrap="square" lIns="0" tIns="0" rIns="0" bIns="0" rtlCol="0" anchor="ctr"/>
          <a:lstStyle/>
          <a:p>
            <a:pPr indent="0" marL="0">
              <a:lnSpc>
                <a:spcPct val="110000"/>
              </a:lnSpc>
              <a:buNone/>
            </a:pPr>
            <a:r>
              <a:rPr lang="en-US" sz="1050" dirty="0">
                <a:solidFill>
                  <a:srgbClr val="6D7F9C"/>
                </a:solidFill>
                <a:latin typeface="Calibri" pitchFamily="34" charset="0"/>
                <a:ea typeface="Calibri" pitchFamily="34" charset="-122"/>
                <a:cs typeface="Calibri" pitchFamily="34" charset="-120"/>
              </a:rPr>
              <a:t>Next.js 16  ·  React 19  ·  TypeScript  ·  PostgreSQL + RLS (Supabase)  ·  Claude, server-side        —        67 migrations  ·  149 tables &amp; views  ·  1,159 unit tests  ·  14 PostgreSQL concurrency harnesses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11C"/>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00" kern="0" dirty="0">
                <a:solidFill>
                  <a:srgbClr val="F5C451"/>
                </a:solidFill>
                <a:latin typeface="Calibri" pitchFamily="34" charset="0"/>
                <a:ea typeface="Calibri" pitchFamily="34" charset="-122"/>
                <a:cs typeface="Calibri" pitchFamily="34" charset="-120"/>
              </a:rPr>
              <a:t>APPENDIX A1 — NOT PRESENTED</a:t>
            </a:r>
            <a:endParaRPr lang="en-US" sz="1200" dirty="0"/>
          </a:p>
        </p:txBody>
      </p:sp>
      <p:sp>
        <p:nvSpPr>
          <p:cNvPr id="3" name="Text 1"/>
          <p:cNvSpPr txBox="1"/>
          <p:nvPr/>
        </p:nvSpPr>
        <p:spPr>
          <a:xfrm>
            <a:off x="566928" y="621792"/>
            <a:ext cx="11057839" cy="585216"/>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How a double booking is made impossible.</a:t>
            </a:r>
            <a:endParaRPr lang="en-US" sz="3000" dirty="0"/>
          </a:p>
        </p:txBody>
      </p:sp>
      <p:sp>
        <p:nvSpPr>
          <p:cNvPr id="4" name="Shape 2"/>
          <p:cNvSpPr/>
          <p:nvPr/>
        </p:nvSpPr>
        <p:spPr>
          <a:xfrm>
            <a:off x="566928" y="1664208"/>
            <a:ext cx="11057839" cy="1810512"/>
          </a:xfrm>
          <a:prstGeom prst="roundRect">
            <a:avLst>
              <a:gd name="adj" fmla="val 5051"/>
            </a:avLst>
          </a:prstGeom>
          <a:solidFill>
            <a:srgbClr val="241C0A"/>
          </a:solidFill>
          <a:ln w="16510">
            <a:solidFill>
              <a:srgbClr val="F5C451"/>
            </a:solidFill>
            <a:prstDash val="solid"/>
          </a:ln>
        </p:spPr>
      </p:sp>
      <p:sp>
        <p:nvSpPr>
          <p:cNvPr id="5" name="Text 3"/>
          <p:cNvSpPr txBox="1"/>
          <p:nvPr/>
        </p:nvSpPr>
        <p:spPr>
          <a:xfrm>
            <a:off x="877824" y="1847088"/>
            <a:ext cx="10436047" cy="1463040"/>
          </a:xfrm>
          <a:prstGeom prst="rect">
            <a:avLst/>
          </a:prstGeom>
          <a:noFill/>
          <a:ln/>
        </p:spPr>
        <p:txBody>
          <a:bodyPr wrap="square" lIns="0" tIns="0" rIns="0" bIns="0" rtlCol="0" anchor="ctr"/>
          <a:lstStyle/>
          <a:p>
            <a:pPr indent="0" marL="0">
              <a:lnSpc>
                <a:spcPct val="120000"/>
              </a:lnSpc>
              <a:buNone/>
            </a:pPr>
            <a:r>
              <a:rPr lang="en-US" sz="1350" dirty="0">
                <a:solidFill>
                  <a:srgbClr val="F5C451"/>
                </a:solidFill>
                <a:latin typeface="Courier New" pitchFamily="34" charset="0"/>
                <a:ea typeface="Courier New" pitchFamily="34" charset="-122"/>
                <a:cs typeface="Courier New" pitchFamily="34" charset="-120"/>
              </a:rPr>
              <a:t>alter table public.appointments</a:t>
            </a:r>
            <a:endParaRPr lang="en-US" sz="1350" dirty="0"/>
          </a:p>
          <a:p>
            <a:pPr indent="0" marL="0">
              <a:lnSpc>
                <a:spcPct val="120000"/>
              </a:lnSpc>
              <a:buNone/>
            </a:pPr>
            <a:r>
              <a:rPr lang="en-US" sz="1350" dirty="0">
                <a:solidFill>
                  <a:srgbClr val="F5C451"/>
                </a:solidFill>
                <a:latin typeface="Courier New" pitchFamily="34" charset="0"/>
                <a:ea typeface="Courier New" pitchFamily="34" charset="-122"/>
                <a:cs typeface="Courier New" pitchFamily="34" charset="-120"/>
              </a:rPr>
              <a:t>  add constraint appointments_no_overlap</a:t>
            </a:r>
            <a:endParaRPr lang="en-US" sz="1350" dirty="0"/>
          </a:p>
          <a:p>
            <a:pPr indent="0" marL="0">
              <a:lnSpc>
                <a:spcPct val="120000"/>
              </a:lnSpc>
              <a:buNone/>
            </a:pPr>
            <a:r>
              <a:rPr lang="en-US" sz="1350" dirty="0">
                <a:solidFill>
                  <a:srgbClr val="F5C451"/>
                </a:solidFill>
                <a:latin typeface="Courier New" pitchFamily="34" charset="0"/>
                <a:ea typeface="Courier New" pitchFamily="34" charset="-122"/>
                <a:cs typeface="Courier New" pitchFamily="34" charset="-120"/>
              </a:rPr>
              <a:t>  exclude using gist (</a:t>
            </a:r>
            <a:endParaRPr lang="en-US" sz="1350" dirty="0"/>
          </a:p>
          <a:p>
            <a:pPr indent="0" marL="0">
              <a:lnSpc>
                <a:spcPct val="120000"/>
              </a:lnSpc>
              <a:buNone/>
            </a:pPr>
            <a:r>
              <a:rPr lang="en-US" sz="1350" dirty="0">
                <a:solidFill>
                  <a:srgbClr val="F5C451"/>
                </a:solidFill>
                <a:latin typeface="Courier New" pitchFamily="34" charset="0"/>
                <a:ea typeface="Courier New" pitchFamily="34" charset="-122"/>
                <a:cs typeface="Courier New" pitchFamily="34" charset="-120"/>
              </a:rPr>
              <a:t>    staff_id                              with =,</a:t>
            </a:r>
            <a:endParaRPr lang="en-US" sz="1350" dirty="0"/>
          </a:p>
          <a:p>
            <a:pPr indent="0" marL="0">
              <a:lnSpc>
                <a:spcPct val="120000"/>
              </a:lnSpc>
              <a:buNone/>
            </a:pPr>
            <a:r>
              <a:rPr lang="en-US" sz="1350" dirty="0">
                <a:solidFill>
                  <a:srgbClr val="F5C451"/>
                </a:solidFill>
                <a:latin typeface="Courier New" pitchFamily="34" charset="0"/>
                <a:ea typeface="Courier New" pitchFamily="34" charset="-122"/>
                <a:cs typeface="Courier New" pitchFamily="34" charset="-120"/>
              </a:rPr>
              <a:t>    tstzrange(starts_at, ends_at)         with &amp;&amp;</a:t>
            </a:r>
            <a:endParaRPr lang="en-US" sz="1350" dirty="0"/>
          </a:p>
          <a:p>
            <a:pPr indent="0" marL="0">
              <a:lnSpc>
                <a:spcPct val="120000"/>
              </a:lnSpc>
              <a:buNone/>
            </a:pPr>
            <a:r>
              <a:rPr lang="en-US" sz="1350" dirty="0">
                <a:solidFill>
                  <a:srgbClr val="F5C451"/>
                </a:solidFill>
                <a:latin typeface="Courier New" pitchFamily="34" charset="0"/>
                <a:ea typeface="Courier New" pitchFamily="34" charset="-122"/>
                <a:cs typeface="Courier New" pitchFamily="34" charset="-120"/>
              </a:rPr>
              <a:t>  ) where (status in ('BOOKED', 'CONFIRMED', 'IN_PROGRESS'));</a:t>
            </a:r>
            <a:endParaRPr lang="en-US" sz="1350" dirty="0"/>
          </a:p>
        </p:txBody>
      </p:sp>
      <p:sp>
        <p:nvSpPr>
          <p:cNvPr id="6" name="Shape 4"/>
          <p:cNvSpPr/>
          <p:nvPr/>
        </p:nvSpPr>
        <p:spPr>
          <a:xfrm>
            <a:off x="566928" y="3712464"/>
            <a:ext cx="5376672" cy="1115568"/>
          </a:xfrm>
          <a:prstGeom prst="roundRect">
            <a:avLst>
              <a:gd name="adj" fmla="val 8197"/>
            </a:avLst>
          </a:prstGeom>
          <a:solidFill>
            <a:srgbClr val="161F30"/>
          </a:solidFill>
          <a:ln w="12700">
            <a:solidFill>
              <a:srgbClr val="2C3A54"/>
            </a:solidFill>
            <a:prstDash val="solid"/>
          </a:ln>
        </p:spPr>
      </p:sp>
      <p:sp>
        <p:nvSpPr>
          <p:cNvPr id="7" name="Text 5"/>
          <p:cNvSpPr txBox="1"/>
          <p:nvPr/>
        </p:nvSpPr>
        <p:spPr>
          <a:xfrm>
            <a:off x="822960" y="3858768"/>
            <a:ext cx="4864608" cy="237744"/>
          </a:xfrm>
          <a:prstGeom prst="rect">
            <a:avLst/>
          </a:prstGeom>
          <a:noFill/>
          <a:ln/>
        </p:spPr>
        <p:txBody>
          <a:bodyPr wrap="square" lIns="0" tIns="0" rIns="0" bIns="0" rtlCol="0" anchor="ctr"/>
          <a:lstStyle/>
          <a:p>
            <a:pPr indent="0" marL="0">
              <a:buNone/>
            </a:pPr>
            <a:r>
              <a:rPr lang="en-US" sz="1300" b="1" dirty="0">
                <a:solidFill>
                  <a:srgbClr val="F5C451"/>
                </a:solidFill>
                <a:latin typeface="Calibri" pitchFamily="34" charset="0"/>
                <a:ea typeface="Calibri" pitchFamily="34" charset="-122"/>
                <a:cs typeface="Calibri" pitchFamily="34" charset="-120"/>
              </a:rPr>
              <a:t>Why not check-then-insert?</a:t>
            </a:r>
            <a:endParaRPr lang="en-US" sz="1300" dirty="0"/>
          </a:p>
        </p:txBody>
      </p:sp>
      <p:sp>
        <p:nvSpPr>
          <p:cNvPr id="8" name="Text 6"/>
          <p:cNvSpPr txBox="1"/>
          <p:nvPr/>
        </p:nvSpPr>
        <p:spPr>
          <a:xfrm>
            <a:off x="822960" y="4133088"/>
            <a:ext cx="4864608" cy="621792"/>
          </a:xfrm>
          <a:prstGeom prst="rect">
            <a:avLst/>
          </a:prstGeom>
          <a:noFill/>
          <a:ln/>
        </p:spPr>
        <p:txBody>
          <a:bodyPr wrap="square" lIns="0" tIns="0" rIns="0" bIns="0" rtlCol="0" anchor="ctr"/>
          <a:lstStyle/>
          <a:p>
            <a:pPr algn="l" indent="0" marL="0">
              <a:lnSpc>
                <a:spcPct val="114000"/>
              </a:lnSpc>
              <a:buNone/>
            </a:pPr>
            <a:r>
              <a:rPr lang="en-US" sz="1150" dirty="0">
                <a:solidFill>
                  <a:srgbClr val="94A6C4"/>
                </a:solidFill>
                <a:latin typeface="Calibri" pitchFamily="34" charset="0"/>
                <a:ea typeface="Calibri" pitchFamily="34" charset="-122"/>
                <a:cs typeface="Calibri" pitchFamily="34" charset="-120"/>
              </a:rPr>
              <a:t>Because that always leaves a race window. Two requests both read “free”, both insert, and the parlour has two customers at 4pm.</a:t>
            </a:r>
            <a:endParaRPr lang="en-US" sz="1150" dirty="0"/>
          </a:p>
        </p:txBody>
      </p:sp>
      <p:sp>
        <p:nvSpPr>
          <p:cNvPr id="9" name="Shape 7"/>
          <p:cNvSpPr/>
          <p:nvPr/>
        </p:nvSpPr>
        <p:spPr>
          <a:xfrm>
            <a:off x="6248095" y="3712464"/>
            <a:ext cx="5376672" cy="1115568"/>
          </a:xfrm>
          <a:prstGeom prst="roundRect">
            <a:avLst>
              <a:gd name="adj" fmla="val 8197"/>
            </a:avLst>
          </a:prstGeom>
          <a:solidFill>
            <a:srgbClr val="161F30"/>
          </a:solidFill>
          <a:ln w="12700">
            <a:solidFill>
              <a:srgbClr val="2C3A54"/>
            </a:solidFill>
            <a:prstDash val="solid"/>
          </a:ln>
        </p:spPr>
      </p:sp>
      <p:sp>
        <p:nvSpPr>
          <p:cNvPr id="10" name="Text 8"/>
          <p:cNvSpPr txBox="1"/>
          <p:nvPr/>
        </p:nvSpPr>
        <p:spPr>
          <a:xfrm>
            <a:off x="6504127" y="3858768"/>
            <a:ext cx="4864608" cy="237744"/>
          </a:xfrm>
          <a:prstGeom prst="rect">
            <a:avLst/>
          </a:prstGeom>
          <a:noFill/>
          <a:ln/>
        </p:spPr>
        <p:txBody>
          <a:bodyPr wrap="square" lIns="0" tIns="0" rIns="0" bIns="0" rtlCol="0" anchor="ctr"/>
          <a:lstStyle/>
          <a:p>
            <a:pPr indent="0" marL="0">
              <a:buNone/>
            </a:pPr>
            <a:r>
              <a:rPr lang="en-US" sz="1300" b="1" dirty="0">
                <a:solidFill>
                  <a:srgbClr val="F5C451"/>
                </a:solidFill>
                <a:latin typeface="Calibri" pitchFamily="34" charset="0"/>
                <a:ea typeface="Calibri" pitchFamily="34" charset="-122"/>
                <a:cs typeface="Calibri" pitchFamily="34" charset="-120"/>
              </a:rPr>
              <a:t>What the constraint does</a:t>
            </a:r>
            <a:endParaRPr lang="en-US" sz="1300" dirty="0"/>
          </a:p>
        </p:txBody>
      </p:sp>
      <p:sp>
        <p:nvSpPr>
          <p:cNvPr id="11" name="Text 9"/>
          <p:cNvSpPr txBox="1"/>
          <p:nvPr/>
        </p:nvSpPr>
        <p:spPr>
          <a:xfrm>
            <a:off x="6504127" y="4133088"/>
            <a:ext cx="4864608" cy="621792"/>
          </a:xfrm>
          <a:prstGeom prst="rect">
            <a:avLst/>
          </a:prstGeom>
          <a:noFill/>
          <a:ln/>
        </p:spPr>
        <p:txBody>
          <a:bodyPr wrap="square" lIns="0" tIns="0" rIns="0" bIns="0" rtlCol="0" anchor="ctr"/>
          <a:lstStyle/>
          <a:p>
            <a:pPr algn="l" indent="0" marL="0">
              <a:lnSpc>
                <a:spcPct val="114000"/>
              </a:lnSpc>
              <a:buNone/>
            </a:pPr>
            <a:r>
              <a:rPr lang="en-US" sz="1150" dirty="0">
                <a:solidFill>
                  <a:srgbClr val="94A6C4"/>
                </a:solidFill>
                <a:latin typeface="Calibri" pitchFamily="34" charset="0"/>
                <a:ea typeface="Calibri" pitchFamily="34" charset="-122"/>
                <a:cs typeface="Calibri" pitchFamily="34" charset="-120"/>
              </a:rPr>
              <a:t>It moves the check into the same operation as the write. The second transaction gets a constraint violation instead of a row.</a:t>
            </a:r>
            <a:endParaRPr lang="en-US" sz="1150" dirty="0"/>
          </a:p>
        </p:txBody>
      </p:sp>
      <p:sp>
        <p:nvSpPr>
          <p:cNvPr id="12" name="Shape 10"/>
          <p:cNvSpPr/>
          <p:nvPr/>
        </p:nvSpPr>
        <p:spPr>
          <a:xfrm>
            <a:off x="566928" y="5010912"/>
            <a:ext cx="5376672" cy="1115568"/>
          </a:xfrm>
          <a:prstGeom prst="roundRect">
            <a:avLst>
              <a:gd name="adj" fmla="val 8197"/>
            </a:avLst>
          </a:prstGeom>
          <a:solidFill>
            <a:srgbClr val="161F30"/>
          </a:solidFill>
          <a:ln w="12700">
            <a:solidFill>
              <a:srgbClr val="2C3A54"/>
            </a:solidFill>
            <a:prstDash val="solid"/>
          </a:ln>
        </p:spPr>
      </p:sp>
      <p:sp>
        <p:nvSpPr>
          <p:cNvPr id="13" name="Text 11"/>
          <p:cNvSpPr txBox="1"/>
          <p:nvPr/>
        </p:nvSpPr>
        <p:spPr>
          <a:xfrm>
            <a:off x="822960" y="5157216"/>
            <a:ext cx="4864608" cy="237744"/>
          </a:xfrm>
          <a:prstGeom prst="rect">
            <a:avLst/>
          </a:prstGeom>
          <a:noFill/>
          <a:ln/>
        </p:spPr>
        <p:txBody>
          <a:bodyPr wrap="square" lIns="0" tIns="0" rIns="0" bIns="0" rtlCol="0" anchor="ctr"/>
          <a:lstStyle/>
          <a:p>
            <a:pPr indent="0" marL="0">
              <a:buNone/>
            </a:pPr>
            <a:r>
              <a:rPr lang="en-US" sz="1300" b="1" dirty="0">
                <a:solidFill>
                  <a:srgbClr val="F5C451"/>
                </a:solidFill>
                <a:latin typeface="Calibri" pitchFamily="34" charset="0"/>
                <a:ea typeface="Calibri" pitchFamily="34" charset="-122"/>
                <a:cs typeface="Calibri" pitchFamily="34" charset="-120"/>
              </a:rPr>
              <a:t>Why the status filter</a:t>
            </a:r>
            <a:endParaRPr lang="en-US" sz="1300" dirty="0"/>
          </a:p>
        </p:txBody>
      </p:sp>
      <p:sp>
        <p:nvSpPr>
          <p:cNvPr id="14" name="Text 12"/>
          <p:cNvSpPr txBox="1"/>
          <p:nvPr/>
        </p:nvSpPr>
        <p:spPr>
          <a:xfrm>
            <a:off x="822960" y="5431536"/>
            <a:ext cx="4864608" cy="621792"/>
          </a:xfrm>
          <a:prstGeom prst="rect">
            <a:avLst/>
          </a:prstGeom>
          <a:noFill/>
          <a:ln/>
        </p:spPr>
        <p:txBody>
          <a:bodyPr wrap="square" lIns="0" tIns="0" rIns="0" bIns="0" rtlCol="0" anchor="ctr"/>
          <a:lstStyle/>
          <a:p>
            <a:pPr algn="l" indent="0" marL="0">
              <a:lnSpc>
                <a:spcPct val="114000"/>
              </a:lnSpc>
              <a:buNone/>
            </a:pPr>
            <a:r>
              <a:rPr lang="en-US" sz="1150" dirty="0">
                <a:solidFill>
                  <a:srgbClr val="94A6C4"/>
                </a:solidFill>
                <a:latin typeface="Calibri" pitchFamily="34" charset="0"/>
                <a:ea typeface="Calibri" pitchFamily="34" charset="-122"/>
                <a:cs typeface="Calibri" pitchFamily="34" charset="-120"/>
              </a:rPr>
              <a:t>A cancelled or no-show appointment must not block the slot it used to hold.</a:t>
            </a:r>
            <a:endParaRPr lang="en-US" sz="1150" dirty="0"/>
          </a:p>
        </p:txBody>
      </p:sp>
      <p:sp>
        <p:nvSpPr>
          <p:cNvPr id="15" name="Shape 13"/>
          <p:cNvSpPr/>
          <p:nvPr/>
        </p:nvSpPr>
        <p:spPr>
          <a:xfrm>
            <a:off x="6248095" y="5010912"/>
            <a:ext cx="5376672" cy="1115568"/>
          </a:xfrm>
          <a:prstGeom prst="roundRect">
            <a:avLst>
              <a:gd name="adj" fmla="val 8197"/>
            </a:avLst>
          </a:prstGeom>
          <a:solidFill>
            <a:srgbClr val="161F30"/>
          </a:solidFill>
          <a:ln w="12700">
            <a:solidFill>
              <a:srgbClr val="2C3A54"/>
            </a:solidFill>
            <a:prstDash val="solid"/>
          </a:ln>
        </p:spPr>
      </p:sp>
      <p:sp>
        <p:nvSpPr>
          <p:cNvPr id="16" name="Text 14"/>
          <p:cNvSpPr txBox="1"/>
          <p:nvPr/>
        </p:nvSpPr>
        <p:spPr>
          <a:xfrm>
            <a:off x="6504127" y="5157216"/>
            <a:ext cx="4864608" cy="237744"/>
          </a:xfrm>
          <a:prstGeom prst="rect">
            <a:avLst/>
          </a:prstGeom>
          <a:noFill/>
          <a:ln/>
        </p:spPr>
        <p:txBody>
          <a:bodyPr wrap="square" lIns="0" tIns="0" rIns="0" bIns="0" rtlCol="0" anchor="ctr"/>
          <a:lstStyle/>
          <a:p>
            <a:pPr indent="0" marL="0">
              <a:buNone/>
            </a:pPr>
            <a:r>
              <a:rPr lang="en-US" sz="1300" b="1" dirty="0">
                <a:solidFill>
                  <a:srgbClr val="F5C451"/>
                </a:solidFill>
                <a:latin typeface="Calibri" pitchFamily="34" charset="0"/>
                <a:ea typeface="Calibri" pitchFamily="34" charset="-122"/>
                <a:cs typeface="Calibri" pitchFamily="34" charset="-120"/>
              </a:rPr>
              <a:t>How we know it works</a:t>
            </a:r>
            <a:endParaRPr lang="en-US" sz="1300" dirty="0"/>
          </a:p>
        </p:txBody>
      </p:sp>
      <p:sp>
        <p:nvSpPr>
          <p:cNvPr id="17" name="Text 15"/>
          <p:cNvSpPr txBox="1"/>
          <p:nvPr/>
        </p:nvSpPr>
        <p:spPr>
          <a:xfrm>
            <a:off x="6504127" y="5431536"/>
            <a:ext cx="4864608" cy="621792"/>
          </a:xfrm>
          <a:prstGeom prst="rect">
            <a:avLst/>
          </a:prstGeom>
          <a:noFill/>
          <a:ln/>
        </p:spPr>
        <p:txBody>
          <a:bodyPr wrap="square" lIns="0" tIns="0" rIns="0" bIns="0" rtlCol="0" anchor="ctr"/>
          <a:lstStyle/>
          <a:p>
            <a:pPr algn="l" indent="0" marL="0">
              <a:lnSpc>
                <a:spcPct val="114000"/>
              </a:lnSpc>
              <a:buNone/>
            </a:pPr>
            <a:r>
              <a:rPr lang="en-US" sz="1150" dirty="0">
                <a:solidFill>
                  <a:srgbClr val="94A6C4"/>
                </a:solidFill>
                <a:latin typeface="Calibri" pitchFamily="34" charset="0"/>
                <a:ea typeface="Calibri" pitchFamily="34" charset="-122"/>
                <a:cs typeface="Calibri" pitchFamily="34" charset="-120"/>
              </a:rPr>
              <a:t>Two genuinely parallel psql clients against real PostgreSQL. One wins; the other gets a clean, named error.</a:t>
            </a:r>
            <a:endParaRPr lang="en-US" sz="1150" dirty="0"/>
          </a:p>
        </p:txBody>
      </p:sp>
      <p:sp>
        <p:nvSpPr>
          <p:cNvPr id="18" name="Text 16"/>
          <p:cNvSpPr txBox="1"/>
          <p:nvPr/>
        </p:nvSpPr>
        <p:spPr>
          <a:xfrm>
            <a:off x="566928" y="6254496"/>
            <a:ext cx="11057839" cy="365760"/>
          </a:xfrm>
          <a:prstGeom prst="rect">
            <a:avLst/>
          </a:prstGeom>
          <a:noFill/>
          <a:ln/>
        </p:spPr>
        <p:txBody>
          <a:bodyPr wrap="square" lIns="0" tIns="0" rIns="0" bIns="0" rtlCol="0" anchor="ctr"/>
          <a:lstStyle/>
          <a:p>
            <a:pPr indent="0" marL="0">
              <a:buNone/>
            </a:pPr>
            <a:r>
              <a:rPr lang="en-US" sz="1000" dirty="0">
                <a:solidFill>
                  <a:srgbClr val="6D7F9C"/>
                </a:solidFill>
                <a:latin typeface="Courier New" pitchFamily="34" charset="0"/>
                <a:ea typeface="Courier New" pitchFamily="34" charset="-122"/>
                <a:cs typeface="Courier New" pitchFamily="34" charset="-120"/>
              </a:rPr>
              <a:t>supabase/migrations/20260918_appointment_core.sql</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11C"/>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00" kern="0" dirty="0">
                <a:solidFill>
                  <a:srgbClr val="9B8CFF"/>
                </a:solidFill>
                <a:latin typeface="Calibri" pitchFamily="34" charset="0"/>
                <a:ea typeface="Calibri" pitchFamily="34" charset="-122"/>
                <a:cs typeface="Calibri" pitchFamily="34" charset="-120"/>
              </a:rPr>
              <a:t>APPENDIX A2 — NOT PRESENTED</a:t>
            </a:r>
            <a:endParaRPr lang="en-US" sz="1200" dirty="0"/>
          </a:p>
        </p:txBody>
      </p:sp>
      <p:sp>
        <p:nvSpPr>
          <p:cNvPr id="3" name="Text 1"/>
          <p:cNvSpPr txBox="1"/>
          <p:nvPr/>
        </p:nvSpPr>
        <p:spPr>
          <a:xfrm>
            <a:off x="566928" y="621792"/>
            <a:ext cx="11057839" cy="585216"/>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Why the AI cannot reach another shop's data.</a:t>
            </a:r>
            <a:endParaRPr lang="en-US" sz="3000" dirty="0"/>
          </a:p>
        </p:txBody>
      </p:sp>
      <p:sp>
        <p:nvSpPr>
          <p:cNvPr id="4" name="Shape 2"/>
          <p:cNvSpPr/>
          <p:nvPr/>
        </p:nvSpPr>
        <p:spPr>
          <a:xfrm>
            <a:off x="566928" y="1609344"/>
            <a:ext cx="5376672" cy="1408176"/>
          </a:xfrm>
          <a:prstGeom prst="roundRect">
            <a:avLst>
              <a:gd name="adj" fmla="val 6494"/>
            </a:avLst>
          </a:prstGeom>
          <a:solidFill>
            <a:srgbClr val="161F30"/>
          </a:solidFill>
          <a:ln w="12700">
            <a:solidFill>
              <a:srgbClr val="2C3A54"/>
            </a:solidFill>
            <a:prstDash val="solid"/>
          </a:ln>
        </p:spPr>
      </p:sp>
      <p:sp>
        <p:nvSpPr>
          <p:cNvPr id="5" name="Text 3"/>
          <p:cNvSpPr txBox="1"/>
          <p:nvPr/>
        </p:nvSpPr>
        <p:spPr>
          <a:xfrm>
            <a:off x="822960" y="1755648"/>
            <a:ext cx="4864608" cy="256032"/>
          </a:xfrm>
          <a:prstGeom prst="rect">
            <a:avLst/>
          </a:prstGeom>
          <a:noFill/>
          <a:ln/>
        </p:spPr>
        <p:txBody>
          <a:bodyPr wrap="square" lIns="0" tIns="0" rIns="0" bIns="0" rtlCol="0" anchor="ctr"/>
          <a:lstStyle/>
          <a:p>
            <a:pPr indent="0" marL="0">
              <a:buNone/>
            </a:pPr>
            <a:r>
              <a:rPr lang="en-US" sz="1300" b="1" dirty="0">
                <a:solidFill>
                  <a:srgbClr val="9B8CFF"/>
                </a:solidFill>
                <a:latin typeface="Calibri" pitchFamily="34" charset="0"/>
                <a:ea typeface="Calibri" pitchFamily="34" charset="-122"/>
                <a:cs typeface="Calibri" pitchFamily="34" charset="-120"/>
              </a:rPr>
              <a:t>1.  The role is derived, never claimed</a:t>
            </a:r>
            <a:endParaRPr lang="en-US" sz="1300" dirty="0"/>
          </a:p>
        </p:txBody>
      </p:sp>
      <p:sp>
        <p:nvSpPr>
          <p:cNvPr id="6" name="Text 4"/>
          <p:cNvSpPr txBox="1"/>
          <p:nvPr/>
        </p:nvSpPr>
        <p:spPr>
          <a:xfrm>
            <a:off x="822960" y="2048256"/>
            <a:ext cx="4864608" cy="859536"/>
          </a:xfrm>
          <a:prstGeom prst="rect">
            <a:avLst/>
          </a:prstGeom>
          <a:noFill/>
          <a:ln/>
        </p:spPr>
        <p:txBody>
          <a:bodyPr wrap="square" lIns="0" tIns="0" rIns="0" bIns="0" rtlCol="0" anchor="ctr"/>
          <a:lstStyle/>
          <a:p>
            <a:pPr algn="l" indent="0" marL="0">
              <a:lnSpc>
                <a:spcPct val="114000"/>
              </a:lnSpc>
              <a:buNone/>
            </a:pPr>
            <a:r>
              <a:rPr lang="en-US" sz="1100" dirty="0">
                <a:solidFill>
                  <a:srgbClr val="94A6C4"/>
                </a:solidFill>
                <a:latin typeface="Calibri" pitchFamily="34" charset="0"/>
                <a:ea typeface="Calibri" pitchFamily="34" charset="-122"/>
                <a:cs typeface="Calibri" pitchFamily="34" charset="-120"/>
              </a:rPr>
              <a:t>Nothing in the request body says which role the caller wants. The server calls auth.getUser(), then asks the database whether this user owns a shop. A crafted body carrying {"role":"owner"} changes nothing — and user_metadata.role is deliberately ignored, because the user can write to it.</a:t>
            </a:r>
            <a:endParaRPr lang="en-US" sz="1100" dirty="0"/>
          </a:p>
        </p:txBody>
      </p:sp>
      <p:sp>
        <p:nvSpPr>
          <p:cNvPr id="7" name="Shape 5"/>
          <p:cNvSpPr/>
          <p:nvPr/>
        </p:nvSpPr>
        <p:spPr>
          <a:xfrm>
            <a:off x="6248095" y="1609344"/>
            <a:ext cx="5376672" cy="1408176"/>
          </a:xfrm>
          <a:prstGeom prst="roundRect">
            <a:avLst>
              <a:gd name="adj" fmla="val 6494"/>
            </a:avLst>
          </a:prstGeom>
          <a:solidFill>
            <a:srgbClr val="161F30"/>
          </a:solidFill>
          <a:ln w="12700">
            <a:solidFill>
              <a:srgbClr val="2C3A54"/>
            </a:solidFill>
            <a:prstDash val="solid"/>
          </a:ln>
        </p:spPr>
      </p:sp>
      <p:sp>
        <p:nvSpPr>
          <p:cNvPr id="8" name="Text 6"/>
          <p:cNvSpPr txBox="1"/>
          <p:nvPr/>
        </p:nvSpPr>
        <p:spPr>
          <a:xfrm>
            <a:off x="6504127" y="1755648"/>
            <a:ext cx="4864608" cy="256032"/>
          </a:xfrm>
          <a:prstGeom prst="rect">
            <a:avLst/>
          </a:prstGeom>
          <a:noFill/>
          <a:ln/>
        </p:spPr>
        <p:txBody>
          <a:bodyPr wrap="square" lIns="0" tIns="0" rIns="0" bIns="0" rtlCol="0" anchor="ctr"/>
          <a:lstStyle/>
          <a:p>
            <a:pPr indent="0" marL="0">
              <a:buNone/>
            </a:pPr>
            <a:r>
              <a:rPr lang="en-US" sz="1300" b="1" dirty="0">
                <a:solidFill>
                  <a:srgbClr val="9B8CFF"/>
                </a:solidFill>
                <a:latin typeface="Calibri" pitchFamily="34" charset="0"/>
                <a:ea typeface="Calibri" pitchFamily="34" charset="-122"/>
                <a:cs typeface="Calibri" pitchFamily="34" charset="-120"/>
              </a:rPr>
              <a:t>2.  shop_id comes from the owner's own row</a:t>
            </a:r>
            <a:endParaRPr lang="en-US" sz="1300" dirty="0"/>
          </a:p>
        </p:txBody>
      </p:sp>
      <p:sp>
        <p:nvSpPr>
          <p:cNvPr id="9" name="Text 7"/>
          <p:cNvSpPr txBox="1"/>
          <p:nvPr/>
        </p:nvSpPr>
        <p:spPr>
          <a:xfrm>
            <a:off x="6504127" y="2048256"/>
            <a:ext cx="4864608" cy="859536"/>
          </a:xfrm>
          <a:prstGeom prst="rect">
            <a:avLst/>
          </a:prstGeom>
          <a:noFill/>
          <a:ln/>
        </p:spPr>
        <p:txBody>
          <a:bodyPr wrap="square" lIns="0" tIns="0" rIns="0" bIns="0" rtlCol="0" anchor="ctr"/>
          <a:lstStyle/>
          <a:p>
            <a:pPr algn="l" indent="0" marL="0">
              <a:lnSpc>
                <a:spcPct val="114000"/>
              </a:lnSpc>
              <a:buNone/>
            </a:pPr>
            <a:r>
              <a:rPr lang="en-US" sz="1100" dirty="0">
                <a:solidFill>
                  <a:srgbClr val="94A6C4"/>
                </a:solidFill>
                <a:latin typeface="Calibri" pitchFamily="34" charset="0"/>
                <a:ea typeface="Calibri" pitchFamily="34" charset="-122"/>
                <a:cs typeface="Calibri" pitchFamily="34" charset="-120"/>
              </a:rPr>
              <a:t>The model never supplies a shop id and there is no argument through which it could. The id is read from the authenticated owner's record.</a:t>
            </a:r>
            <a:endParaRPr lang="en-US" sz="1100" dirty="0"/>
          </a:p>
        </p:txBody>
      </p:sp>
      <p:sp>
        <p:nvSpPr>
          <p:cNvPr id="10" name="Shape 8"/>
          <p:cNvSpPr/>
          <p:nvPr/>
        </p:nvSpPr>
        <p:spPr>
          <a:xfrm>
            <a:off x="566928" y="3200400"/>
            <a:ext cx="5376672" cy="1408176"/>
          </a:xfrm>
          <a:prstGeom prst="roundRect">
            <a:avLst>
              <a:gd name="adj" fmla="val 6494"/>
            </a:avLst>
          </a:prstGeom>
          <a:solidFill>
            <a:srgbClr val="161F30"/>
          </a:solidFill>
          <a:ln w="12700">
            <a:solidFill>
              <a:srgbClr val="2C3A54"/>
            </a:solidFill>
            <a:prstDash val="solid"/>
          </a:ln>
        </p:spPr>
      </p:sp>
      <p:sp>
        <p:nvSpPr>
          <p:cNvPr id="11" name="Text 9"/>
          <p:cNvSpPr txBox="1"/>
          <p:nvPr/>
        </p:nvSpPr>
        <p:spPr>
          <a:xfrm>
            <a:off x="822960" y="3346704"/>
            <a:ext cx="4864608" cy="256032"/>
          </a:xfrm>
          <a:prstGeom prst="rect">
            <a:avLst/>
          </a:prstGeom>
          <a:noFill/>
          <a:ln/>
        </p:spPr>
        <p:txBody>
          <a:bodyPr wrap="square" lIns="0" tIns="0" rIns="0" bIns="0" rtlCol="0" anchor="ctr"/>
          <a:lstStyle/>
          <a:p>
            <a:pPr indent="0" marL="0">
              <a:buNone/>
            </a:pPr>
            <a:r>
              <a:rPr lang="en-US" sz="1300" b="1" dirty="0">
                <a:solidFill>
                  <a:srgbClr val="F5C451"/>
                </a:solidFill>
                <a:latin typeface="Calibri" pitchFamily="34" charset="0"/>
                <a:ea typeface="Calibri" pitchFamily="34" charset="-122"/>
                <a:cs typeface="Calibri" pitchFamily="34" charset="-120"/>
              </a:rPr>
              <a:t>3.  Ownership is re-checked inside SQL</a:t>
            </a:r>
            <a:endParaRPr lang="en-US" sz="1300" dirty="0"/>
          </a:p>
        </p:txBody>
      </p:sp>
      <p:sp>
        <p:nvSpPr>
          <p:cNvPr id="12" name="Text 10"/>
          <p:cNvSpPr txBox="1"/>
          <p:nvPr/>
        </p:nvSpPr>
        <p:spPr>
          <a:xfrm>
            <a:off x="822960" y="3639312"/>
            <a:ext cx="4864608" cy="859536"/>
          </a:xfrm>
          <a:prstGeom prst="rect">
            <a:avLst/>
          </a:prstGeom>
          <a:noFill/>
          <a:ln/>
        </p:spPr>
        <p:txBody>
          <a:bodyPr wrap="square" lIns="0" tIns="0" rIns="0" bIns="0" rtlCol="0" anchor="ctr"/>
          <a:lstStyle/>
          <a:p>
            <a:pPr algn="l" indent="0" marL="0">
              <a:lnSpc>
                <a:spcPct val="114000"/>
              </a:lnSpc>
              <a:buNone/>
            </a:pPr>
            <a:r>
              <a:rPr lang="en-US" sz="1100" dirty="0">
                <a:solidFill>
                  <a:srgbClr val="94A6C4"/>
                </a:solidFill>
                <a:latin typeface="Calibri" pitchFamily="34" charset="0"/>
                <a:ea typeface="Calibri" pitchFamily="34" charset="-122"/>
                <a:cs typeface="Calibri" pitchFamily="34" charset="-120"/>
              </a:rPr>
              <a:t>Every segment function opens with is_shop_owner(p_shop_id) and raises “not your shop” otherwise. So authorization holds even if a caller reached the function some other way.</a:t>
            </a:r>
            <a:endParaRPr lang="en-US" sz="1100" dirty="0"/>
          </a:p>
        </p:txBody>
      </p:sp>
      <p:sp>
        <p:nvSpPr>
          <p:cNvPr id="13" name="Shape 11"/>
          <p:cNvSpPr/>
          <p:nvPr/>
        </p:nvSpPr>
        <p:spPr>
          <a:xfrm>
            <a:off x="6248095" y="3200400"/>
            <a:ext cx="5376672" cy="1408176"/>
          </a:xfrm>
          <a:prstGeom prst="roundRect">
            <a:avLst>
              <a:gd name="adj" fmla="val 6494"/>
            </a:avLst>
          </a:prstGeom>
          <a:solidFill>
            <a:srgbClr val="161F30"/>
          </a:solidFill>
          <a:ln w="12700">
            <a:solidFill>
              <a:srgbClr val="2C3A54"/>
            </a:solidFill>
            <a:prstDash val="solid"/>
          </a:ln>
        </p:spPr>
      </p:sp>
      <p:sp>
        <p:nvSpPr>
          <p:cNvPr id="14" name="Text 12"/>
          <p:cNvSpPr txBox="1"/>
          <p:nvPr/>
        </p:nvSpPr>
        <p:spPr>
          <a:xfrm>
            <a:off x="6504127" y="3346704"/>
            <a:ext cx="4864608" cy="256032"/>
          </a:xfrm>
          <a:prstGeom prst="rect">
            <a:avLst/>
          </a:prstGeom>
          <a:noFill/>
          <a:ln/>
        </p:spPr>
        <p:txBody>
          <a:bodyPr wrap="square" lIns="0" tIns="0" rIns="0" bIns="0" rtlCol="0" anchor="ctr"/>
          <a:lstStyle/>
          <a:p>
            <a:pPr indent="0" marL="0">
              <a:buNone/>
            </a:pPr>
            <a:r>
              <a:rPr lang="en-US" sz="1300" b="1" dirty="0">
                <a:solidFill>
                  <a:srgbClr val="F5C451"/>
                </a:solidFill>
                <a:latin typeface="Calibri" pitchFamily="34" charset="0"/>
                <a:ea typeface="Calibri" pitchFamily="34" charset="-122"/>
                <a:cs typeface="Calibri" pitchFamily="34" charset="-120"/>
              </a:rPr>
              <a:t>4.  The client is cookie-bound, never service-role</a:t>
            </a:r>
            <a:endParaRPr lang="en-US" sz="1300" dirty="0"/>
          </a:p>
        </p:txBody>
      </p:sp>
      <p:sp>
        <p:nvSpPr>
          <p:cNvPr id="15" name="Text 13"/>
          <p:cNvSpPr txBox="1"/>
          <p:nvPr/>
        </p:nvSpPr>
        <p:spPr>
          <a:xfrm>
            <a:off x="6504127" y="3639312"/>
            <a:ext cx="4864608" cy="859536"/>
          </a:xfrm>
          <a:prstGeom prst="rect">
            <a:avLst/>
          </a:prstGeom>
          <a:noFill/>
          <a:ln/>
        </p:spPr>
        <p:txBody>
          <a:bodyPr wrap="square" lIns="0" tIns="0" rIns="0" bIns="0" rtlCol="0" anchor="ctr"/>
          <a:lstStyle/>
          <a:p>
            <a:pPr algn="l" indent="0" marL="0">
              <a:lnSpc>
                <a:spcPct val="114000"/>
              </a:lnSpc>
              <a:buNone/>
            </a:pPr>
            <a:r>
              <a:rPr lang="en-US" sz="1100" dirty="0">
                <a:solidFill>
                  <a:srgbClr val="94A6C4"/>
                </a:solidFill>
                <a:latin typeface="Calibri" pitchFamily="34" charset="0"/>
                <a:ea typeface="Calibri" pitchFamily="34" charset="-122"/>
                <a:cs typeface="Calibri" pitchFamily="34" charset="-120"/>
              </a:rPr>
              <a:t>The AI layer uses the same RLS-constrained client the UI uses. There is no privileged path for it to take.</a:t>
            </a:r>
            <a:endParaRPr lang="en-US" sz="1100" dirty="0"/>
          </a:p>
        </p:txBody>
      </p:sp>
      <p:sp>
        <p:nvSpPr>
          <p:cNvPr id="16" name="Shape 14"/>
          <p:cNvSpPr/>
          <p:nvPr/>
        </p:nvSpPr>
        <p:spPr>
          <a:xfrm>
            <a:off x="566928" y="4791456"/>
            <a:ext cx="5376672" cy="1408176"/>
          </a:xfrm>
          <a:prstGeom prst="roundRect">
            <a:avLst>
              <a:gd name="adj" fmla="val 6494"/>
            </a:avLst>
          </a:prstGeom>
          <a:solidFill>
            <a:srgbClr val="161F30"/>
          </a:solidFill>
          <a:ln w="12700">
            <a:solidFill>
              <a:srgbClr val="2C3A54"/>
            </a:solidFill>
            <a:prstDash val="solid"/>
          </a:ln>
        </p:spPr>
      </p:sp>
      <p:sp>
        <p:nvSpPr>
          <p:cNvPr id="17" name="Text 15"/>
          <p:cNvSpPr txBox="1"/>
          <p:nvPr/>
        </p:nvSpPr>
        <p:spPr>
          <a:xfrm>
            <a:off x="822960" y="4937760"/>
            <a:ext cx="4864608" cy="256032"/>
          </a:xfrm>
          <a:prstGeom prst="rect">
            <a:avLst/>
          </a:prstGeom>
          <a:noFill/>
          <a:ln/>
        </p:spPr>
        <p:txBody>
          <a:bodyPr wrap="square" lIns="0" tIns="0" rIns="0" bIns="0" rtlCol="0" anchor="ctr"/>
          <a:lstStyle/>
          <a:p>
            <a:pPr indent="0" marL="0">
              <a:buNone/>
            </a:pPr>
            <a:r>
              <a:rPr lang="en-US" sz="1300" b="1" dirty="0">
                <a:solidFill>
                  <a:srgbClr val="FF5C39"/>
                </a:solidFill>
                <a:latin typeface="Calibri" pitchFamily="34" charset="0"/>
                <a:ea typeface="Calibri" pitchFamily="34" charset="-122"/>
                <a:cs typeface="Calibri" pitchFamily="34" charset="-120"/>
              </a:rPr>
              <a:t>5.  IDs must have come from a real tool result</a:t>
            </a:r>
            <a:endParaRPr lang="en-US" sz="1300" dirty="0"/>
          </a:p>
        </p:txBody>
      </p:sp>
      <p:sp>
        <p:nvSpPr>
          <p:cNvPr id="18" name="Text 16"/>
          <p:cNvSpPr txBox="1"/>
          <p:nvPr/>
        </p:nvSpPr>
        <p:spPr>
          <a:xfrm>
            <a:off x="822960" y="5230368"/>
            <a:ext cx="4864608" cy="859536"/>
          </a:xfrm>
          <a:prstGeom prst="rect">
            <a:avLst/>
          </a:prstGeom>
          <a:noFill/>
          <a:ln/>
        </p:spPr>
        <p:txBody>
          <a:bodyPr wrap="square" lIns="0" tIns="0" rIns="0" bIns="0" rtlCol="0" anchor="ctr"/>
          <a:lstStyle/>
          <a:p>
            <a:pPr algn="l" indent="0" marL="0">
              <a:lnSpc>
                <a:spcPct val="114000"/>
              </a:lnSpc>
              <a:buNone/>
            </a:pPr>
            <a:r>
              <a:rPr lang="en-US" sz="1100" dirty="0">
                <a:solidFill>
                  <a:srgbClr val="94A6C4"/>
                </a:solidFill>
                <a:latin typeface="Calibri" pitchFamily="34" charset="0"/>
                <a:ea typeface="Calibri" pitchFamily="34" charset="-122"/>
                <a:cs typeface="Calibri" pitchFamily="34" charset="-120"/>
              </a:rPr>
              <a:t>We keep a ledger of ids a tool actually returned this conversation. An id the model produced on its own is refused — even a well-formed UUID that really exists.</a:t>
            </a:r>
            <a:endParaRPr lang="en-US" sz="1100" dirty="0"/>
          </a:p>
        </p:txBody>
      </p:sp>
      <p:sp>
        <p:nvSpPr>
          <p:cNvPr id="19" name="Shape 17"/>
          <p:cNvSpPr/>
          <p:nvPr/>
        </p:nvSpPr>
        <p:spPr>
          <a:xfrm>
            <a:off x="6248095" y="4791456"/>
            <a:ext cx="5376672" cy="1408176"/>
          </a:xfrm>
          <a:prstGeom prst="roundRect">
            <a:avLst>
              <a:gd name="adj" fmla="val 6494"/>
            </a:avLst>
          </a:prstGeom>
          <a:solidFill>
            <a:srgbClr val="161F30"/>
          </a:solidFill>
          <a:ln w="12700">
            <a:solidFill>
              <a:srgbClr val="2C3A54"/>
            </a:solidFill>
            <a:prstDash val="solid"/>
          </a:ln>
        </p:spPr>
      </p:sp>
      <p:sp>
        <p:nvSpPr>
          <p:cNvPr id="20" name="Text 18"/>
          <p:cNvSpPr txBox="1"/>
          <p:nvPr/>
        </p:nvSpPr>
        <p:spPr>
          <a:xfrm>
            <a:off x="6504127" y="4937760"/>
            <a:ext cx="4864608" cy="256032"/>
          </a:xfrm>
          <a:prstGeom prst="rect">
            <a:avLst/>
          </a:prstGeom>
          <a:noFill/>
          <a:ln/>
        </p:spPr>
        <p:txBody>
          <a:bodyPr wrap="square" lIns="0" tIns="0" rIns="0" bIns="0" rtlCol="0" anchor="ctr"/>
          <a:lstStyle/>
          <a:p>
            <a:pPr indent="0" marL="0">
              <a:buNone/>
            </a:pPr>
            <a:r>
              <a:rPr lang="en-US" sz="1300" b="1" dirty="0">
                <a:solidFill>
                  <a:srgbClr val="FF5C39"/>
                </a:solidFill>
                <a:latin typeface="Calibri" pitchFamily="34" charset="0"/>
                <a:ea typeface="Calibri" pitchFamily="34" charset="-122"/>
                <a:cs typeface="Calibri" pitchFamily="34" charset="-120"/>
              </a:rPr>
              <a:t>6.  Tool results are fenced as data</a:t>
            </a:r>
            <a:endParaRPr lang="en-US" sz="1300" dirty="0"/>
          </a:p>
        </p:txBody>
      </p:sp>
      <p:sp>
        <p:nvSpPr>
          <p:cNvPr id="21" name="Text 19"/>
          <p:cNvSpPr txBox="1"/>
          <p:nvPr/>
        </p:nvSpPr>
        <p:spPr>
          <a:xfrm>
            <a:off x="6504127" y="5230368"/>
            <a:ext cx="4864608" cy="859536"/>
          </a:xfrm>
          <a:prstGeom prst="rect">
            <a:avLst/>
          </a:prstGeom>
          <a:noFill/>
          <a:ln/>
        </p:spPr>
        <p:txBody>
          <a:bodyPr wrap="square" lIns="0" tIns="0" rIns="0" bIns="0" rtlCol="0" anchor="ctr"/>
          <a:lstStyle/>
          <a:p>
            <a:pPr algn="l" indent="0" marL="0">
              <a:lnSpc>
                <a:spcPct val="114000"/>
              </a:lnSpc>
              <a:buNone/>
            </a:pPr>
            <a:r>
              <a:rPr lang="en-US" sz="1100" dirty="0">
                <a:solidFill>
                  <a:srgbClr val="94A6C4"/>
                </a:solidFill>
                <a:latin typeface="Calibri" pitchFamily="34" charset="0"/>
                <a:ea typeface="Calibri" pitchFamily="34" charset="-122"/>
                <a:cs typeface="Calibri" pitchFamily="34" charset="-120"/>
              </a:rPr>
              <a:t>Shop names and review text are written by the public, so they are labelled as data with an explicit instruction never to follow instructions inside them.</a:t>
            </a:r>
            <a:endParaRPr lang="en-US" sz="1100" dirty="0"/>
          </a:p>
        </p:txBody>
      </p:sp>
      <p:sp>
        <p:nvSpPr>
          <p:cNvPr id="22" name="Text 20"/>
          <p:cNvSpPr txBox="1"/>
          <p:nvPr/>
        </p:nvSpPr>
        <p:spPr>
          <a:xfrm>
            <a:off x="566928" y="6254496"/>
            <a:ext cx="11057839" cy="365760"/>
          </a:xfrm>
          <a:prstGeom prst="rect">
            <a:avLst/>
          </a:prstGeom>
          <a:noFill/>
          <a:ln/>
        </p:spPr>
        <p:txBody>
          <a:bodyPr wrap="square" lIns="0" tIns="0" rIns="0" bIns="0" rtlCol="0" anchor="ctr"/>
          <a:lstStyle/>
          <a:p>
            <a:pPr indent="0" marL="0">
              <a:buNone/>
            </a:pPr>
            <a:r>
              <a:rPr lang="en-US" sz="1000" dirty="0">
                <a:solidFill>
                  <a:srgbClr val="6D7F9C"/>
                </a:solidFill>
                <a:latin typeface="Courier New" pitchFamily="34" charset="0"/>
                <a:ea typeface="Courier New" pitchFamily="34" charset="-122"/>
                <a:cs typeface="Courier New" pitchFamily="34" charset="-120"/>
              </a:rPr>
              <a:t>Cross-shop attack cases are covered explicitly in the PostgreSQL harnesses, not only in unit tests.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11C"/>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00" kern="0" dirty="0">
                <a:solidFill>
                  <a:srgbClr val="5FD4BE"/>
                </a:solidFill>
                <a:latin typeface="Calibri" pitchFamily="34" charset="0"/>
                <a:ea typeface="Calibri" pitchFamily="34" charset="-122"/>
                <a:cs typeface="Calibri" pitchFamily="34" charset="-120"/>
              </a:rPr>
              <a:t>APPENDIX A3 — NOT PRESENTED</a:t>
            </a:r>
            <a:endParaRPr lang="en-US" sz="1200" dirty="0"/>
          </a:p>
        </p:txBody>
      </p:sp>
      <p:sp>
        <p:nvSpPr>
          <p:cNvPr id="3" name="Text 1"/>
          <p:cNvSpPr txBox="1"/>
          <p:nvPr/>
        </p:nvSpPr>
        <p:spPr>
          <a:xfrm>
            <a:off x="566928" y="621792"/>
            <a:ext cx="11057839" cy="585216"/>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What we have verified, and what we have not.</a:t>
            </a:r>
            <a:endParaRPr lang="en-US" sz="3000" dirty="0"/>
          </a:p>
        </p:txBody>
      </p:sp>
      <p:sp>
        <p:nvSpPr>
          <p:cNvPr id="4" name="Shape 2"/>
          <p:cNvSpPr/>
          <p:nvPr/>
        </p:nvSpPr>
        <p:spPr>
          <a:xfrm>
            <a:off x="566928" y="1627632"/>
            <a:ext cx="5376672" cy="4114800"/>
          </a:xfrm>
          <a:prstGeom prst="roundRect">
            <a:avLst>
              <a:gd name="adj" fmla="val 2222"/>
            </a:avLst>
          </a:prstGeom>
          <a:solidFill>
            <a:srgbClr val="161F30"/>
          </a:solidFill>
          <a:ln w="15240">
            <a:solidFill>
              <a:srgbClr val="5FD4BE"/>
            </a:solidFill>
            <a:prstDash val="solid"/>
          </a:ln>
        </p:spPr>
      </p:sp>
      <p:sp>
        <p:nvSpPr>
          <p:cNvPr id="5" name="Text 3"/>
          <p:cNvSpPr txBox="1"/>
          <p:nvPr/>
        </p:nvSpPr>
        <p:spPr>
          <a:xfrm>
            <a:off x="841248" y="1792224"/>
            <a:ext cx="4846320" cy="219456"/>
          </a:xfrm>
          <a:prstGeom prst="rect">
            <a:avLst/>
          </a:prstGeom>
          <a:noFill/>
          <a:ln/>
        </p:spPr>
        <p:txBody>
          <a:bodyPr wrap="square" lIns="0" tIns="0" rIns="0" bIns="0" rtlCol="0" anchor="ctr"/>
          <a:lstStyle/>
          <a:p>
            <a:pPr indent="0" marL="0">
              <a:buNone/>
            </a:pPr>
            <a:r>
              <a:rPr lang="en-US" sz="1000" b="1" spc="140" kern="0" dirty="0">
                <a:solidFill>
                  <a:srgbClr val="5FD4BE"/>
                </a:solidFill>
                <a:latin typeface="Calibri" pitchFamily="34" charset="0"/>
                <a:ea typeface="Calibri" pitchFamily="34" charset="-122"/>
                <a:cs typeface="Calibri" pitchFamily="34" charset="-120"/>
              </a:rPr>
              <a:t>VERIFIED</a:t>
            </a:r>
            <a:endParaRPr lang="en-US" sz="1000" dirty="0"/>
          </a:p>
        </p:txBody>
      </p:sp>
      <p:sp>
        <p:nvSpPr>
          <p:cNvPr id="6" name="Text 4"/>
          <p:cNvSpPr txBox="1"/>
          <p:nvPr/>
        </p:nvSpPr>
        <p:spPr>
          <a:xfrm>
            <a:off x="841248" y="2103120"/>
            <a:ext cx="4846320" cy="347472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94A6C4"/>
                </a:solidFill>
                <a:latin typeface="Calibri" pitchFamily="34" charset="0"/>
                <a:ea typeface="Calibri" pitchFamily="34" charset="-122"/>
                <a:cs typeface="Calibri" pitchFamily="34" charset="-120"/>
              </a:rPr>
              <a:t>1,159 unit tests across 48 files — security, refusal codes, prompt injection, malicious model output</a:t>
            </a:r>
            <a:endParaRPr lang="en-US" sz="1150" dirty="0"/>
          </a:p>
          <a:p>
            <a:pPr marL="342900" indent="-342900">
              <a:spcAft>
                <a:spcPts val="700"/>
              </a:spcAft>
              <a:buSzPct val="100000"/>
              <a:buChar char="•"/>
            </a:pPr>
            <a:r>
              <a:rPr lang="en-US" sz="1150" dirty="0">
                <a:solidFill>
                  <a:srgbClr val="94A6C4"/>
                </a:solidFill>
                <a:latin typeface="Calibri" pitchFamily="34" charset="0"/>
                <a:ea typeface="Calibri" pitchFamily="34" charset="-122"/>
                <a:cs typeface="Calibri" pitchFamily="34" charset="-120"/>
              </a:rPr>
              <a:t>14 PostgreSQL harnesses with genuinely parallel psql clients</a:t>
            </a:r>
            <a:endParaRPr lang="en-US" sz="1150" dirty="0"/>
          </a:p>
          <a:p>
            <a:pPr marL="342900" indent="-342900">
              <a:spcAft>
                <a:spcPts val="700"/>
              </a:spcAft>
              <a:buSzPct val="100000"/>
              <a:buChar char="•"/>
            </a:pPr>
            <a:r>
              <a:rPr lang="en-US" sz="1150" dirty="0">
                <a:solidFill>
                  <a:srgbClr val="94A6C4"/>
                </a:solidFill>
                <a:latin typeface="Calibri" pitchFamily="34" charset="0"/>
                <a:ea typeface="Calibri" pitchFamily="34" charset="-122"/>
                <a:cs typeface="Calibri" pitchFamily="34" charset="-120"/>
              </a:rPr>
              <a:t>Double-booking prevention, under real concurrency</a:t>
            </a:r>
            <a:endParaRPr lang="en-US" sz="1150" dirty="0"/>
          </a:p>
          <a:p>
            <a:pPr marL="342900" indent="-342900">
              <a:spcAft>
                <a:spcPts val="700"/>
              </a:spcAft>
              <a:buSzPct val="100000"/>
              <a:buChar char="•"/>
            </a:pPr>
            <a:r>
              <a:rPr lang="en-US" sz="1150" dirty="0">
                <a:solidFill>
                  <a:srgbClr val="94A6C4"/>
                </a:solidFill>
                <a:latin typeface="Calibri" pitchFamily="34" charset="0"/>
                <a:ea typeface="Calibri" pitchFamily="34" charset="-122"/>
                <a:cs typeface="Calibri" pitchFamily="34" charset="-120"/>
              </a:rPr>
              <a:t>Atomic AI action claim — 5 simultaneous confirms produce exactly 1 execution</a:t>
            </a:r>
            <a:endParaRPr lang="en-US" sz="1150" dirty="0"/>
          </a:p>
          <a:p>
            <a:pPr marL="342900" indent="-342900">
              <a:spcAft>
                <a:spcPts val="700"/>
              </a:spcAft>
              <a:buSzPct val="100000"/>
              <a:buChar char="•"/>
            </a:pPr>
            <a:r>
              <a:rPr lang="en-US" sz="1150" dirty="0">
                <a:solidFill>
                  <a:srgbClr val="94A6C4"/>
                </a:solidFill>
                <a:latin typeface="Calibri" pitchFamily="34" charset="0"/>
                <a:ea typeface="Calibri" pitchFamily="34" charset="-122"/>
                <a:cs typeface="Calibri" pitchFamily="34" charset="-120"/>
              </a:rPr>
              <a:t>RLS and cross-shop isolation, tested as an attack</a:t>
            </a:r>
            <a:endParaRPr lang="en-US" sz="1150" dirty="0"/>
          </a:p>
          <a:p>
            <a:pPr marL="342900" indent="-342900">
              <a:spcAft>
                <a:spcPts val="700"/>
              </a:spcAft>
              <a:buSzPct val="100000"/>
              <a:buChar char="•"/>
            </a:pPr>
            <a:r>
              <a:rPr lang="en-US" sz="1150" dirty="0">
                <a:solidFill>
                  <a:srgbClr val="94A6C4"/>
                </a:solidFill>
                <a:latin typeface="Calibri" pitchFamily="34" charset="0"/>
                <a:ea typeface="Calibri" pitchFamily="34" charset="-122"/>
                <a:cs typeface="Calibri" pitchFamily="34" charset="-120"/>
              </a:rPr>
              <a:t>TypeScript clean, production build green, lint at baseline</a:t>
            </a:r>
            <a:endParaRPr lang="en-US" sz="1150" dirty="0"/>
          </a:p>
          <a:p>
            <a:pPr marL="342900" indent="-342900">
              <a:spcAft>
                <a:spcPts val="700"/>
              </a:spcAft>
              <a:buSzPct val="100000"/>
              <a:buChar char="•"/>
            </a:pPr>
            <a:r>
              <a:rPr lang="en-US" sz="1150" dirty="0">
                <a:solidFill>
                  <a:srgbClr val="94A6C4"/>
                </a:solidFill>
                <a:latin typeface="Calibri" pitchFamily="34" charset="0"/>
                <a:ea typeface="Calibri" pitchFamily="34" charset="-122"/>
                <a:cs typeface="Calibri" pitchFamily="34" charset="-120"/>
              </a:rPr>
              <a:t>Browser smoke at 320px and desktop</a:t>
            </a:r>
            <a:endParaRPr lang="en-US" sz="1150" dirty="0"/>
          </a:p>
        </p:txBody>
      </p:sp>
      <p:sp>
        <p:nvSpPr>
          <p:cNvPr id="7" name="Shape 5"/>
          <p:cNvSpPr/>
          <p:nvPr/>
        </p:nvSpPr>
        <p:spPr>
          <a:xfrm>
            <a:off x="6248095" y="1627632"/>
            <a:ext cx="5376672" cy="4114800"/>
          </a:xfrm>
          <a:prstGeom prst="roundRect">
            <a:avLst>
              <a:gd name="adj" fmla="val 2222"/>
            </a:avLst>
          </a:prstGeom>
          <a:solidFill>
            <a:srgbClr val="161F30"/>
          </a:solidFill>
          <a:ln w="15240">
            <a:solidFill>
              <a:srgbClr val="FF5C39"/>
            </a:solidFill>
            <a:prstDash val="solid"/>
          </a:ln>
        </p:spPr>
      </p:sp>
      <p:sp>
        <p:nvSpPr>
          <p:cNvPr id="8" name="Text 6"/>
          <p:cNvSpPr txBox="1"/>
          <p:nvPr/>
        </p:nvSpPr>
        <p:spPr>
          <a:xfrm>
            <a:off x="6522415" y="1792224"/>
            <a:ext cx="4846320" cy="219456"/>
          </a:xfrm>
          <a:prstGeom prst="rect">
            <a:avLst/>
          </a:prstGeom>
          <a:noFill/>
          <a:ln/>
        </p:spPr>
        <p:txBody>
          <a:bodyPr wrap="square" lIns="0" tIns="0" rIns="0" bIns="0" rtlCol="0" anchor="ctr"/>
          <a:lstStyle/>
          <a:p>
            <a:pPr indent="0" marL="0">
              <a:buNone/>
            </a:pPr>
            <a:r>
              <a:rPr lang="en-US" sz="1000" b="1" spc="140" kern="0" dirty="0">
                <a:solidFill>
                  <a:srgbClr val="FF5C39"/>
                </a:solidFill>
                <a:latin typeface="Calibri" pitchFamily="34" charset="0"/>
                <a:ea typeface="Calibri" pitchFamily="34" charset="-122"/>
                <a:cs typeface="Calibri" pitchFamily="34" charset="-120"/>
              </a:rPr>
              <a:t>NOT VERIFIED — SAY SO PLAINLY</a:t>
            </a:r>
            <a:endParaRPr lang="en-US" sz="1000" dirty="0"/>
          </a:p>
        </p:txBody>
      </p:sp>
      <p:sp>
        <p:nvSpPr>
          <p:cNvPr id="9" name="Text 7"/>
          <p:cNvSpPr txBox="1"/>
          <p:nvPr/>
        </p:nvSpPr>
        <p:spPr>
          <a:xfrm>
            <a:off x="6522415" y="2103120"/>
            <a:ext cx="4846320" cy="347472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94A6C4"/>
                </a:solidFill>
                <a:latin typeface="Calibri" pitchFamily="34" charset="0"/>
                <a:ea typeface="Calibri" pitchFamily="34" charset="-122"/>
                <a:cs typeface="Calibri" pitchFamily="34" charset="-120"/>
              </a:rPr>
              <a:t>No load testing at any scale. We tested correctness under concurrency, not throughput.</a:t>
            </a:r>
            <a:endParaRPr lang="en-US" sz="1150" dirty="0"/>
          </a:p>
          <a:p>
            <a:pPr marL="342900" indent="-342900">
              <a:spcAft>
                <a:spcPts val="700"/>
              </a:spcAft>
              <a:buSzPct val="100000"/>
              <a:buChar char="•"/>
            </a:pPr>
            <a:r>
              <a:rPr lang="en-US" sz="1150" dirty="0">
                <a:solidFill>
                  <a:srgbClr val="94A6C4"/>
                </a:solidFill>
                <a:latin typeface="Calibri" pitchFamily="34" charset="0"/>
                <a:ea typeface="Calibri" pitchFamily="34" charset="-122"/>
                <a:cs typeface="Calibri" pitchFamily="34" charset="-120"/>
              </a:rPr>
              <a:t>No per-user AI rate limit or daily spend cap. Bounded loop and output ceilings only.</a:t>
            </a:r>
            <a:endParaRPr lang="en-US" sz="1150" dirty="0"/>
          </a:p>
          <a:p>
            <a:pPr marL="342900" indent="-342900">
              <a:spcAft>
                <a:spcPts val="700"/>
              </a:spcAft>
              <a:buSzPct val="100000"/>
              <a:buChar char="•"/>
            </a:pPr>
            <a:r>
              <a:rPr lang="en-US" sz="1150" dirty="0">
                <a:solidFill>
                  <a:srgbClr val="94A6C4"/>
                </a:solidFill>
                <a:latin typeface="Calibri" pitchFamily="34" charset="0"/>
                <a:ea typeface="Calibri" pitchFamily="34" charset="-122"/>
                <a:cs typeface="Calibri" pitchFamily="34" charset="-120"/>
              </a:rPr>
              <a:t>Not deployed to real shops. No user numbers, no accuracy figures.</a:t>
            </a:r>
            <a:endParaRPr lang="en-US" sz="1150" dirty="0"/>
          </a:p>
          <a:p>
            <a:pPr marL="342900" indent="-342900">
              <a:spcAft>
                <a:spcPts val="700"/>
              </a:spcAft>
              <a:buSzPct val="100000"/>
              <a:buChar char="•"/>
            </a:pPr>
            <a:r>
              <a:rPr lang="en-US" sz="1150" dirty="0">
                <a:solidFill>
                  <a:srgbClr val="94A6C4"/>
                </a:solidFill>
                <a:latin typeface="Calibri" pitchFamily="34" charset="0"/>
                <a:ea typeface="Calibri" pitchFamily="34" charset="-122"/>
                <a:cs typeface="Calibri" pitchFamily="34" charset="-120"/>
              </a:rPr>
              <a:t>Customer-initiated cancellation and rescheduling are not implemented.</a:t>
            </a:r>
            <a:endParaRPr lang="en-US" sz="1150" dirty="0"/>
          </a:p>
          <a:p>
            <a:pPr marL="342900" indent="-342900">
              <a:spcAft>
                <a:spcPts val="700"/>
              </a:spcAft>
              <a:buSzPct val="100000"/>
              <a:buChar char="•"/>
            </a:pPr>
            <a:r>
              <a:rPr lang="en-US" sz="1150" dirty="0">
                <a:solidFill>
                  <a:srgbClr val="94A6C4"/>
                </a:solidFill>
                <a:latin typeface="Calibri" pitchFamily="34" charset="0"/>
                <a:ea typeface="Calibri" pitchFamily="34" charset="-122"/>
                <a:cs typeface="Calibri" pitchFamily="34" charset="-120"/>
              </a:rPr>
              <a:t>No payment gateway — cash and due tracking only.</a:t>
            </a:r>
            <a:endParaRPr lang="en-US" sz="1150" dirty="0"/>
          </a:p>
          <a:p>
            <a:pPr marL="342900" indent="-342900">
              <a:spcAft>
                <a:spcPts val="700"/>
              </a:spcAft>
              <a:buSzPct val="100000"/>
              <a:buChar char="•"/>
            </a:pPr>
            <a:r>
              <a:rPr lang="en-US" sz="1150" dirty="0">
                <a:solidFill>
                  <a:srgbClr val="94A6C4"/>
                </a:solidFill>
                <a:latin typeface="Calibri" pitchFamily="34" charset="0"/>
                <a:ea typeface="Calibri" pitchFamily="34" charset="-122"/>
                <a:cs typeface="Calibri" pitchFamily="34" charset="-120"/>
              </a:rPr>
              <a:t>No SMS, WhatsApp or email provider. In-app and web push only.</a:t>
            </a:r>
            <a:endParaRPr lang="en-US" sz="1150" dirty="0"/>
          </a:p>
          <a:p>
            <a:pPr marL="342900" indent="-342900">
              <a:spcAft>
                <a:spcPts val="700"/>
              </a:spcAft>
              <a:buSzPct val="100000"/>
              <a:buChar char="•"/>
            </a:pPr>
            <a:r>
              <a:rPr lang="en-US" sz="1150" dirty="0">
                <a:solidFill>
                  <a:srgbClr val="94A6C4"/>
                </a:solidFill>
                <a:latin typeface="Calibri" pitchFamily="34" charset="0"/>
                <a:ea typeface="Calibri" pitchFamily="34" charset="-122"/>
                <a:cs typeface="Calibri" pitchFamily="34" charset="-120"/>
              </a:rPr>
              <a:t>No billing. A subscription model is the natural fit, but nothing is built.</a:t>
            </a:r>
            <a:endParaRPr lang="en-US" sz="1150" dirty="0"/>
          </a:p>
        </p:txBody>
      </p:sp>
      <p:sp>
        <p:nvSpPr>
          <p:cNvPr id="10" name="Text 8"/>
          <p:cNvSpPr txBox="1"/>
          <p:nvPr/>
        </p:nvSpPr>
        <p:spPr>
          <a:xfrm>
            <a:off x="566928" y="5907024"/>
            <a:ext cx="11057839"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When you do not know a number, say “I don't have that number” — then say what you do have.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11C"/>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00" kern="0" dirty="0">
                <a:solidFill>
                  <a:srgbClr val="FF5C39"/>
                </a:solidFill>
                <a:latin typeface="Calibri" pitchFamily="34" charset="0"/>
                <a:ea typeface="Calibri" pitchFamily="34" charset="-122"/>
                <a:cs typeface="Calibri" pitchFamily="34" charset="-120"/>
              </a:rPr>
              <a:t>APPENDIX A4 — NOT PRESENTED</a:t>
            </a:r>
            <a:endParaRPr lang="en-US" sz="1200" dirty="0"/>
          </a:p>
        </p:txBody>
      </p:sp>
      <p:sp>
        <p:nvSpPr>
          <p:cNvPr id="3" name="Text 1"/>
          <p:cNvSpPr txBox="1"/>
          <p:nvPr/>
        </p:nvSpPr>
        <p:spPr>
          <a:xfrm>
            <a:off x="566928" y="621792"/>
            <a:ext cx="11057839" cy="585216"/>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Implemented, next, and deliberately not built.</a:t>
            </a:r>
            <a:endParaRPr lang="en-US" sz="3000" dirty="0"/>
          </a:p>
        </p:txBody>
      </p:sp>
      <p:sp>
        <p:nvSpPr>
          <p:cNvPr id="4" name="Shape 2"/>
          <p:cNvSpPr/>
          <p:nvPr/>
        </p:nvSpPr>
        <p:spPr>
          <a:xfrm>
            <a:off x="566928" y="1609344"/>
            <a:ext cx="3502152" cy="3639312"/>
          </a:xfrm>
          <a:prstGeom prst="roundRect">
            <a:avLst>
              <a:gd name="adj" fmla="val 2611"/>
            </a:avLst>
          </a:prstGeom>
          <a:solidFill>
            <a:srgbClr val="161F30"/>
          </a:solidFill>
          <a:ln w="15240">
            <a:solidFill>
              <a:srgbClr val="5FD4BE"/>
            </a:solidFill>
            <a:prstDash val="solid"/>
          </a:ln>
        </p:spPr>
      </p:sp>
      <p:sp>
        <p:nvSpPr>
          <p:cNvPr id="5" name="Text 3"/>
          <p:cNvSpPr txBox="1"/>
          <p:nvPr/>
        </p:nvSpPr>
        <p:spPr>
          <a:xfrm>
            <a:off x="804672" y="1773936"/>
            <a:ext cx="3026664" cy="219456"/>
          </a:xfrm>
          <a:prstGeom prst="rect">
            <a:avLst/>
          </a:prstGeom>
          <a:noFill/>
          <a:ln/>
        </p:spPr>
        <p:txBody>
          <a:bodyPr wrap="square" lIns="0" tIns="0" rIns="0" bIns="0" rtlCol="0" anchor="ctr"/>
          <a:lstStyle/>
          <a:p>
            <a:pPr indent="0" marL="0">
              <a:buNone/>
            </a:pPr>
            <a:r>
              <a:rPr lang="en-US" sz="1000" b="1" spc="140" kern="0" dirty="0">
                <a:solidFill>
                  <a:srgbClr val="5FD4BE"/>
                </a:solidFill>
                <a:latin typeface="Calibri" pitchFamily="34" charset="0"/>
                <a:ea typeface="Calibri" pitchFamily="34" charset="-122"/>
                <a:cs typeface="Calibri" pitchFamily="34" charset="-120"/>
              </a:rPr>
              <a:t>IMPLEMENTED</a:t>
            </a:r>
            <a:endParaRPr lang="en-US" sz="1000" dirty="0"/>
          </a:p>
        </p:txBody>
      </p:sp>
      <p:sp>
        <p:nvSpPr>
          <p:cNvPr id="6" name="Text 4"/>
          <p:cNvSpPr txBox="1"/>
          <p:nvPr/>
        </p:nvSpPr>
        <p:spPr>
          <a:xfrm>
            <a:off x="804672" y="2084832"/>
            <a:ext cx="3026664" cy="3017520"/>
          </a:xfrm>
          <a:prstGeom prst="rect">
            <a:avLst/>
          </a:prstGeom>
          <a:noFill/>
          <a:ln/>
        </p:spPr>
        <p:txBody>
          <a:bodyPr wrap="square" lIns="0" tIns="0" rIns="0" bIns="0" rtlCol="0" anchor="ctr"/>
          <a:lstStyle/>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Salon live queue — position, ETA, chair assignment,</a:t>
            </a:r>
            <a:endParaRPr lang="en-US" sz="1050" dirty="0"/>
          </a:p>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   walk-ins, party booking, style options</a:t>
            </a:r>
            <a:endParaRPr lang="en-US" sz="1050" dirty="0"/>
          </a:p>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Parlour appointments — computed slots,</a:t>
            </a:r>
            <a:endParaRPr lang="en-US" sz="1050" dirty="0"/>
          </a:p>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   staff availability, conflict prevention</a:t>
            </a:r>
            <a:endParaRPr lang="en-US" sz="1050" dirty="0"/>
          </a:p>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Payments, due ledger, cashbook, income</a:t>
            </a:r>
            <a:endParaRPr lang="en-US" sz="1050" dirty="0"/>
          </a:p>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Membership, loyalty, referral, rewards</a:t>
            </a:r>
            <a:endParaRPr lang="en-US" sz="1050" dirty="0"/>
          </a:p>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Reviews, broadcasts, regular customers</a:t>
            </a:r>
            <a:endParaRPr lang="en-US" sz="1050" dirty="0"/>
          </a:p>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Provider analytics</a:t>
            </a:r>
            <a:endParaRPr lang="en-US" sz="1050" dirty="0"/>
          </a:p>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Customer discovery with map, PWA push</a:t>
            </a:r>
            <a:endParaRPr lang="en-US" sz="1050" dirty="0"/>
          </a:p>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25 AI read-only tools, 4 AI action types</a:t>
            </a:r>
            <a:endParaRPr lang="en-US" sz="1050" dirty="0"/>
          </a:p>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Admin panel — shop status, moderation, audit</a:t>
            </a:r>
            <a:endParaRPr lang="en-US" sz="1050" dirty="0"/>
          </a:p>
        </p:txBody>
      </p:sp>
      <p:sp>
        <p:nvSpPr>
          <p:cNvPr id="7" name="Shape 5"/>
          <p:cNvSpPr/>
          <p:nvPr/>
        </p:nvSpPr>
        <p:spPr>
          <a:xfrm>
            <a:off x="4434840" y="1609344"/>
            <a:ext cx="3502152" cy="3639312"/>
          </a:xfrm>
          <a:prstGeom prst="roundRect">
            <a:avLst>
              <a:gd name="adj" fmla="val 2611"/>
            </a:avLst>
          </a:prstGeom>
          <a:solidFill>
            <a:srgbClr val="161F30"/>
          </a:solidFill>
          <a:ln w="15240">
            <a:solidFill>
              <a:srgbClr val="F5C451"/>
            </a:solidFill>
            <a:prstDash val="solid"/>
          </a:ln>
        </p:spPr>
      </p:sp>
      <p:sp>
        <p:nvSpPr>
          <p:cNvPr id="8" name="Text 6"/>
          <p:cNvSpPr txBox="1"/>
          <p:nvPr/>
        </p:nvSpPr>
        <p:spPr>
          <a:xfrm>
            <a:off x="4672584" y="1773936"/>
            <a:ext cx="3026664" cy="219456"/>
          </a:xfrm>
          <a:prstGeom prst="rect">
            <a:avLst/>
          </a:prstGeom>
          <a:noFill/>
          <a:ln/>
        </p:spPr>
        <p:txBody>
          <a:bodyPr wrap="square" lIns="0" tIns="0" rIns="0" bIns="0" rtlCol="0" anchor="ctr"/>
          <a:lstStyle/>
          <a:p>
            <a:pPr indent="0" marL="0">
              <a:buNone/>
            </a:pPr>
            <a:r>
              <a:rPr lang="en-US" sz="1000" b="1" spc="140" kern="0" dirty="0">
                <a:solidFill>
                  <a:srgbClr val="F5C451"/>
                </a:solidFill>
                <a:latin typeface="Calibri" pitchFamily="34" charset="0"/>
                <a:ea typeface="Calibri" pitchFamily="34" charset="-122"/>
                <a:cs typeface="Calibri" pitchFamily="34" charset="-120"/>
              </a:rPr>
              <a:t>NEAR-TERM — WE KNOW HOW</a:t>
            </a:r>
            <a:endParaRPr lang="en-US" sz="1000" dirty="0"/>
          </a:p>
        </p:txBody>
      </p:sp>
      <p:sp>
        <p:nvSpPr>
          <p:cNvPr id="9" name="Text 7"/>
          <p:cNvSpPr txBox="1"/>
          <p:nvPr/>
        </p:nvSpPr>
        <p:spPr>
          <a:xfrm>
            <a:off x="4672584" y="2084832"/>
            <a:ext cx="3026664" cy="3017520"/>
          </a:xfrm>
          <a:prstGeom prst="rect">
            <a:avLst/>
          </a:prstGeom>
          <a:noFill/>
          <a:ln/>
        </p:spPr>
        <p:txBody>
          <a:bodyPr wrap="square" lIns="0" tIns="0" rIns="0" bIns="0" rtlCol="0" anchor="ctr"/>
          <a:lstStyle/>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Apply the three pending AI migrations</a:t>
            </a:r>
            <a:endParaRPr lang="en-US" sz="1050" dirty="0"/>
          </a:p>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AI rate limit + per-user daily spend cap</a:t>
            </a:r>
            <a:endParaRPr lang="en-US" sz="1050" dirty="0"/>
          </a:p>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Customer-initiated cancellation and</a:t>
            </a:r>
            <a:endParaRPr lang="en-US" sz="1050" dirty="0"/>
          </a:p>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   rescheduling</a:t>
            </a:r>
            <a:endParaRPr lang="en-US" sz="1050" dirty="0"/>
          </a:p>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Move the promo day boundary to Dhaka time</a:t>
            </a:r>
            <a:endParaRPr lang="en-US" sz="1050" dirty="0"/>
          </a:p>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Campaign history screen</a:t>
            </a:r>
            <a:endParaRPr lang="en-US" sz="1050" dirty="0"/>
          </a:p>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Load testing</a:t>
            </a:r>
            <a:endParaRPr lang="en-US" sz="1050" dirty="0"/>
          </a:p>
        </p:txBody>
      </p:sp>
      <p:sp>
        <p:nvSpPr>
          <p:cNvPr id="10" name="Shape 8"/>
          <p:cNvSpPr/>
          <p:nvPr/>
        </p:nvSpPr>
        <p:spPr>
          <a:xfrm>
            <a:off x="8302752" y="1609344"/>
            <a:ext cx="3502152" cy="3639312"/>
          </a:xfrm>
          <a:prstGeom prst="roundRect">
            <a:avLst>
              <a:gd name="adj" fmla="val 2611"/>
            </a:avLst>
          </a:prstGeom>
          <a:solidFill>
            <a:srgbClr val="161F30"/>
          </a:solidFill>
          <a:ln w="15240">
            <a:solidFill>
              <a:srgbClr val="6D7F9C"/>
            </a:solidFill>
            <a:prstDash val="solid"/>
          </a:ln>
        </p:spPr>
      </p:sp>
      <p:sp>
        <p:nvSpPr>
          <p:cNvPr id="11" name="Text 9"/>
          <p:cNvSpPr txBox="1"/>
          <p:nvPr/>
        </p:nvSpPr>
        <p:spPr>
          <a:xfrm>
            <a:off x="8540496" y="1773936"/>
            <a:ext cx="3026664" cy="219456"/>
          </a:xfrm>
          <a:prstGeom prst="rect">
            <a:avLst/>
          </a:prstGeom>
          <a:noFill/>
          <a:ln/>
        </p:spPr>
        <p:txBody>
          <a:bodyPr wrap="square" lIns="0" tIns="0" rIns="0" bIns="0" rtlCol="0" anchor="ctr"/>
          <a:lstStyle/>
          <a:p>
            <a:pPr indent="0" marL="0">
              <a:buNone/>
            </a:pPr>
            <a:r>
              <a:rPr lang="en-US" sz="1000" b="1" spc="140" kern="0" dirty="0">
                <a:solidFill>
                  <a:srgbClr val="6D7F9C"/>
                </a:solidFill>
                <a:latin typeface="Calibri" pitchFamily="34" charset="0"/>
                <a:ea typeface="Calibri" pitchFamily="34" charset="-122"/>
                <a:cs typeface="Calibri" pitchFamily="34" charset="-120"/>
              </a:rPr>
              <a:t>FUTURE — IDEAS, NOT FEATURES</a:t>
            </a:r>
            <a:endParaRPr lang="en-US" sz="1000" dirty="0"/>
          </a:p>
        </p:txBody>
      </p:sp>
      <p:sp>
        <p:nvSpPr>
          <p:cNvPr id="12" name="Text 10"/>
          <p:cNvSpPr txBox="1"/>
          <p:nvPr/>
        </p:nvSpPr>
        <p:spPr>
          <a:xfrm>
            <a:off x="8540496" y="2084832"/>
            <a:ext cx="3026664" cy="3017520"/>
          </a:xfrm>
          <a:prstGeom prst="rect">
            <a:avLst/>
          </a:prstGeom>
          <a:noFill/>
          <a:ln/>
        </p:spPr>
        <p:txBody>
          <a:bodyPr wrap="square" lIns="0" tIns="0" rIns="0" bIns="0" rtlCol="0" anchor="ctr"/>
          <a:lstStyle/>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Demand forecasting</a:t>
            </a:r>
            <a:endParaRPr lang="en-US" sz="1050" dirty="0"/>
          </a:p>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No-show prediction</a:t>
            </a:r>
            <a:endParaRPr lang="en-US" sz="1050" dirty="0"/>
          </a:p>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Churn scoring</a:t>
            </a:r>
            <a:endParaRPr lang="en-US" sz="1050" dirty="0"/>
          </a:p>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Personalised recommendations</a:t>
            </a:r>
            <a:endParaRPr lang="en-US" sz="1050" dirty="0"/>
          </a:p>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Richer marketing automation</a:t>
            </a:r>
            <a:endParaRPr lang="en-US" sz="1050" dirty="0"/>
          </a:p>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Multi-branch shops</a:t>
            </a:r>
            <a:endParaRPr lang="en-US" sz="1050" dirty="0"/>
          </a:p>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Staff mobile app</a:t>
            </a:r>
            <a:endParaRPr lang="en-US" sz="1050" dirty="0"/>
          </a:p>
          <a:p>
            <a:pPr indent="0" marL="0">
              <a:lnSpc>
                <a:spcPct val="120000"/>
              </a:lnSpc>
              <a:buNone/>
            </a:pPr>
            <a:r>
              <a:rPr lang="en-US" sz="1050" dirty="0">
                <a:solidFill>
                  <a:srgbClr val="94A6C4"/>
                </a:solidFill>
                <a:latin typeface="Calibri" pitchFamily="34" charset="0"/>
                <a:ea typeface="Calibri" pitchFamily="34" charset="-122"/>
                <a:cs typeface="Calibri" pitchFamily="34" charset="-120"/>
              </a:rPr>
              <a:t>Online payment gateway</a:t>
            </a:r>
            <a:endParaRPr lang="en-US" sz="1050" dirty="0"/>
          </a:p>
        </p:txBody>
      </p:sp>
      <p:sp>
        <p:nvSpPr>
          <p:cNvPr id="13" name="Shape 11"/>
          <p:cNvSpPr/>
          <p:nvPr/>
        </p:nvSpPr>
        <p:spPr>
          <a:xfrm>
            <a:off x="566928" y="5413248"/>
            <a:ext cx="11057839" cy="822960"/>
          </a:xfrm>
          <a:prstGeom prst="roundRect">
            <a:avLst>
              <a:gd name="adj" fmla="val 11111"/>
            </a:avLst>
          </a:prstGeom>
          <a:solidFill>
            <a:srgbClr val="1D2740"/>
          </a:solidFill>
          <a:ln w="15240">
            <a:solidFill>
              <a:srgbClr val="9B8CFF"/>
            </a:solidFill>
            <a:prstDash val="solid"/>
          </a:ln>
        </p:spPr>
      </p:sp>
      <p:sp>
        <p:nvSpPr>
          <p:cNvPr id="14" name="Text 12"/>
          <p:cNvSpPr txBox="1"/>
          <p:nvPr/>
        </p:nvSpPr>
        <p:spPr>
          <a:xfrm>
            <a:off x="841248" y="5413248"/>
            <a:ext cx="10509199" cy="822960"/>
          </a:xfrm>
          <a:prstGeom prst="rect">
            <a:avLst/>
          </a:prstGeom>
          <a:noFill/>
          <a:ln/>
        </p:spPr>
        <p:txBody>
          <a:bodyPr wrap="square" lIns="0" tIns="0" rIns="0" bIns="0" rtlCol="0" anchor="ctr"/>
          <a:lstStyle/>
          <a:p>
            <a:pPr indent="0" marL="0">
              <a:lnSpc>
                <a:spcPct val="112000"/>
              </a:lnSpc>
              <a:buNone/>
            </a:pPr>
            <a:r>
              <a:rPr lang="en-US" sz="1250" b="1" dirty="0">
                <a:solidFill>
                  <a:srgbClr val="FFFFFF"/>
                </a:solidFill>
                <a:latin typeface="Calibri" pitchFamily="34" charset="0"/>
                <a:ea typeface="Calibri" pitchFamily="34" charset="-122"/>
                <a:cs typeface="Calibri" pitchFamily="34" charset="-120"/>
              </a:rPr>
              <a:t>We deliberately did NOT build prediction, because we do not have the data to make it honest. Our AI describes what happened and drafts what the owner might do — it never forecasts. There is no churn score anywhere in this product.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SmartSailor — One Platform. Two Workflows. One Intelligent Layer.</dc:title>
  <dc:subject>PptxGenJS Presentation</dc:subject>
  <dc:creator>SmartSailor Team</dc:creator>
  <cp:lastModifiedBy>SmartSailor Team</cp:lastModifiedBy>
  <cp:revision>1</cp:revision>
  <dcterms:created xsi:type="dcterms:W3CDTF">2026-09-17T06:11:07Z</dcterms:created>
  <dcterms:modified xsi:type="dcterms:W3CDTF">2026-09-17T06:11:07Z</dcterms:modified>
</cp:coreProperties>
</file>